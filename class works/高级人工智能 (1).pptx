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92" r:id="rId2"/>
    <p:sldId id="294" r:id="rId3"/>
    <p:sldId id="295" r:id="rId4"/>
    <p:sldId id="296" r:id="rId5"/>
    <p:sldId id="297" r:id="rId6"/>
    <p:sldId id="298" r:id="rId7"/>
    <p:sldId id="330" r:id="rId8"/>
    <p:sldId id="332" r:id="rId9"/>
    <p:sldId id="331" r:id="rId10"/>
    <p:sldId id="333" r:id="rId11"/>
    <p:sldId id="334" r:id="rId12"/>
    <p:sldId id="329" r:id="rId13"/>
    <p:sldId id="299" r:id="rId14"/>
    <p:sldId id="300" r:id="rId15"/>
    <p:sldId id="309" r:id="rId16"/>
    <p:sldId id="312" r:id="rId17"/>
    <p:sldId id="301" r:id="rId18"/>
    <p:sldId id="302" r:id="rId19"/>
    <p:sldId id="315" r:id="rId20"/>
    <p:sldId id="316" r:id="rId21"/>
    <p:sldId id="303" r:id="rId22"/>
    <p:sldId id="304" r:id="rId23"/>
    <p:sldId id="318" r:id="rId24"/>
    <p:sldId id="319" r:id="rId25"/>
    <p:sldId id="320" r:id="rId26"/>
    <p:sldId id="305" r:id="rId27"/>
    <p:sldId id="321" r:id="rId28"/>
    <p:sldId id="322" r:id="rId29"/>
    <p:sldId id="323" r:id="rId30"/>
    <p:sldId id="324" r:id="rId31"/>
    <p:sldId id="325" r:id="rId32"/>
    <p:sldId id="306" r:id="rId33"/>
    <p:sldId id="326" r:id="rId34"/>
    <p:sldId id="307" r:id="rId35"/>
    <p:sldId id="327" r:id="rId36"/>
    <p:sldId id="308" r:id="rId37"/>
    <p:sldId id="328" r:id="rId38"/>
    <p:sldId id="335" r:id="rId39"/>
    <p:sldId id="336" r:id="rId40"/>
    <p:sldId id="337" r:id="rId41"/>
    <p:sldId id="338" r:id="rId42"/>
    <p:sldId id="339" r:id="rId43"/>
    <p:sldId id="271" r:id="rId44"/>
    <p:sldId id="273" r:id="rId45"/>
    <p:sldId id="274" r:id="rId46"/>
    <p:sldId id="340" r:id="rId47"/>
    <p:sldId id="343" r:id="rId48"/>
    <p:sldId id="341" r:id="rId49"/>
    <p:sldId id="342" r:id="rId50"/>
  </p:sldIdLst>
  <p:sldSz cx="9144000" cy="6858000" type="screen4x3"/>
  <p:notesSz cx="6858000" cy="9144000"/>
  <p:defaultTextStyle>
    <a:defPPr>
      <a:defRPr lang="zh-CN"/>
    </a:defPPr>
    <a:lvl1pPr algn="l" rtl="0" fontAlgn="base">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8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8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13ED"/>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992"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3730" name="Group 2">
            <a:extLst>
              <a:ext uri="{FF2B5EF4-FFF2-40B4-BE49-F238E27FC236}">
                <a16:creationId xmlns:a16="http://schemas.microsoft.com/office/drawing/2014/main" id="{72B6B0B0-A1D3-4E47-BAB4-A4285F474E5D}"/>
              </a:ext>
            </a:extLst>
          </p:cNvPr>
          <p:cNvGrpSpPr>
            <a:grpSpLocks/>
          </p:cNvGrpSpPr>
          <p:nvPr/>
        </p:nvGrpSpPr>
        <p:grpSpPr bwMode="auto">
          <a:xfrm>
            <a:off x="-6350" y="20638"/>
            <a:ext cx="9144000" cy="6858000"/>
            <a:chOff x="0" y="0"/>
            <a:chExt cx="5760" cy="4320"/>
          </a:xfrm>
        </p:grpSpPr>
        <p:sp>
          <p:nvSpPr>
            <p:cNvPr id="73731" name="Freeform 3">
              <a:extLst>
                <a:ext uri="{FF2B5EF4-FFF2-40B4-BE49-F238E27FC236}">
                  <a16:creationId xmlns:a16="http://schemas.microsoft.com/office/drawing/2014/main" id="{98558ECB-B0A3-49E3-AEE1-BE08A7952EBB}"/>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32" name="Freeform 4">
              <a:extLst>
                <a:ext uri="{FF2B5EF4-FFF2-40B4-BE49-F238E27FC236}">
                  <a16:creationId xmlns:a16="http://schemas.microsoft.com/office/drawing/2014/main" id="{A4E111CB-0CC7-4628-B331-C04802FFA840}"/>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33" name="Freeform 5">
            <a:extLst>
              <a:ext uri="{FF2B5EF4-FFF2-40B4-BE49-F238E27FC236}">
                <a16:creationId xmlns:a16="http://schemas.microsoft.com/office/drawing/2014/main" id="{0A09D2D6-2881-4596-A4E0-021A972FDF17}"/>
              </a:ext>
            </a:extLst>
          </p:cNvPr>
          <p:cNvSpPr>
            <a:spLocks/>
          </p:cNvSpPr>
          <p:nvPr/>
        </p:nvSpPr>
        <p:spPr bwMode="hidden">
          <a:xfrm>
            <a:off x="6242050" y="626903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3734" name="Group 6">
            <a:extLst>
              <a:ext uri="{FF2B5EF4-FFF2-40B4-BE49-F238E27FC236}">
                <a16:creationId xmlns:a16="http://schemas.microsoft.com/office/drawing/2014/main" id="{380D07FF-9E98-48E0-9F9E-62571621368C}"/>
              </a:ext>
            </a:extLst>
          </p:cNvPr>
          <p:cNvGrpSpPr>
            <a:grpSpLocks/>
          </p:cNvGrpSpPr>
          <p:nvPr/>
        </p:nvGrpSpPr>
        <p:grpSpPr bwMode="auto">
          <a:xfrm>
            <a:off x="-1588" y="6034088"/>
            <a:ext cx="7845426" cy="850900"/>
            <a:chOff x="0" y="3792"/>
            <a:chExt cx="4942" cy="536"/>
          </a:xfrm>
        </p:grpSpPr>
        <p:sp>
          <p:nvSpPr>
            <p:cNvPr id="73735" name="Freeform 7">
              <a:extLst>
                <a:ext uri="{FF2B5EF4-FFF2-40B4-BE49-F238E27FC236}">
                  <a16:creationId xmlns:a16="http://schemas.microsoft.com/office/drawing/2014/main" id="{448C521C-DDD6-4360-A899-46B8B82B520C}"/>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3736" name="Group 8">
              <a:extLst>
                <a:ext uri="{FF2B5EF4-FFF2-40B4-BE49-F238E27FC236}">
                  <a16:creationId xmlns:a16="http://schemas.microsoft.com/office/drawing/2014/main" id="{233BD7AB-310C-4C41-A767-7E6BD8D7C06F}"/>
                </a:ext>
              </a:extLst>
            </p:cNvPr>
            <p:cNvGrpSpPr>
              <a:grpSpLocks/>
            </p:cNvGrpSpPr>
            <p:nvPr userDrawn="1"/>
          </p:nvGrpSpPr>
          <p:grpSpPr bwMode="auto">
            <a:xfrm>
              <a:off x="2486" y="3792"/>
              <a:ext cx="2456" cy="536"/>
              <a:chOff x="2486" y="3792"/>
              <a:chExt cx="2456" cy="536"/>
            </a:xfrm>
          </p:grpSpPr>
          <p:sp>
            <p:nvSpPr>
              <p:cNvPr id="73737" name="Freeform 9">
                <a:extLst>
                  <a:ext uri="{FF2B5EF4-FFF2-40B4-BE49-F238E27FC236}">
                    <a16:creationId xmlns:a16="http://schemas.microsoft.com/office/drawing/2014/main" id="{85650A43-CFCD-483E-8AFB-0A0D38AC4ABC}"/>
                  </a:ext>
                </a:extLst>
              </p:cNvPr>
              <p:cNvSpPr>
                <a:spLocks/>
              </p:cNvSpPr>
              <p:nvPr userDrawn="1"/>
            </p:nvSpPr>
            <p:spPr bwMode="ltGray">
              <a:xfrm>
                <a:off x="3948" y="3799"/>
                <a:ext cx="994" cy="529"/>
              </a:xfrm>
              <a:custGeom>
                <a:avLst/>
                <a:gdLst>
                  <a:gd name="T0" fmla="*/ 636 w 994"/>
                  <a:gd name="T1" fmla="*/ 373 h 529"/>
                  <a:gd name="T2" fmla="*/ 495 w 994"/>
                  <a:gd name="T3" fmla="*/ 370 h 529"/>
                  <a:gd name="T4" fmla="*/ 280 w 994"/>
                  <a:gd name="T5" fmla="*/ 249 h 529"/>
                  <a:gd name="T6" fmla="*/ 127 w 994"/>
                  <a:gd name="T7" fmla="*/ 66 h 529"/>
                  <a:gd name="T8" fmla="*/ 0 w 994"/>
                  <a:gd name="T9" fmla="*/ 0 h 529"/>
                  <a:gd name="T10" fmla="*/ 22 w 994"/>
                  <a:gd name="T11" fmla="*/ 26 h 529"/>
                  <a:gd name="T12" fmla="*/ 0 w 994"/>
                  <a:gd name="T13" fmla="*/ 65 h 529"/>
                  <a:gd name="T14" fmla="*/ 30 w 994"/>
                  <a:gd name="T15" fmla="*/ 119 h 529"/>
                  <a:gd name="T16" fmla="*/ 75 w 994"/>
                  <a:gd name="T17" fmla="*/ 243 h 529"/>
                  <a:gd name="T18" fmla="*/ 45 w 994"/>
                  <a:gd name="T19" fmla="*/ 422 h 529"/>
                  <a:gd name="T20" fmla="*/ 200 w 994"/>
                  <a:gd name="T21" fmla="*/ 329 h 529"/>
                  <a:gd name="T22" fmla="*/ 592 w 994"/>
                  <a:gd name="T23" fmla="*/ 527 h 529"/>
                  <a:gd name="T24" fmla="*/ 994 w 994"/>
                  <a:gd name="T25" fmla="*/ 529 h 529"/>
                  <a:gd name="T26" fmla="*/ 828 w 994"/>
                  <a:gd name="T27" fmla="*/ 473 h 529"/>
                  <a:gd name="T28" fmla="*/ 636 w 994"/>
                  <a:gd name="T29" fmla="*/ 37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38" name="Freeform 10">
                <a:extLst>
                  <a:ext uri="{FF2B5EF4-FFF2-40B4-BE49-F238E27FC236}">
                    <a16:creationId xmlns:a16="http://schemas.microsoft.com/office/drawing/2014/main" id="{73B4621F-7C3D-4097-9991-AB1B5A1539C5}"/>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39" name="Freeform 11">
                <a:extLst>
                  <a:ext uri="{FF2B5EF4-FFF2-40B4-BE49-F238E27FC236}">
                    <a16:creationId xmlns:a16="http://schemas.microsoft.com/office/drawing/2014/main" id="{04E4820E-E212-40F3-A0D0-A8E8BD495072}"/>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0" name="Freeform 12">
                <a:extLst>
                  <a:ext uri="{FF2B5EF4-FFF2-40B4-BE49-F238E27FC236}">
                    <a16:creationId xmlns:a16="http://schemas.microsoft.com/office/drawing/2014/main" id="{3ABAEB35-4832-4F63-AC00-6527E228EC78}"/>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1" name="Freeform 13">
                <a:extLst>
                  <a:ext uri="{FF2B5EF4-FFF2-40B4-BE49-F238E27FC236}">
                    <a16:creationId xmlns:a16="http://schemas.microsoft.com/office/drawing/2014/main" id="{72FD4BB7-CA03-4507-BA86-331B474870D0}"/>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42" name="Freeform 14">
              <a:extLst>
                <a:ext uri="{FF2B5EF4-FFF2-40B4-BE49-F238E27FC236}">
                  <a16:creationId xmlns:a16="http://schemas.microsoft.com/office/drawing/2014/main" id="{F6352F17-128D-4A22-9842-6409EDB59C39}"/>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3743" name="Group 15">
            <a:extLst>
              <a:ext uri="{FF2B5EF4-FFF2-40B4-BE49-F238E27FC236}">
                <a16:creationId xmlns:a16="http://schemas.microsoft.com/office/drawing/2014/main" id="{7C1BAE51-00A6-4172-B618-9399111CF580}"/>
              </a:ext>
            </a:extLst>
          </p:cNvPr>
          <p:cNvGrpSpPr>
            <a:grpSpLocks/>
          </p:cNvGrpSpPr>
          <p:nvPr/>
        </p:nvGrpSpPr>
        <p:grpSpPr bwMode="auto">
          <a:xfrm>
            <a:off x="627063" y="6021388"/>
            <a:ext cx="5684837" cy="849312"/>
            <a:chOff x="395" y="3793"/>
            <a:chExt cx="3581" cy="535"/>
          </a:xfrm>
        </p:grpSpPr>
        <p:sp>
          <p:nvSpPr>
            <p:cNvPr id="73744" name="Freeform 16">
              <a:extLst>
                <a:ext uri="{FF2B5EF4-FFF2-40B4-BE49-F238E27FC236}">
                  <a16:creationId xmlns:a16="http://schemas.microsoft.com/office/drawing/2014/main" id="{752C3CA7-8771-42EF-8CF3-31A30EC1C2B3}"/>
                </a:ext>
              </a:extLst>
            </p:cNvPr>
            <p:cNvSpPr>
              <a:spLocks/>
            </p:cNvSpPr>
            <p:nvPr userDrawn="1"/>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5" name="Freeform 17">
              <a:extLst>
                <a:ext uri="{FF2B5EF4-FFF2-40B4-BE49-F238E27FC236}">
                  <a16:creationId xmlns:a16="http://schemas.microsoft.com/office/drawing/2014/main" id="{B64B6525-C869-4C29-BAC7-BDB6E17C0B9A}"/>
                </a:ext>
              </a:extLst>
            </p:cNvPr>
            <p:cNvSpPr>
              <a:spLocks/>
            </p:cNvSpPr>
            <p:nvPr userDrawn="1"/>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6" name="Freeform 18">
              <a:extLst>
                <a:ext uri="{FF2B5EF4-FFF2-40B4-BE49-F238E27FC236}">
                  <a16:creationId xmlns:a16="http://schemas.microsoft.com/office/drawing/2014/main" id="{05227E03-4FE9-4D18-8CCB-B2671682DA7B}"/>
                </a:ext>
              </a:extLst>
            </p:cNvPr>
            <p:cNvSpPr>
              <a:spLocks/>
            </p:cNvSpPr>
            <p:nvPr userDrawn="1"/>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7" name="Freeform 19">
              <a:extLst>
                <a:ext uri="{FF2B5EF4-FFF2-40B4-BE49-F238E27FC236}">
                  <a16:creationId xmlns:a16="http://schemas.microsoft.com/office/drawing/2014/main" id="{85B7AA26-92B9-463C-95E6-E57777CA7548}"/>
                </a:ext>
              </a:extLst>
            </p:cNvPr>
            <p:cNvSpPr>
              <a:spLocks/>
            </p:cNvSpPr>
            <p:nvPr userDrawn="1"/>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8" name="Freeform 20">
              <a:extLst>
                <a:ext uri="{FF2B5EF4-FFF2-40B4-BE49-F238E27FC236}">
                  <a16:creationId xmlns:a16="http://schemas.microsoft.com/office/drawing/2014/main" id="{4B39F0F2-04A3-4DB4-ACA8-8CFBC4B55901}"/>
                </a:ext>
              </a:extLst>
            </p:cNvPr>
            <p:cNvSpPr>
              <a:spLocks/>
            </p:cNvSpPr>
            <p:nvPr userDrawn="1"/>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9" name="Freeform 21">
              <a:extLst>
                <a:ext uri="{FF2B5EF4-FFF2-40B4-BE49-F238E27FC236}">
                  <a16:creationId xmlns:a16="http://schemas.microsoft.com/office/drawing/2014/main" id="{5829D7D5-40B8-4D1C-84EF-7AC29885D220}"/>
                </a:ext>
              </a:extLst>
            </p:cNvPr>
            <p:cNvSpPr>
              <a:spLocks/>
            </p:cNvSpPr>
            <p:nvPr userDrawn="1"/>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50" name="Rectangle 22">
            <a:extLst>
              <a:ext uri="{FF2B5EF4-FFF2-40B4-BE49-F238E27FC236}">
                <a16:creationId xmlns:a16="http://schemas.microsoft.com/office/drawing/2014/main" id="{EBD3A8DA-F6A8-41B4-AED0-C7CD11D7F55E}"/>
              </a:ext>
            </a:extLst>
          </p:cNvPr>
          <p:cNvSpPr>
            <a:spLocks noGrp="1" noChangeArrowheads="1"/>
          </p:cNvSpPr>
          <p:nvPr>
            <p:ph type="ctrTitle" sz="quarter"/>
          </p:nvPr>
        </p:nvSpPr>
        <p:spPr>
          <a:xfrm>
            <a:off x="457200" y="1447800"/>
            <a:ext cx="8229600" cy="1736725"/>
          </a:xfrm>
        </p:spPr>
        <p:txBody>
          <a:bodyPr/>
          <a:lstStyle>
            <a:lvl1pPr>
              <a:defRPr sz="5400"/>
            </a:lvl1pPr>
          </a:lstStyle>
          <a:p>
            <a:pPr lvl="0"/>
            <a:r>
              <a:rPr lang="zh-CN" altLang="en-US" noProof="0"/>
              <a:t>单击此处编辑母版标题样式</a:t>
            </a:r>
          </a:p>
        </p:txBody>
      </p:sp>
      <p:sp>
        <p:nvSpPr>
          <p:cNvPr id="73751" name="Rectangle 23">
            <a:extLst>
              <a:ext uri="{FF2B5EF4-FFF2-40B4-BE49-F238E27FC236}">
                <a16:creationId xmlns:a16="http://schemas.microsoft.com/office/drawing/2014/main" id="{16CCF1BD-8B13-4802-B42B-B1927E77700E}"/>
              </a:ext>
            </a:extLst>
          </p:cNvPr>
          <p:cNvSpPr>
            <a:spLocks noGrp="1" noChangeArrowheads="1"/>
          </p:cNvSpPr>
          <p:nvPr>
            <p:ph type="subTitle" sz="quarter" idx="1"/>
          </p:nvPr>
        </p:nvSpPr>
        <p:spPr>
          <a:xfrm>
            <a:off x="1371600" y="3429000"/>
            <a:ext cx="6400800" cy="1752600"/>
          </a:xfrm>
        </p:spPr>
        <p:txBody>
          <a:bodyPr/>
          <a:lstStyle>
            <a:lvl1pPr marL="0" indent="0" algn="ctr">
              <a:buFontTx/>
              <a:buNone/>
              <a:defRPr>
                <a:effectLst>
                  <a:outerShdw blurRad="38100" dist="38100" dir="2700000" algn="tl">
                    <a:srgbClr val="000000"/>
                  </a:outerShdw>
                </a:effectLst>
              </a:defRPr>
            </a:lvl1pPr>
          </a:lstStyle>
          <a:p>
            <a:pPr lvl="0"/>
            <a:r>
              <a:rPr lang="zh-CN" altLang="en-US" noProof="0"/>
              <a:t>单击此处编辑母版副标题样式</a:t>
            </a:r>
          </a:p>
        </p:txBody>
      </p:sp>
      <p:sp>
        <p:nvSpPr>
          <p:cNvPr id="73752" name="Rectangle 24">
            <a:extLst>
              <a:ext uri="{FF2B5EF4-FFF2-40B4-BE49-F238E27FC236}">
                <a16:creationId xmlns:a16="http://schemas.microsoft.com/office/drawing/2014/main" id="{8964F135-7973-44F6-AEAA-F28B703F6882}"/>
              </a:ext>
            </a:extLst>
          </p:cNvPr>
          <p:cNvSpPr>
            <a:spLocks noGrp="1" noChangeArrowheads="1"/>
          </p:cNvSpPr>
          <p:nvPr>
            <p:ph type="dt" sz="quarter" idx="2"/>
          </p:nvPr>
        </p:nvSpPr>
        <p:spPr/>
        <p:txBody>
          <a:bodyPr/>
          <a:lstStyle>
            <a:lvl1pPr>
              <a:defRPr/>
            </a:lvl1pPr>
          </a:lstStyle>
          <a:p>
            <a:endParaRPr lang="en-US" altLang="zh-CN"/>
          </a:p>
        </p:txBody>
      </p:sp>
      <p:sp>
        <p:nvSpPr>
          <p:cNvPr id="73753" name="Rectangle 25">
            <a:extLst>
              <a:ext uri="{FF2B5EF4-FFF2-40B4-BE49-F238E27FC236}">
                <a16:creationId xmlns:a16="http://schemas.microsoft.com/office/drawing/2014/main" id="{1512508E-6A94-4317-B05F-F393E9C21BE1}"/>
              </a:ext>
            </a:extLst>
          </p:cNvPr>
          <p:cNvSpPr>
            <a:spLocks noGrp="1" noChangeArrowheads="1"/>
          </p:cNvSpPr>
          <p:nvPr>
            <p:ph type="sldNum" sz="quarter" idx="4"/>
          </p:nvPr>
        </p:nvSpPr>
        <p:spPr/>
        <p:txBody>
          <a:bodyPr/>
          <a:lstStyle>
            <a:lvl1pPr>
              <a:defRPr/>
            </a:lvl1pPr>
          </a:lstStyle>
          <a:p>
            <a:fld id="{06391531-574E-4CD4-8061-A7D64B8DD3BD}" type="slidenum">
              <a:rPr lang="en-US" altLang="zh-CN"/>
              <a:pPr/>
              <a:t>‹#›</a:t>
            </a:fld>
            <a:endParaRPr lang="en-US" altLang="zh-CN"/>
          </a:p>
        </p:txBody>
      </p:sp>
      <p:sp>
        <p:nvSpPr>
          <p:cNvPr id="73754" name="Rectangle 26">
            <a:extLst>
              <a:ext uri="{FF2B5EF4-FFF2-40B4-BE49-F238E27FC236}">
                <a16:creationId xmlns:a16="http://schemas.microsoft.com/office/drawing/2014/main" id="{7FBD5BC7-AE92-44FD-A660-9975EC39BC93}"/>
              </a:ext>
            </a:extLst>
          </p:cNvPr>
          <p:cNvSpPr>
            <a:spLocks noGrp="1" noChangeArrowheads="1"/>
          </p:cNvSpPr>
          <p:nvPr>
            <p:ph type="ftr" sz="quarter" idx="3"/>
          </p:nvPr>
        </p:nvSpPr>
        <p:spPr/>
        <p:txBody>
          <a:bodyPr/>
          <a:lstStyle>
            <a:lvl1pPr>
              <a:defRPr/>
            </a:lvl1pPr>
          </a:lstStyle>
          <a:p>
            <a:endParaRPr lang="en-US" altLang="zh-CN"/>
          </a:p>
        </p:txBody>
      </p:sp>
    </p:spTree>
    <p:extLst>
      <p:ext uri="{BB962C8B-B14F-4D97-AF65-F5344CB8AC3E}">
        <p14:creationId xmlns:p14="http://schemas.microsoft.com/office/powerpoint/2010/main" val="431088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3A728C-2156-4EDE-8BAC-FD0CFFA2287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309251C-45B4-4295-9032-F2B0F037532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FD04F16-11E3-4704-86A4-1CF4997BCD4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7884C712-64D2-482A-9012-E94795060E32}"/>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06B3916-0934-43E3-BF6C-D1A900DF6552}"/>
              </a:ext>
            </a:extLst>
          </p:cNvPr>
          <p:cNvSpPr>
            <a:spLocks noGrp="1"/>
          </p:cNvSpPr>
          <p:nvPr>
            <p:ph type="sldNum" sz="quarter" idx="12"/>
          </p:nvPr>
        </p:nvSpPr>
        <p:spPr/>
        <p:txBody>
          <a:bodyPr/>
          <a:lstStyle>
            <a:lvl1pPr>
              <a:defRPr/>
            </a:lvl1pPr>
          </a:lstStyle>
          <a:p>
            <a:fld id="{E3F0BADD-5DA2-4AE1-AC2D-96C2B257B66C}" type="slidenum">
              <a:rPr lang="en-US" altLang="zh-CN"/>
              <a:pPr/>
              <a:t>‹#›</a:t>
            </a:fld>
            <a:endParaRPr lang="en-US" altLang="zh-CN"/>
          </a:p>
        </p:txBody>
      </p:sp>
    </p:spTree>
    <p:extLst>
      <p:ext uri="{BB962C8B-B14F-4D97-AF65-F5344CB8AC3E}">
        <p14:creationId xmlns:p14="http://schemas.microsoft.com/office/powerpoint/2010/main" val="3640415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CBC26D-D784-45F6-9CAB-A0272DE0EE6A}"/>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C1D5DA0-D75F-4C81-AA1C-30421A5BE332}"/>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172A0A6D-2BB9-42E4-AEE4-C3E6CF8A5E3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7AF248D-8FB6-446C-A177-1BBFFA7DFF9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9B76FAED-5D75-4FEF-B923-AADCD50361EF}"/>
              </a:ext>
            </a:extLst>
          </p:cNvPr>
          <p:cNvSpPr>
            <a:spLocks noGrp="1"/>
          </p:cNvSpPr>
          <p:nvPr>
            <p:ph type="sldNum" sz="quarter" idx="12"/>
          </p:nvPr>
        </p:nvSpPr>
        <p:spPr/>
        <p:txBody>
          <a:bodyPr/>
          <a:lstStyle>
            <a:lvl1pPr>
              <a:defRPr/>
            </a:lvl1pPr>
          </a:lstStyle>
          <a:p>
            <a:fld id="{16A3EB99-4754-41B4-B2F4-A67C9548B93B}" type="slidenum">
              <a:rPr lang="en-US" altLang="zh-CN"/>
              <a:pPr/>
              <a:t>‹#›</a:t>
            </a:fld>
            <a:endParaRPr lang="en-US" altLang="zh-CN"/>
          </a:p>
        </p:txBody>
      </p:sp>
    </p:spTree>
    <p:extLst>
      <p:ext uri="{BB962C8B-B14F-4D97-AF65-F5344CB8AC3E}">
        <p14:creationId xmlns:p14="http://schemas.microsoft.com/office/powerpoint/2010/main" val="2463813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87BE9F-2591-4886-AE40-3132EE824C2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95355F-0A9C-44D6-9028-836577E43F86}"/>
              </a:ext>
            </a:extLst>
          </p:cNvPr>
          <p:cNvSpPr>
            <a:spLocks noGrp="1"/>
          </p:cNvSpPr>
          <p:nvPr>
            <p:ph sz="half" idx="1"/>
          </p:nvPr>
        </p:nvSpPr>
        <p:spPr>
          <a:xfrm>
            <a:off x="457200" y="16002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FA93EED1-6866-4696-B995-84B9E91DC1D6}"/>
              </a:ext>
            </a:extLst>
          </p:cNvPr>
          <p:cNvSpPr>
            <a:spLocks noGrp="1"/>
          </p:cNvSpPr>
          <p:nvPr>
            <p:ph sz="half" idx="2"/>
          </p:nvPr>
        </p:nvSpPr>
        <p:spPr>
          <a:xfrm>
            <a:off x="4648200" y="16002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DD782D17-6804-4257-A519-66F7F48879E1}"/>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75AF0696-5A77-4915-A8A3-7A5E41E00756}"/>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88DAAF9-5E8B-4CB6-81EB-DF6E1994B075}"/>
              </a:ext>
            </a:extLst>
          </p:cNvPr>
          <p:cNvSpPr>
            <a:spLocks noGrp="1"/>
          </p:cNvSpPr>
          <p:nvPr>
            <p:ph type="sldNum" sz="quarter" idx="12"/>
          </p:nvPr>
        </p:nvSpPr>
        <p:spPr/>
        <p:txBody>
          <a:bodyPr/>
          <a:lstStyle>
            <a:lvl1pPr>
              <a:defRPr/>
            </a:lvl1pPr>
          </a:lstStyle>
          <a:p>
            <a:fld id="{57627F76-57AC-488E-8455-56B4CE30B94F}" type="slidenum">
              <a:rPr lang="en-US" altLang="zh-CN"/>
              <a:pPr/>
              <a:t>‹#›</a:t>
            </a:fld>
            <a:endParaRPr lang="en-US" altLang="zh-CN"/>
          </a:p>
        </p:txBody>
      </p:sp>
    </p:spTree>
    <p:extLst>
      <p:ext uri="{BB962C8B-B14F-4D97-AF65-F5344CB8AC3E}">
        <p14:creationId xmlns:p14="http://schemas.microsoft.com/office/powerpoint/2010/main" val="1882343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0BB4E-D2CD-452D-BD81-8A238EA31B71}"/>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46245B0-4179-4B66-ADBE-FCAB1E9C8C2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728677B-AEEF-4A67-B0BB-1B9D65C7F748}"/>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551D2F87-46FC-42C6-968E-21311C8EBAF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BC33F7FA-5F66-46E1-8076-5E288B31F1E5}"/>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0848D6EC-F0A9-456C-9520-AB8529F87FF4}"/>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38530DCB-CE3B-48DD-932E-EEEF53F07E31}"/>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88308969-DEF9-4E45-8886-9EBEC43DCEB5}"/>
              </a:ext>
            </a:extLst>
          </p:cNvPr>
          <p:cNvSpPr>
            <a:spLocks noGrp="1"/>
          </p:cNvSpPr>
          <p:nvPr>
            <p:ph type="sldNum" sz="quarter" idx="12"/>
          </p:nvPr>
        </p:nvSpPr>
        <p:spPr/>
        <p:txBody>
          <a:bodyPr/>
          <a:lstStyle>
            <a:lvl1pPr>
              <a:defRPr/>
            </a:lvl1pPr>
          </a:lstStyle>
          <a:p>
            <a:fld id="{5B7BCAC2-E28C-4798-AE26-73D835AF2422}" type="slidenum">
              <a:rPr lang="en-US" altLang="zh-CN"/>
              <a:pPr/>
              <a:t>‹#›</a:t>
            </a:fld>
            <a:endParaRPr lang="en-US" altLang="zh-CN"/>
          </a:p>
        </p:txBody>
      </p:sp>
    </p:spTree>
    <p:extLst>
      <p:ext uri="{BB962C8B-B14F-4D97-AF65-F5344CB8AC3E}">
        <p14:creationId xmlns:p14="http://schemas.microsoft.com/office/powerpoint/2010/main" val="198179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B0D4ED-8699-44E8-A429-865B80971F4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E4E26D6-530E-4E45-8557-CFEFC8F47B42}"/>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C6DBFBA4-1180-4B16-98D6-92E1BCB87542}"/>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E11A2EED-B404-4ADB-AAE7-72080E087C63}"/>
              </a:ext>
            </a:extLst>
          </p:cNvPr>
          <p:cNvSpPr>
            <a:spLocks noGrp="1"/>
          </p:cNvSpPr>
          <p:nvPr>
            <p:ph type="sldNum" sz="quarter" idx="12"/>
          </p:nvPr>
        </p:nvSpPr>
        <p:spPr/>
        <p:txBody>
          <a:bodyPr/>
          <a:lstStyle>
            <a:lvl1pPr>
              <a:defRPr/>
            </a:lvl1pPr>
          </a:lstStyle>
          <a:p>
            <a:fld id="{64C2876C-9F5B-4FA7-AF5E-C655AA906BD9}" type="slidenum">
              <a:rPr lang="en-US" altLang="zh-CN"/>
              <a:pPr/>
              <a:t>‹#›</a:t>
            </a:fld>
            <a:endParaRPr lang="en-US" altLang="zh-CN"/>
          </a:p>
        </p:txBody>
      </p:sp>
    </p:spTree>
    <p:extLst>
      <p:ext uri="{BB962C8B-B14F-4D97-AF65-F5344CB8AC3E}">
        <p14:creationId xmlns:p14="http://schemas.microsoft.com/office/powerpoint/2010/main" val="3007326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D7E66A4-D2A7-462C-BA35-CED59277DB4B}"/>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0918F290-44BB-484D-AC4B-C5CC04184F4F}"/>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4B77BAE4-42E3-48CC-AD34-D3DD47DBC1BF}"/>
              </a:ext>
            </a:extLst>
          </p:cNvPr>
          <p:cNvSpPr>
            <a:spLocks noGrp="1"/>
          </p:cNvSpPr>
          <p:nvPr>
            <p:ph type="sldNum" sz="quarter" idx="12"/>
          </p:nvPr>
        </p:nvSpPr>
        <p:spPr/>
        <p:txBody>
          <a:bodyPr/>
          <a:lstStyle>
            <a:lvl1pPr>
              <a:defRPr/>
            </a:lvl1pPr>
          </a:lstStyle>
          <a:p>
            <a:fld id="{FBA85287-A8DD-4612-8388-EF95D95A6480}" type="slidenum">
              <a:rPr lang="en-US" altLang="zh-CN"/>
              <a:pPr/>
              <a:t>‹#›</a:t>
            </a:fld>
            <a:endParaRPr lang="en-US" altLang="zh-CN"/>
          </a:p>
        </p:txBody>
      </p:sp>
    </p:spTree>
    <p:extLst>
      <p:ext uri="{BB962C8B-B14F-4D97-AF65-F5344CB8AC3E}">
        <p14:creationId xmlns:p14="http://schemas.microsoft.com/office/powerpoint/2010/main" val="1189152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49F03B-D88E-4E5C-B39B-68AAC9113F28}"/>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9F1A3EA-3F91-45E5-9C45-97A5DF217004}"/>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098EF2D8-A029-4698-979E-02E79EA6FB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9D13CAE-4D17-400E-A2D7-05FFAAF388C2}"/>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1CB6227-ABE8-4202-83B7-1EB5184908DE}"/>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F28A180-2443-49BB-97A6-38FF0EAE565A}"/>
              </a:ext>
            </a:extLst>
          </p:cNvPr>
          <p:cNvSpPr>
            <a:spLocks noGrp="1"/>
          </p:cNvSpPr>
          <p:nvPr>
            <p:ph type="sldNum" sz="quarter" idx="12"/>
          </p:nvPr>
        </p:nvSpPr>
        <p:spPr/>
        <p:txBody>
          <a:bodyPr/>
          <a:lstStyle>
            <a:lvl1pPr>
              <a:defRPr/>
            </a:lvl1pPr>
          </a:lstStyle>
          <a:p>
            <a:fld id="{B02E1DF0-7CF9-4525-9768-13A4C00FF4C2}" type="slidenum">
              <a:rPr lang="en-US" altLang="zh-CN"/>
              <a:pPr/>
              <a:t>‹#›</a:t>
            </a:fld>
            <a:endParaRPr lang="en-US" altLang="zh-CN"/>
          </a:p>
        </p:txBody>
      </p:sp>
    </p:spTree>
    <p:extLst>
      <p:ext uri="{BB962C8B-B14F-4D97-AF65-F5344CB8AC3E}">
        <p14:creationId xmlns:p14="http://schemas.microsoft.com/office/powerpoint/2010/main" val="1441311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7885F3-CB06-4BE2-96DE-AD1E9E710B19}"/>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8616453-91C7-4988-A621-12D3CCC3887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DA19DB2-ED57-401F-B854-4941A68FA09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7F2D6E0-9485-4DB0-A2F1-E499F83DB88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F0636B5-85D1-4A8A-A013-2F3A4ADE614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F49B9F4E-8174-4561-A7E5-65CFC4814DDC}"/>
              </a:ext>
            </a:extLst>
          </p:cNvPr>
          <p:cNvSpPr>
            <a:spLocks noGrp="1"/>
          </p:cNvSpPr>
          <p:nvPr>
            <p:ph type="sldNum" sz="quarter" idx="12"/>
          </p:nvPr>
        </p:nvSpPr>
        <p:spPr/>
        <p:txBody>
          <a:bodyPr/>
          <a:lstStyle>
            <a:lvl1pPr>
              <a:defRPr/>
            </a:lvl1pPr>
          </a:lstStyle>
          <a:p>
            <a:fld id="{80C2F133-B929-4D65-9E09-1B7932CF9B2E}" type="slidenum">
              <a:rPr lang="en-US" altLang="zh-CN"/>
              <a:pPr/>
              <a:t>‹#›</a:t>
            </a:fld>
            <a:endParaRPr lang="en-US" altLang="zh-CN"/>
          </a:p>
        </p:txBody>
      </p:sp>
    </p:spTree>
    <p:extLst>
      <p:ext uri="{BB962C8B-B14F-4D97-AF65-F5344CB8AC3E}">
        <p14:creationId xmlns:p14="http://schemas.microsoft.com/office/powerpoint/2010/main" val="4269859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AE86C-883B-4AC5-AE89-58F1334EB7E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DDDF3EF-223C-4F3E-A708-B35F0055C50F}"/>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3474118-1DDA-45FD-8898-3F9C8C8245E0}"/>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02362B0-2247-4EE7-BA92-ACB2B3F5974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CC67024-D716-4DFA-9BBC-4416419071D1}"/>
              </a:ext>
            </a:extLst>
          </p:cNvPr>
          <p:cNvSpPr>
            <a:spLocks noGrp="1"/>
          </p:cNvSpPr>
          <p:nvPr>
            <p:ph type="sldNum" sz="quarter" idx="12"/>
          </p:nvPr>
        </p:nvSpPr>
        <p:spPr/>
        <p:txBody>
          <a:bodyPr/>
          <a:lstStyle>
            <a:lvl1pPr>
              <a:defRPr/>
            </a:lvl1pPr>
          </a:lstStyle>
          <a:p>
            <a:fld id="{87F0EAD3-D7C6-4C96-986C-D69E472FA55B}" type="slidenum">
              <a:rPr lang="en-US" altLang="zh-CN"/>
              <a:pPr/>
              <a:t>‹#›</a:t>
            </a:fld>
            <a:endParaRPr lang="en-US" altLang="zh-CN"/>
          </a:p>
        </p:txBody>
      </p:sp>
    </p:spTree>
    <p:extLst>
      <p:ext uri="{BB962C8B-B14F-4D97-AF65-F5344CB8AC3E}">
        <p14:creationId xmlns:p14="http://schemas.microsoft.com/office/powerpoint/2010/main" val="2975514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D44EBAA-2712-4A23-83F9-B04F96BE373D}"/>
              </a:ext>
            </a:extLst>
          </p:cNvPr>
          <p:cNvSpPr>
            <a:spLocks noGrp="1"/>
          </p:cNvSpPr>
          <p:nvPr>
            <p:ph type="title" orient="vert"/>
          </p:nvPr>
        </p:nvSpPr>
        <p:spPr>
          <a:xfrm>
            <a:off x="6629400" y="228600"/>
            <a:ext cx="2057400" cy="5867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F336F76-31C1-4A7D-BB1A-82EA97925FF3}"/>
              </a:ext>
            </a:extLst>
          </p:cNvPr>
          <p:cNvSpPr>
            <a:spLocks noGrp="1"/>
          </p:cNvSpPr>
          <p:nvPr>
            <p:ph type="body" orient="vert" idx="1"/>
          </p:nvPr>
        </p:nvSpPr>
        <p:spPr>
          <a:xfrm>
            <a:off x="457200" y="228600"/>
            <a:ext cx="6019800" cy="58674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C9DFF39-7467-4505-995B-6A1726601AA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F2E487F-16AF-4998-91A0-810D12CB996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F06CF1B-BAD6-4A82-9D64-B214CB18EF00}"/>
              </a:ext>
            </a:extLst>
          </p:cNvPr>
          <p:cNvSpPr>
            <a:spLocks noGrp="1"/>
          </p:cNvSpPr>
          <p:nvPr>
            <p:ph type="sldNum" sz="quarter" idx="12"/>
          </p:nvPr>
        </p:nvSpPr>
        <p:spPr/>
        <p:txBody>
          <a:bodyPr/>
          <a:lstStyle>
            <a:lvl1pPr>
              <a:defRPr/>
            </a:lvl1pPr>
          </a:lstStyle>
          <a:p>
            <a:fld id="{4E0495A7-5F5D-415A-8E22-82D4D5F35392}" type="slidenum">
              <a:rPr lang="en-US" altLang="zh-CN"/>
              <a:pPr/>
              <a:t>‹#›</a:t>
            </a:fld>
            <a:endParaRPr lang="en-US" altLang="zh-CN"/>
          </a:p>
        </p:txBody>
      </p:sp>
    </p:spTree>
    <p:extLst>
      <p:ext uri="{BB962C8B-B14F-4D97-AF65-F5344CB8AC3E}">
        <p14:creationId xmlns:p14="http://schemas.microsoft.com/office/powerpoint/2010/main" val="4128945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3B7CB-200C-4022-A25F-DC1C10A6CDB0}"/>
              </a:ext>
            </a:extLst>
          </p:cNvPr>
          <p:cNvSpPr>
            <a:spLocks noGrp="1"/>
          </p:cNvSpPr>
          <p:nvPr>
            <p:ph type="title"/>
          </p:nvPr>
        </p:nvSpPr>
        <p:spPr>
          <a:xfrm>
            <a:off x="457200" y="228600"/>
            <a:ext cx="82296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4AF6041-0C1E-48EB-94F0-4758E96611D6}"/>
              </a:ext>
            </a:extLst>
          </p:cNvPr>
          <p:cNvSpPr>
            <a:spLocks noGrp="1"/>
          </p:cNvSpPr>
          <p:nvPr>
            <p:ph type="body" sz="half" idx="1"/>
          </p:nvPr>
        </p:nvSpPr>
        <p:spPr>
          <a:xfrm>
            <a:off x="457200" y="16002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3A4544E1-7558-48B1-A6D7-27DDF042B69E}"/>
              </a:ext>
            </a:extLst>
          </p:cNvPr>
          <p:cNvSpPr>
            <a:spLocks noGrp="1"/>
          </p:cNvSpPr>
          <p:nvPr>
            <p:ph sz="half" idx="2"/>
          </p:nvPr>
        </p:nvSpPr>
        <p:spPr>
          <a:xfrm>
            <a:off x="4648200" y="16002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D0C2C38-D14D-4722-8B66-39007C20C0B5}"/>
              </a:ext>
            </a:extLst>
          </p:cNvPr>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B5FE45EA-7B57-442B-9165-6C39E963D0F6}"/>
              </a:ext>
            </a:extLst>
          </p:cNvPr>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0E26E827-8C49-494D-91AF-276817225F01}"/>
              </a:ext>
            </a:extLst>
          </p:cNvPr>
          <p:cNvSpPr>
            <a:spLocks noGrp="1"/>
          </p:cNvSpPr>
          <p:nvPr>
            <p:ph type="sldNum" sz="quarter" idx="12"/>
          </p:nvPr>
        </p:nvSpPr>
        <p:spPr>
          <a:xfrm>
            <a:off x="6553200" y="6248400"/>
            <a:ext cx="2133600" cy="457200"/>
          </a:xfrm>
        </p:spPr>
        <p:txBody>
          <a:bodyPr/>
          <a:lstStyle>
            <a:lvl1pPr>
              <a:defRPr/>
            </a:lvl1pPr>
          </a:lstStyle>
          <a:p>
            <a:fld id="{421A3ED7-F604-41A7-BEE4-B725E6637857}" type="slidenum">
              <a:rPr lang="en-US" altLang="zh-CN"/>
              <a:pPr/>
              <a:t>‹#›</a:t>
            </a:fld>
            <a:endParaRPr lang="en-US" altLang="zh-CN"/>
          </a:p>
        </p:txBody>
      </p:sp>
    </p:spTree>
    <p:extLst>
      <p:ext uri="{BB962C8B-B14F-4D97-AF65-F5344CB8AC3E}">
        <p14:creationId xmlns:p14="http://schemas.microsoft.com/office/powerpoint/2010/main" val="3429985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84D5B8-A51D-422D-902D-80E8C4291BD2}"/>
              </a:ext>
            </a:extLst>
          </p:cNvPr>
          <p:cNvSpPr>
            <a:spLocks noGrp="1"/>
          </p:cNvSpPr>
          <p:nvPr>
            <p:ph type="title"/>
          </p:nvPr>
        </p:nvSpPr>
        <p:spPr>
          <a:xfrm>
            <a:off x="457200" y="228600"/>
            <a:ext cx="82296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AD53E13-60D7-492C-B66D-4033CD249940}"/>
              </a:ext>
            </a:extLst>
          </p:cNvPr>
          <p:cNvSpPr>
            <a:spLocks noGrp="1"/>
          </p:cNvSpPr>
          <p:nvPr>
            <p:ph type="body" sz="half" idx="1"/>
          </p:nvPr>
        </p:nvSpPr>
        <p:spPr>
          <a:xfrm>
            <a:off x="457200" y="16002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8548EB6-065E-4634-A583-0445E1647219}"/>
              </a:ext>
            </a:extLst>
          </p:cNvPr>
          <p:cNvSpPr>
            <a:spLocks noGrp="1"/>
          </p:cNvSpPr>
          <p:nvPr>
            <p:ph sz="quarter" idx="2"/>
          </p:nvPr>
        </p:nvSpPr>
        <p:spPr>
          <a:xfrm>
            <a:off x="4648200" y="16002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6E718DC2-1639-4D73-9C7A-3BEE9362A0AA}"/>
              </a:ext>
            </a:extLst>
          </p:cNvPr>
          <p:cNvSpPr>
            <a:spLocks noGrp="1"/>
          </p:cNvSpPr>
          <p:nvPr>
            <p:ph sz="quarter" idx="3"/>
          </p:nvPr>
        </p:nvSpPr>
        <p:spPr>
          <a:xfrm>
            <a:off x="4648200" y="39243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28648429-7B85-4F7E-B35F-ADAC4ADBB9BF}"/>
              </a:ext>
            </a:extLst>
          </p:cNvPr>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7" name="页脚占位符 6">
            <a:extLst>
              <a:ext uri="{FF2B5EF4-FFF2-40B4-BE49-F238E27FC236}">
                <a16:creationId xmlns:a16="http://schemas.microsoft.com/office/drawing/2014/main" id="{AEB66667-9281-4B63-BBB4-7E9B2330ACFA}"/>
              </a:ext>
            </a:extLst>
          </p:cNvPr>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524F51D7-0FB3-49A9-A638-E99049E7A286}"/>
              </a:ext>
            </a:extLst>
          </p:cNvPr>
          <p:cNvSpPr>
            <a:spLocks noGrp="1"/>
          </p:cNvSpPr>
          <p:nvPr>
            <p:ph type="sldNum" sz="quarter" idx="12"/>
          </p:nvPr>
        </p:nvSpPr>
        <p:spPr>
          <a:xfrm>
            <a:off x="6553200" y="6248400"/>
            <a:ext cx="2133600" cy="457200"/>
          </a:xfrm>
        </p:spPr>
        <p:txBody>
          <a:bodyPr/>
          <a:lstStyle>
            <a:lvl1pPr>
              <a:defRPr/>
            </a:lvl1pPr>
          </a:lstStyle>
          <a:p>
            <a:fld id="{ACFCA92B-8F77-489E-9DBD-67FD4CD526D6}" type="slidenum">
              <a:rPr lang="en-US" altLang="zh-CN"/>
              <a:pPr/>
              <a:t>‹#›</a:t>
            </a:fld>
            <a:endParaRPr lang="en-US" altLang="zh-CN"/>
          </a:p>
        </p:txBody>
      </p:sp>
    </p:spTree>
    <p:extLst>
      <p:ext uri="{BB962C8B-B14F-4D97-AF65-F5344CB8AC3E}">
        <p14:creationId xmlns:p14="http://schemas.microsoft.com/office/powerpoint/2010/main" val="4161114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72706" name="Group 2">
            <a:extLst>
              <a:ext uri="{FF2B5EF4-FFF2-40B4-BE49-F238E27FC236}">
                <a16:creationId xmlns:a16="http://schemas.microsoft.com/office/drawing/2014/main" id="{7D0F3088-1501-451A-BD45-74729B7FE9CE}"/>
              </a:ext>
            </a:extLst>
          </p:cNvPr>
          <p:cNvGrpSpPr>
            <a:grpSpLocks/>
          </p:cNvGrpSpPr>
          <p:nvPr/>
        </p:nvGrpSpPr>
        <p:grpSpPr bwMode="auto">
          <a:xfrm>
            <a:off x="0" y="0"/>
            <a:ext cx="9144000" cy="6858000"/>
            <a:chOff x="0" y="0"/>
            <a:chExt cx="5760" cy="4320"/>
          </a:xfrm>
        </p:grpSpPr>
        <p:sp>
          <p:nvSpPr>
            <p:cNvPr id="72707" name="Freeform 3">
              <a:extLst>
                <a:ext uri="{FF2B5EF4-FFF2-40B4-BE49-F238E27FC236}">
                  <a16:creationId xmlns:a16="http://schemas.microsoft.com/office/drawing/2014/main" id="{74DD6131-FF73-4356-B214-748AE0226D33}"/>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08" name="Freeform 4">
              <a:extLst>
                <a:ext uri="{FF2B5EF4-FFF2-40B4-BE49-F238E27FC236}">
                  <a16:creationId xmlns:a16="http://schemas.microsoft.com/office/drawing/2014/main" id="{991053EA-07D1-4AD2-B202-120EA0EABC3E}"/>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709" name="Freeform 5">
            <a:extLst>
              <a:ext uri="{FF2B5EF4-FFF2-40B4-BE49-F238E27FC236}">
                <a16:creationId xmlns:a16="http://schemas.microsoft.com/office/drawing/2014/main" id="{90D3DD65-D277-4F2A-B0B9-91C9345E0E18}"/>
              </a:ext>
            </a:extLst>
          </p:cNvPr>
          <p:cNvSpPr>
            <a:spLocks/>
          </p:cNvSpPr>
          <p:nvPr/>
        </p:nvSpPr>
        <p:spPr bwMode="hidden">
          <a:xfrm>
            <a:off x="6248400" y="626268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2710" name="Group 6">
            <a:extLst>
              <a:ext uri="{FF2B5EF4-FFF2-40B4-BE49-F238E27FC236}">
                <a16:creationId xmlns:a16="http://schemas.microsoft.com/office/drawing/2014/main" id="{3C853C1A-E463-429A-9CF8-86242B875101}"/>
              </a:ext>
            </a:extLst>
          </p:cNvPr>
          <p:cNvGrpSpPr>
            <a:grpSpLocks/>
          </p:cNvGrpSpPr>
          <p:nvPr/>
        </p:nvGrpSpPr>
        <p:grpSpPr bwMode="auto">
          <a:xfrm>
            <a:off x="0" y="6019800"/>
            <a:ext cx="7848600" cy="857250"/>
            <a:chOff x="0" y="3792"/>
            <a:chExt cx="4944" cy="540"/>
          </a:xfrm>
        </p:grpSpPr>
        <p:sp>
          <p:nvSpPr>
            <p:cNvPr id="72711" name="Freeform 7">
              <a:extLst>
                <a:ext uri="{FF2B5EF4-FFF2-40B4-BE49-F238E27FC236}">
                  <a16:creationId xmlns:a16="http://schemas.microsoft.com/office/drawing/2014/main" id="{7AE27D82-F4E4-4308-8DA3-8D00E027D478}"/>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2712" name="Group 8">
              <a:extLst>
                <a:ext uri="{FF2B5EF4-FFF2-40B4-BE49-F238E27FC236}">
                  <a16:creationId xmlns:a16="http://schemas.microsoft.com/office/drawing/2014/main" id="{FA4D14CA-0A34-4B56-AE02-7C04DD5AF2B0}"/>
                </a:ext>
              </a:extLst>
            </p:cNvPr>
            <p:cNvGrpSpPr>
              <a:grpSpLocks/>
            </p:cNvGrpSpPr>
            <p:nvPr userDrawn="1"/>
          </p:nvGrpSpPr>
          <p:grpSpPr bwMode="auto">
            <a:xfrm>
              <a:off x="2486" y="3792"/>
              <a:ext cx="2458" cy="540"/>
              <a:chOff x="2486" y="3792"/>
              <a:chExt cx="2458" cy="540"/>
            </a:xfrm>
          </p:grpSpPr>
          <p:sp>
            <p:nvSpPr>
              <p:cNvPr id="72713" name="Freeform 9">
                <a:extLst>
                  <a:ext uri="{FF2B5EF4-FFF2-40B4-BE49-F238E27FC236}">
                    <a16:creationId xmlns:a16="http://schemas.microsoft.com/office/drawing/2014/main" id="{4525621C-D040-4546-B5D5-E25FA0154617}"/>
                  </a:ext>
                </a:extLst>
              </p:cNvPr>
              <p:cNvSpPr>
                <a:spLocks/>
              </p:cNvSpPr>
              <p:nvPr userDrawn="1"/>
            </p:nvSpPr>
            <p:spPr bwMode="ltGray">
              <a:xfrm>
                <a:off x="3948" y="3799"/>
                <a:ext cx="996" cy="533"/>
              </a:xfrm>
              <a:custGeom>
                <a:avLst/>
                <a:gdLst>
                  <a:gd name="T0" fmla="*/ 636 w 996"/>
                  <a:gd name="T1" fmla="*/ 373 h 533"/>
                  <a:gd name="T2" fmla="*/ 495 w 996"/>
                  <a:gd name="T3" fmla="*/ 370 h 533"/>
                  <a:gd name="T4" fmla="*/ 280 w 996"/>
                  <a:gd name="T5" fmla="*/ 249 h 533"/>
                  <a:gd name="T6" fmla="*/ 127 w 996"/>
                  <a:gd name="T7" fmla="*/ 66 h 533"/>
                  <a:gd name="T8" fmla="*/ 0 w 996"/>
                  <a:gd name="T9" fmla="*/ 0 h 533"/>
                  <a:gd name="T10" fmla="*/ 22 w 996"/>
                  <a:gd name="T11" fmla="*/ 26 h 533"/>
                  <a:gd name="T12" fmla="*/ 0 w 996"/>
                  <a:gd name="T13" fmla="*/ 65 h 533"/>
                  <a:gd name="T14" fmla="*/ 30 w 996"/>
                  <a:gd name="T15" fmla="*/ 119 h 533"/>
                  <a:gd name="T16" fmla="*/ 75 w 996"/>
                  <a:gd name="T17" fmla="*/ 243 h 533"/>
                  <a:gd name="T18" fmla="*/ 45 w 996"/>
                  <a:gd name="T19" fmla="*/ 422 h 533"/>
                  <a:gd name="T20" fmla="*/ 200 w 996"/>
                  <a:gd name="T21" fmla="*/ 329 h 533"/>
                  <a:gd name="T22" fmla="*/ 612 w 996"/>
                  <a:gd name="T23" fmla="*/ 533 h 533"/>
                  <a:gd name="T24" fmla="*/ 996 w 996"/>
                  <a:gd name="T25" fmla="*/ 529 h 533"/>
                  <a:gd name="T26" fmla="*/ 828 w 996"/>
                  <a:gd name="T27" fmla="*/ 473 h 533"/>
                  <a:gd name="T28" fmla="*/ 636 w 996"/>
                  <a:gd name="T29" fmla="*/ 373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6" h="533">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4" name="Freeform 10">
                <a:extLst>
                  <a:ext uri="{FF2B5EF4-FFF2-40B4-BE49-F238E27FC236}">
                    <a16:creationId xmlns:a16="http://schemas.microsoft.com/office/drawing/2014/main" id="{BF12966C-CB65-43F3-A228-280B56CB350D}"/>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5" name="Freeform 11">
                <a:extLst>
                  <a:ext uri="{FF2B5EF4-FFF2-40B4-BE49-F238E27FC236}">
                    <a16:creationId xmlns:a16="http://schemas.microsoft.com/office/drawing/2014/main" id="{A9390E5C-5D26-4DEC-83F2-3CD45EF60F7C}"/>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6" name="Freeform 12">
                <a:extLst>
                  <a:ext uri="{FF2B5EF4-FFF2-40B4-BE49-F238E27FC236}">
                    <a16:creationId xmlns:a16="http://schemas.microsoft.com/office/drawing/2014/main" id="{763CECC4-3732-40B6-9929-E7B733BE3EAE}"/>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7" name="Freeform 13">
                <a:extLst>
                  <a:ext uri="{FF2B5EF4-FFF2-40B4-BE49-F238E27FC236}">
                    <a16:creationId xmlns:a16="http://schemas.microsoft.com/office/drawing/2014/main" id="{59C5F61C-8F74-40FC-86CD-469F73D5FA9E}"/>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718" name="Freeform 14">
              <a:extLst>
                <a:ext uri="{FF2B5EF4-FFF2-40B4-BE49-F238E27FC236}">
                  <a16:creationId xmlns:a16="http://schemas.microsoft.com/office/drawing/2014/main" id="{0B76DFCC-A842-4CAB-B6E9-8B72FAD26FED}"/>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2719" name="Group 15">
            <a:extLst>
              <a:ext uri="{FF2B5EF4-FFF2-40B4-BE49-F238E27FC236}">
                <a16:creationId xmlns:a16="http://schemas.microsoft.com/office/drawing/2014/main" id="{01CE9416-0282-43F0-944D-954FE2D5DE33}"/>
              </a:ext>
            </a:extLst>
          </p:cNvPr>
          <p:cNvGrpSpPr>
            <a:grpSpLocks/>
          </p:cNvGrpSpPr>
          <p:nvPr/>
        </p:nvGrpSpPr>
        <p:grpSpPr bwMode="auto">
          <a:xfrm>
            <a:off x="627063" y="6021388"/>
            <a:ext cx="5684837" cy="849312"/>
            <a:chOff x="395" y="3793"/>
            <a:chExt cx="3581" cy="535"/>
          </a:xfrm>
        </p:grpSpPr>
        <p:sp>
          <p:nvSpPr>
            <p:cNvPr id="72720" name="Freeform 16">
              <a:extLst>
                <a:ext uri="{FF2B5EF4-FFF2-40B4-BE49-F238E27FC236}">
                  <a16:creationId xmlns:a16="http://schemas.microsoft.com/office/drawing/2014/main" id="{4C3723F4-6816-4296-A454-12067BB4DC31}"/>
                </a:ext>
              </a:extLst>
            </p:cNvPr>
            <p:cNvSpPr>
              <a:spLocks/>
            </p:cNvSpPr>
            <p:nvPr/>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1" name="Freeform 17">
              <a:extLst>
                <a:ext uri="{FF2B5EF4-FFF2-40B4-BE49-F238E27FC236}">
                  <a16:creationId xmlns:a16="http://schemas.microsoft.com/office/drawing/2014/main" id="{5FFE9AE8-07CA-4243-AB09-E2BEA1570233}"/>
                </a:ext>
              </a:extLst>
            </p:cNvPr>
            <p:cNvSpPr>
              <a:spLocks/>
            </p:cNvSpPr>
            <p:nvPr/>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2" name="Freeform 18">
              <a:extLst>
                <a:ext uri="{FF2B5EF4-FFF2-40B4-BE49-F238E27FC236}">
                  <a16:creationId xmlns:a16="http://schemas.microsoft.com/office/drawing/2014/main" id="{63D18DA0-472C-4702-AA80-01359517F087}"/>
                </a:ext>
              </a:extLst>
            </p:cNvPr>
            <p:cNvSpPr>
              <a:spLocks/>
            </p:cNvSpPr>
            <p:nvPr/>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3" name="Freeform 19">
              <a:extLst>
                <a:ext uri="{FF2B5EF4-FFF2-40B4-BE49-F238E27FC236}">
                  <a16:creationId xmlns:a16="http://schemas.microsoft.com/office/drawing/2014/main" id="{D7E8ACB5-0918-43D6-BAA7-DAC68A2F19E1}"/>
                </a:ext>
              </a:extLst>
            </p:cNvPr>
            <p:cNvSpPr>
              <a:spLocks/>
            </p:cNvSpPr>
            <p:nvPr/>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4" name="Freeform 20">
              <a:extLst>
                <a:ext uri="{FF2B5EF4-FFF2-40B4-BE49-F238E27FC236}">
                  <a16:creationId xmlns:a16="http://schemas.microsoft.com/office/drawing/2014/main" id="{D211368B-A150-481F-924A-2C696302B834}"/>
                </a:ext>
              </a:extLst>
            </p:cNvPr>
            <p:cNvSpPr>
              <a:spLocks/>
            </p:cNvSpPr>
            <p:nvPr/>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5" name="Freeform 21">
              <a:extLst>
                <a:ext uri="{FF2B5EF4-FFF2-40B4-BE49-F238E27FC236}">
                  <a16:creationId xmlns:a16="http://schemas.microsoft.com/office/drawing/2014/main" id="{560AFCCC-3AEE-4858-B064-2517415EEBBF}"/>
                </a:ext>
              </a:extLst>
            </p:cNvPr>
            <p:cNvSpPr>
              <a:spLocks/>
            </p:cNvSpPr>
            <p:nvPr/>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726" name="Rectangle 22">
            <a:extLst>
              <a:ext uri="{FF2B5EF4-FFF2-40B4-BE49-F238E27FC236}">
                <a16:creationId xmlns:a16="http://schemas.microsoft.com/office/drawing/2014/main" id="{D974CC48-A815-4018-832A-D808738E55E0}"/>
              </a:ext>
            </a:extLst>
          </p:cNvPr>
          <p:cNvSpPr>
            <a:spLocks noGrp="1" noChangeArrowheads="1"/>
          </p:cNvSpPr>
          <p:nvPr>
            <p:ph type="title"/>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727" name="Rectangle 23">
            <a:extLst>
              <a:ext uri="{FF2B5EF4-FFF2-40B4-BE49-F238E27FC236}">
                <a16:creationId xmlns:a16="http://schemas.microsoft.com/office/drawing/2014/main" id="{3D35CF91-5ED8-46D4-A0BC-F94C6779D0B2}"/>
              </a:ext>
            </a:extLst>
          </p:cNvPr>
          <p:cNvSpPr>
            <a:spLocks noGrp="1" noChangeArrowheads="1"/>
          </p:cNvSpPr>
          <p:nvPr>
            <p:ph type="body" idx="1"/>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728" name="Rectangle 24">
            <a:extLst>
              <a:ext uri="{FF2B5EF4-FFF2-40B4-BE49-F238E27FC236}">
                <a16:creationId xmlns:a16="http://schemas.microsoft.com/office/drawing/2014/main" id="{8795419A-F503-4807-8D2B-8D09762F5FBA}"/>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defRPr>
            </a:lvl1pPr>
          </a:lstStyle>
          <a:p>
            <a:endParaRPr lang="en-US" altLang="zh-CN"/>
          </a:p>
        </p:txBody>
      </p:sp>
      <p:sp>
        <p:nvSpPr>
          <p:cNvPr id="72729" name="Rectangle 25">
            <a:extLst>
              <a:ext uri="{FF2B5EF4-FFF2-40B4-BE49-F238E27FC236}">
                <a16:creationId xmlns:a16="http://schemas.microsoft.com/office/drawing/2014/main" id="{3C328F29-EAFE-4C13-869F-9D8E86518E67}"/>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defRPr>
            </a:lvl1pPr>
          </a:lstStyle>
          <a:p>
            <a:endParaRPr lang="en-US" altLang="zh-CN"/>
          </a:p>
        </p:txBody>
      </p:sp>
      <p:sp>
        <p:nvSpPr>
          <p:cNvPr id="72730" name="Rectangle 26">
            <a:extLst>
              <a:ext uri="{FF2B5EF4-FFF2-40B4-BE49-F238E27FC236}">
                <a16:creationId xmlns:a16="http://schemas.microsoft.com/office/drawing/2014/main" id="{8049D001-AD62-4D2D-A5BA-FD335C3A5FB6}"/>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defRPr>
            </a:lvl1pPr>
          </a:lstStyle>
          <a:p>
            <a:fld id="{1B53FFA1-9D88-4A81-91C4-BA51EFB93125}" type="slidenum">
              <a:rPr lang="en-US" altLang="zh-CN"/>
              <a:pPr/>
              <a:t>‹#›</a:t>
            </a:fld>
            <a:endParaRPr lang="en-US" altLang="zh-CN"/>
          </a:p>
        </p:txBody>
      </p:sp>
    </p:spTree>
    <p:extLst>
      <p:ext uri="{BB962C8B-B14F-4D97-AF65-F5344CB8AC3E}">
        <p14:creationId xmlns:p14="http://schemas.microsoft.com/office/powerpoint/2010/main" val="2540476693"/>
      </p:ext>
    </p:extLst>
  </p:cSld>
  <p:clrMap bg1="dk2" tx1="lt1" bg2="dk1"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baike.baidu.com/item/%E7%91%9E%E5%88%A9%E5%88%86%E5%B8%83"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zh.wikipedia.org/wiki/%E6%A6%82%E7%8E%87%E5%88%86%E5%B8%83" TargetMode="Externa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8" Type="http://schemas.openxmlformats.org/officeDocument/2006/relationships/hyperlink" Target="http://zh.wikipedia.org/w/index.php?title=%E9%A1%B9%E7%9B%AE%E8%AF%84%E4%BC%B0%E4%B8%8E%E5%AE%A1%E6%A0%B8%E6%8A%80%E6%9C%AF&amp;action=edit&amp;redlink=1" TargetMode="External"/><Relationship Id="rId3" Type="http://schemas.openxmlformats.org/officeDocument/2006/relationships/hyperlink" Target="http://zh.wikipedia.org/wiki/%E8%AE%A1%E7%AE%97%E6%9C%BA%E6%A8%A1%E6%8B%9F" TargetMode="External"/><Relationship Id="rId7" Type="http://schemas.openxmlformats.org/officeDocument/2006/relationships/hyperlink" Target="http://zh.wikipedia.org/wiki/%E9%A1%B9%E7%9B%AE%E7%AE%A1%E7%90%86" TargetMode="External"/><Relationship Id="rId2" Type="http://schemas.openxmlformats.org/officeDocument/2006/relationships/hyperlink" Target="http://zh.wikipedia.org/wiki/%E5%86%B3%E7%AD%96" TargetMode="External"/><Relationship Id="rId1" Type="http://schemas.openxmlformats.org/officeDocument/2006/relationships/slideLayout" Target="../slideLayouts/slideLayout7.xml"/><Relationship Id="rId6" Type="http://schemas.openxmlformats.org/officeDocument/2006/relationships/hyperlink" Target="http://zh.wikipedia.org/w/index.php?title=Beta%E5%88%86%E5%B8%83&amp;action=edit&amp;redlink=1" TargetMode="External"/><Relationship Id="rId5" Type="http://schemas.openxmlformats.org/officeDocument/2006/relationships/hyperlink" Target="http://zh.wikipedia.org/w/index.php?title=%E5%B9%B3%E5%9D%87%E5%88%86%E5%B8%83&amp;action=edit&amp;redlink=1" TargetMode="External"/><Relationship Id="rId4" Type="http://schemas.openxmlformats.org/officeDocument/2006/relationships/hyperlink" Target="http://zh.wikipedia.org/wiki/%E6%A6%82%E7%8E%87%E5%88%86%E5%B8%83" TargetMode="External"/><Relationship Id="rId9" Type="http://schemas.openxmlformats.org/officeDocument/2006/relationships/hyperlink" Target="http://zh.wikipedia.org/w/index.php?title=%E5%85%B3%E9%94%AE%E9%80%94%E5%BE%84&amp;action=edit&amp;redlink=1"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8F35DEB1-6E91-46D4-8416-EB66CFD44215}"/>
              </a:ext>
            </a:extLst>
          </p:cNvPr>
          <p:cNvSpPr>
            <a:spLocks noGrp="1" noChangeArrowheads="1"/>
          </p:cNvSpPr>
          <p:nvPr>
            <p:ph type="ctrTitle"/>
          </p:nvPr>
        </p:nvSpPr>
        <p:spPr/>
        <p:txBody>
          <a:bodyPr/>
          <a:lstStyle/>
          <a:p>
            <a:r>
              <a:rPr lang="zh-CN" altLang="en-US" sz="4400" b="1" dirty="0">
                <a:solidFill>
                  <a:schemeClr val="tx1"/>
                </a:solidFill>
                <a:effectLst/>
                <a:latin typeface="Times New Roman" panose="02020603050405020304" pitchFamily="18" charset="0"/>
              </a:rPr>
              <a:t>第</a:t>
            </a:r>
            <a:r>
              <a:rPr lang="en-US" altLang="zh-CN" sz="4400" b="1" dirty="0">
                <a:solidFill>
                  <a:schemeClr val="tx1"/>
                </a:solidFill>
                <a:effectLst/>
                <a:latin typeface="Times New Roman" panose="02020603050405020304" pitchFamily="18" charset="0"/>
              </a:rPr>
              <a:t>1</a:t>
            </a:r>
            <a:r>
              <a:rPr lang="zh-CN" altLang="en-US" sz="4400" b="1" dirty="0">
                <a:solidFill>
                  <a:schemeClr val="tx1"/>
                </a:solidFill>
                <a:effectLst/>
                <a:latin typeface="Times New Roman" panose="02020603050405020304" pitchFamily="18" charset="0"/>
              </a:rPr>
              <a:t>节  </a:t>
            </a:r>
            <a:r>
              <a:rPr lang="zh-CN" altLang="en-US" sz="4400" b="1" dirty="0">
                <a:solidFill>
                  <a:schemeClr val="tx1"/>
                </a:solidFill>
              </a:rPr>
              <a:t>随机变量及其概率分布</a:t>
            </a:r>
            <a:endParaRPr lang="zh-CN" altLang="en-US" sz="4400" b="1" dirty="0">
              <a:solidFill>
                <a:schemeClr val="tx1"/>
              </a:solidFill>
              <a:effectLst/>
              <a:latin typeface="Times New Roman" panose="02020603050405020304" pitchFamily="18" charset="0"/>
            </a:endParaRPr>
          </a:p>
        </p:txBody>
      </p:sp>
      <p:sp>
        <p:nvSpPr>
          <p:cNvPr id="97283" name="Rectangle 3">
            <a:extLst>
              <a:ext uri="{FF2B5EF4-FFF2-40B4-BE49-F238E27FC236}">
                <a16:creationId xmlns:a16="http://schemas.microsoft.com/office/drawing/2014/main" id="{F304C1C1-66F4-4911-8C59-DD8BD3DF3C2C}"/>
              </a:ext>
            </a:extLst>
          </p:cNvPr>
          <p:cNvSpPr>
            <a:spLocks noGrp="1" noChangeArrowheads="1"/>
          </p:cNvSpPr>
          <p:nvPr>
            <p:ph type="subTitle" idx="1"/>
          </p:nvPr>
        </p:nvSpPr>
        <p:spPr>
          <a:xfrm>
            <a:off x="1979613" y="3573463"/>
            <a:ext cx="6400800" cy="1752600"/>
          </a:xfrm>
        </p:spPr>
        <p:txBody>
          <a:bodyPr/>
          <a:lstStyle/>
          <a:p>
            <a:r>
              <a:rPr lang="en-US" altLang="zh-CN" b="1" dirty="0">
                <a:latin typeface="Times New Roman" panose="02020603050405020304" pitchFamily="18" charset="0"/>
              </a:rPr>
              <a:t>——</a:t>
            </a:r>
            <a:r>
              <a:rPr lang="zh-CN" altLang="en-US" b="1" dirty="0"/>
              <a:t>贝叶斯理论基础</a:t>
            </a:r>
            <a:endParaRPr lang="zh-CN" altLang="en-US" b="1"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a:extLst>
              <a:ext uri="{FF2B5EF4-FFF2-40B4-BE49-F238E27FC236}">
                <a16:creationId xmlns:a16="http://schemas.microsoft.com/office/drawing/2014/main" id="{FCC6E40A-B757-4A69-896C-B443A6FDB540}"/>
              </a:ext>
            </a:extLst>
          </p:cNvPr>
          <p:cNvSpPr txBox="1">
            <a:spLocks noChangeArrowheads="1"/>
          </p:cNvSpPr>
          <p:nvPr/>
        </p:nvSpPr>
        <p:spPr bwMode="auto">
          <a:xfrm>
            <a:off x="395288" y="692150"/>
            <a:ext cx="4752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dirty="0">
                <a:solidFill>
                  <a:srgbClr val="E313ED"/>
                </a:solidFill>
              </a:rPr>
              <a:t>一、随机变量的引入</a:t>
            </a:r>
          </a:p>
        </p:txBody>
      </p:sp>
      <mc:AlternateContent xmlns:mc="http://schemas.openxmlformats.org/markup-compatibility/2006" xmlns:a14="http://schemas.microsoft.com/office/drawing/2010/main">
        <mc:Choice Requires="a14">
          <p:sp>
            <p:nvSpPr>
              <p:cNvPr id="44035" name="Text Box 3">
                <a:extLst>
                  <a:ext uri="{FF2B5EF4-FFF2-40B4-BE49-F238E27FC236}">
                    <a16:creationId xmlns:a16="http://schemas.microsoft.com/office/drawing/2014/main" id="{39B43BE8-19DD-4240-8226-24CB5EADA03A}"/>
                  </a:ext>
                </a:extLst>
              </p:cNvPr>
              <p:cNvSpPr txBox="1">
                <a:spLocks noChangeArrowheads="1"/>
              </p:cNvSpPr>
              <p:nvPr/>
            </p:nvSpPr>
            <p:spPr bwMode="auto">
              <a:xfrm>
                <a:off x="495300" y="1556792"/>
                <a:ext cx="8153400" cy="4210383"/>
              </a:xfrm>
              <a:prstGeom prst="rect">
                <a:avLst/>
              </a:prstGeom>
              <a:noFill/>
              <a:ln>
                <a:noFill/>
              </a:ln>
              <a:effectLst/>
              <a:extLst>
                <a:ext uri="{909E8E84-426E-40DD-AFC4-6F175D3DCCD1}">
                  <a14:hiddenFill>
                    <a:solidFill>
                      <a:srgbClr val="FFFF99"/>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a:spAutoFit/>
              </a:bodyPr>
              <a:lstStyle/>
              <a:p>
                <a:pPr>
                  <a:lnSpc>
                    <a:spcPct val="125000"/>
                  </a:lnSpc>
                  <a:spcBef>
                    <a:spcPct val="10000"/>
                  </a:spcBef>
                  <a:spcAft>
                    <a:spcPct val="10000"/>
                  </a:spcAft>
                </a:pPr>
                <a:r>
                  <a:rPr kumimoji="1" lang="zh-CN" altLang="en-US" dirty="0">
                    <a:latin typeface="Times New Roman" panose="02020603050405020304" pitchFamily="18" charset="0"/>
                  </a:rPr>
                  <a:t>　　一般地，如果</a:t>
                </a:r>
                <a:r>
                  <a:rPr kumimoji="1" lang="en-US" altLang="zh-CN" dirty="0">
                    <a:latin typeface="Times New Roman" panose="02020603050405020304" pitchFamily="18" charset="0"/>
                  </a:rPr>
                  <a:t>A</a:t>
                </a:r>
                <a:r>
                  <a:rPr kumimoji="1" lang="zh-CN" altLang="en-US" dirty="0">
                    <a:latin typeface="Times New Roman" panose="02020603050405020304" pitchFamily="18" charset="0"/>
                  </a:rPr>
                  <a:t>为某个随机事件，则一定可以通过如下标签函数使它与数值发生联系：</a:t>
                </a:r>
              </a:p>
              <a:p>
                <a:pPr>
                  <a:lnSpc>
                    <a:spcPct val="125000"/>
                  </a:lnSpc>
                  <a:spcBef>
                    <a:spcPct val="10000"/>
                  </a:spcBef>
                  <a:spcAft>
                    <a:spcPct val="10000"/>
                  </a:spcAft>
                </a:pPr>
                <a:r>
                  <a:rPr kumimoji="1" lang="zh-CN" altLang="en-US" dirty="0">
                    <a:latin typeface="Times New Roman" panose="02020603050405020304" pitchFamily="18" charset="0"/>
                  </a:rPr>
                  <a:t>                         </a:t>
                </a:r>
                <a14:m>
                  <m:oMath xmlns:m="http://schemas.openxmlformats.org/officeDocument/2006/math">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𝑰</m:t>
                        </m:r>
                      </m:e>
                      <m:sub>
                        <m:r>
                          <a:rPr kumimoji="1" lang="en-US" altLang="zh-CN" b="1" i="1" smtClean="0">
                            <a:latin typeface="Cambria Math" panose="02040503050406030204" pitchFamily="18" charset="0"/>
                          </a:rPr>
                          <m:t>𝑨</m:t>
                        </m:r>
                      </m:sub>
                    </m:sSub>
                    <m:r>
                      <a:rPr kumimoji="1" lang="en-US" altLang="zh-CN" b="1" i="1" smtClean="0">
                        <a:latin typeface="Cambria Math" panose="02040503050406030204" pitchFamily="18" charset="0"/>
                      </a:rPr>
                      <m:t>=</m:t>
                    </m:r>
                    <m:d>
                      <m:dPr>
                        <m:begChr m:val="{"/>
                        <m:endChr m:val=""/>
                        <m:ctrlPr>
                          <a:rPr kumimoji="1" lang="en-US" altLang="zh-CN" b="1" i="1" smtClean="0">
                            <a:latin typeface="Cambria Math" panose="02040503050406030204" pitchFamily="18" charset="0"/>
                          </a:rPr>
                        </m:ctrlPr>
                      </m:dPr>
                      <m:e>
                        <m:m>
                          <m:mPr>
                            <m:mcs>
                              <m:mc>
                                <m:mcPr>
                                  <m:count m:val="1"/>
                                  <m:mcJc m:val="center"/>
                                </m:mcPr>
                              </m:mc>
                            </m:mcs>
                            <m:ctrlPr>
                              <a:rPr kumimoji="1" lang="en-US" altLang="zh-CN" b="1" i="1" smtClean="0">
                                <a:latin typeface="Cambria Math" panose="02040503050406030204" pitchFamily="18" charset="0"/>
                              </a:rPr>
                            </m:ctrlPr>
                          </m:mPr>
                          <m:mr>
                            <m:e>
                              <m:r>
                                <m:rPr>
                                  <m:brk m:alnAt="7"/>
                                </m:rPr>
                                <a:rPr kumimoji="1" lang="en-US" altLang="zh-CN" b="1" i="1" smtClean="0">
                                  <a:latin typeface="Cambria Math" panose="02040503050406030204" pitchFamily="18" charset="0"/>
                                </a:rPr>
                                <m:t>𝟏</m:t>
                              </m:r>
                              <m:r>
                                <a:rPr kumimoji="1" lang="en-US" altLang="zh-CN" b="1" i="1" smtClean="0">
                                  <a:latin typeface="Cambria Math" panose="02040503050406030204" pitchFamily="18" charset="0"/>
                                </a:rPr>
                                <m:t>  ,                   </m:t>
                              </m:r>
                              <m:r>
                                <m:rPr>
                                  <m:brk m:alnAt="7"/>
                                </m:rPr>
                                <a:rPr kumimoji="1" lang="zh-CN" altLang="en-US" i="1">
                                  <a:latin typeface="Cambria Math" panose="02040503050406030204" pitchFamily="18" charset="0"/>
                                </a:rPr>
                                <m:t>如</m:t>
                              </m:r>
                              <m:r>
                                <a:rPr kumimoji="1" lang="zh-CN" altLang="en-US" i="1">
                                  <a:latin typeface="Cambria Math" panose="02040503050406030204" pitchFamily="18" charset="0"/>
                                </a:rPr>
                                <m:t>果</m:t>
                              </m:r>
                              <m:r>
                                <m:rPr>
                                  <m:sty m:val="p"/>
                                  <m:brk m:alnAt="7"/>
                                </m:rPr>
                                <a:rPr kumimoji="1" lang="en-US" altLang="zh-CN" i="1" smtClean="0">
                                  <a:latin typeface="Cambria Math" panose="02040503050406030204" pitchFamily="18" charset="0"/>
                                </a:rPr>
                                <m:t>A</m:t>
                              </m:r>
                              <m:r>
                                <m:rPr>
                                  <m:brk m:alnAt="7"/>
                                </m:rPr>
                                <a:rPr kumimoji="1" lang="zh-CN" altLang="en-US" i="1" smtClean="0">
                                  <a:latin typeface="Cambria Math" panose="02040503050406030204" pitchFamily="18" charset="0"/>
                                </a:rPr>
                                <m:t>发</m:t>
                              </m:r>
                              <m:r>
                                <a:rPr kumimoji="1" lang="zh-CN" altLang="en-US" i="1" smtClean="0">
                                  <a:latin typeface="Cambria Math" panose="02040503050406030204" pitchFamily="18" charset="0"/>
                                </a:rPr>
                                <m:t>生</m:t>
                              </m:r>
                            </m:e>
                          </m:mr>
                          <m:mr>
                            <m:e>
                              <m:r>
                                <a:rPr kumimoji="1" lang="en-US" altLang="zh-CN" i="1">
                                  <a:latin typeface="Cambria Math" panose="02040503050406030204" pitchFamily="18" charset="0"/>
                                </a:rPr>
                                <m:t>0</m:t>
                              </m:r>
                              <m:r>
                                <a:rPr kumimoji="1" lang="zh-CN" altLang="en-US" i="1" smtClean="0">
                                  <a:latin typeface="Cambria Math" panose="02040503050406030204" pitchFamily="18" charset="0"/>
                                </a:rPr>
                                <m:t>，</m:t>
                              </m:r>
                              <m:r>
                                <a:rPr kumimoji="1" lang="en-US" altLang="zh-CN" b="1" i="1" smtClean="0">
                                  <a:latin typeface="Cambria Math" panose="02040503050406030204" pitchFamily="18" charset="0"/>
                                </a:rPr>
                                <m:t>             </m:t>
                              </m:r>
                              <m:r>
                                <a:rPr kumimoji="1" lang="zh-CN" altLang="en-US" i="1">
                                  <a:latin typeface="Cambria Math" panose="02040503050406030204" pitchFamily="18" charset="0"/>
                                </a:rPr>
                                <m:t>如果</m:t>
                              </m:r>
                              <m:r>
                                <m:rPr>
                                  <m:sty m:val="p"/>
                                </m:rPr>
                                <a:rPr kumimoji="1" lang="en-US" altLang="zh-CN" i="1" smtClean="0">
                                  <a:latin typeface="Cambria Math" panose="02040503050406030204" pitchFamily="18" charset="0"/>
                                </a:rPr>
                                <m:t>A</m:t>
                              </m:r>
                              <m:r>
                                <a:rPr kumimoji="1" lang="zh-CN" altLang="en-US" i="1">
                                  <a:latin typeface="Cambria Math" panose="02040503050406030204" pitchFamily="18" charset="0"/>
                                </a:rPr>
                                <m:t>不</m:t>
                              </m:r>
                              <m:r>
                                <a:rPr kumimoji="1" lang="zh-CN" altLang="en-US" i="1" smtClean="0">
                                  <a:latin typeface="Cambria Math" panose="02040503050406030204" pitchFamily="18" charset="0"/>
                                </a:rPr>
                                <m:t>发生</m:t>
                              </m:r>
                            </m:e>
                          </m:mr>
                        </m:m>
                      </m:e>
                    </m:d>
                  </m:oMath>
                </a14:m>
                <a:r>
                  <a:rPr kumimoji="1" lang="zh-CN" altLang="en-US" dirty="0">
                    <a:latin typeface="Times New Roman" panose="02020603050405020304" pitchFamily="18" charset="0"/>
                  </a:rPr>
                  <a:t> </a:t>
                </a:r>
                <a:endParaRPr kumimoji="1" lang="en-US" altLang="zh-CN" dirty="0">
                  <a:latin typeface="Times New Roman" panose="02020603050405020304" pitchFamily="18" charset="0"/>
                </a:endParaRPr>
              </a:p>
              <a:p>
                <a:pPr>
                  <a:lnSpc>
                    <a:spcPct val="125000"/>
                  </a:lnSpc>
                  <a:spcBef>
                    <a:spcPct val="10000"/>
                  </a:spcBef>
                  <a:spcAft>
                    <a:spcPct val="10000"/>
                  </a:spcAft>
                </a:pPr>
                <a:r>
                  <a:rPr kumimoji="1" lang="zh-CN" altLang="en-US" dirty="0">
                    <a:latin typeface="Times New Roman" panose="02020603050405020304" pitchFamily="18" charset="0"/>
                  </a:rPr>
                  <a:t>       试验的结果能用一个数 </a:t>
                </a:r>
                <a:r>
                  <a:rPr kumimoji="1" lang="en-US" altLang="zh-CN" i="1" dirty="0">
                    <a:latin typeface="Times New Roman" panose="02020603050405020304" pitchFamily="18" charset="0"/>
                  </a:rPr>
                  <a:t>x </a:t>
                </a:r>
                <a:r>
                  <a:rPr kumimoji="1" lang="zh-CN" altLang="en-US" dirty="0">
                    <a:latin typeface="Times New Roman" panose="02020603050405020304" pitchFamily="18" charset="0"/>
                  </a:rPr>
                  <a:t>来表示，这个数 </a:t>
                </a:r>
                <a:r>
                  <a:rPr kumimoji="1" lang="en-US" altLang="zh-CN" i="1" dirty="0">
                    <a:latin typeface="Times New Roman" panose="02020603050405020304" pitchFamily="18" charset="0"/>
                  </a:rPr>
                  <a:t>x </a:t>
                </a:r>
                <a:r>
                  <a:rPr kumimoji="1" lang="zh-CN" altLang="en-US" dirty="0">
                    <a:latin typeface="Times New Roman" panose="02020603050405020304" pitchFamily="18" charset="0"/>
                  </a:rPr>
                  <a:t>是随着试验的结果的不同而变化的，也即它是样本点的一个函数，这种量以后称为随机变量。</a:t>
                </a:r>
              </a:p>
            </p:txBody>
          </p:sp>
        </mc:Choice>
        <mc:Fallback xmlns="">
          <p:sp>
            <p:nvSpPr>
              <p:cNvPr id="44035" name="Text Box 3">
                <a:extLst>
                  <a:ext uri="{FF2B5EF4-FFF2-40B4-BE49-F238E27FC236}">
                    <a16:creationId xmlns:a16="http://schemas.microsoft.com/office/drawing/2014/main" id="{39B43BE8-19DD-4240-8226-24CB5EADA03A}"/>
                  </a:ext>
                </a:extLst>
              </p:cNvPr>
              <p:cNvSpPr txBox="1">
                <a:spLocks noRot="1" noChangeAspect="1" noMove="1" noResize="1" noEditPoints="1" noAdjustHandles="1" noChangeArrowheads="1" noChangeShapeType="1" noTextEdit="1"/>
              </p:cNvSpPr>
              <p:nvPr/>
            </p:nvSpPr>
            <p:spPr bwMode="auto">
              <a:xfrm>
                <a:off x="495300" y="1556792"/>
                <a:ext cx="8153400" cy="4210383"/>
              </a:xfrm>
              <a:prstGeom prst="rect">
                <a:avLst/>
              </a:prstGeom>
              <a:blipFill>
                <a:blip r:embed="rId2"/>
                <a:stretch>
                  <a:fillRect l="-1495" t="-579" r="-374" b="-2605"/>
                </a:stretch>
              </a:blip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FA664CC-30B8-4ADB-8924-BBF59B071886}"/>
              </a:ext>
            </a:extLst>
          </p:cNvPr>
          <p:cNvSpPr>
            <a:spLocks noGrp="1" noChangeArrowheads="1"/>
          </p:cNvSpPr>
          <p:nvPr>
            <p:ph type="title"/>
          </p:nvPr>
        </p:nvSpPr>
        <p:spPr>
          <a:xfrm>
            <a:off x="179512" y="190500"/>
            <a:ext cx="8229600" cy="1143000"/>
          </a:xfrm>
        </p:spPr>
        <p:txBody>
          <a:bodyPr/>
          <a:lstStyle/>
          <a:p>
            <a:pPr algn="l"/>
            <a:r>
              <a:rPr lang="zh-CN" altLang="en-US" sz="3600" b="1" dirty="0">
                <a:solidFill>
                  <a:schemeClr val="tx1"/>
                </a:solidFill>
              </a:rPr>
              <a:t>随机变量与普通函数不同</a:t>
            </a:r>
          </a:p>
        </p:txBody>
      </p:sp>
      <p:sp>
        <p:nvSpPr>
          <p:cNvPr id="45059" name="Rectangle 3">
            <a:extLst>
              <a:ext uri="{FF2B5EF4-FFF2-40B4-BE49-F238E27FC236}">
                <a16:creationId xmlns:a16="http://schemas.microsoft.com/office/drawing/2014/main" id="{00049AE7-D777-477A-B96A-7CEE5E71136C}"/>
              </a:ext>
            </a:extLst>
          </p:cNvPr>
          <p:cNvSpPr>
            <a:spLocks noGrp="1" noChangeArrowheads="1"/>
          </p:cNvSpPr>
          <p:nvPr>
            <p:ph idx="1"/>
          </p:nvPr>
        </p:nvSpPr>
        <p:spPr>
          <a:xfrm>
            <a:off x="395536" y="1844824"/>
            <a:ext cx="8424936" cy="3312368"/>
          </a:xfrm>
        </p:spPr>
        <p:txBody>
          <a:bodyPr/>
          <a:lstStyle/>
          <a:p>
            <a:pPr>
              <a:lnSpc>
                <a:spcPct val="130000"/>
              </a:lnSpc>
            </a:pPr>
            <a:r>
              <a:rPr lang="zh-CN" altLang="en-US" sz="2800" b="1" dirty="0"/>
              <a:t>随机变量取各个值有一定的概率。普通函数则不然。</a:t>
            </a:r>
          </a:p>
          <a:p>
            <a:pPr>
              <a:lnSpc>
                <a:spcPct val="130000"/>
              </a:lnSpc>
            </a:pPr>
            <a:r>
              <a:rPr lang="zh-CN" altLang="en-US" sz="2800" b="1" dirty="0"/>
              <a:t>随机变量定义在样本空间上，即随机变量的“定义域”可以不是实数值，而普通函数的定义域是实数集或它的子集。</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a:extLst>
              <a:ext uri="{FF2B5EF4-FFF2-40B4-BE49-F238E27FC236}">
                <a16:creationId xmlns:a16="http://schemas.microsoft.com/office/drawing/2014/main" id="{D795B021-36F0-4AAB-A893-7EC30305DFF0}"/>
              </a:ext>
            </a:extLst>
          </p:cNvPr>
          <p:cNvSpPr txBox="1">
            <a:spLocks noChangeArrowheads="1"/>
          </p:cNvSpPr>
          <p:nvPr/>
        </p:nvSpPr>
        <p:spPr bwMode="auto">
          <a:xfrm>
            <a:off x="468313" y="620713"/>
            <a:ext cx="6873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200" dirty="0">
                <a:latin typeface="Times New Roman" panose="02020603050405020304" pitchFamily="18" charset="0"/>
              </a:rPr>
              <a:t>概率分布</a:t>
            </a:r>
          </a:p>
        </p:txBody>
      </p:sp>
      <p:sp>
        <p:nvSpPr>
          <p:cNvPr id="46083" name="Text Box 3">
            <a:extLst>
              <a:ext uri="{FF2B5EF4-FFF2-40B4-BE49-F238E27FC236}">
                <a16:creationId xmlns:a16="http://schemas.microsoft.com/office/drawing/2014/main" id="{32FA4C53-0856-4486-97C1-98B27283D7F5}"/>
              </a:ext>
            </a:extLst>
          </p:cNvPr>
          <p:cNvSpPr txBox="1">
            <a:spLocks noChangeArrowheads="1"/>
          </p:cNvSpPr>
          <p:nvPr/>
        </p:nvSpPr>
        <p:spPr bwMode="auto">
          <a:xfrm>
            <a:off x="611560" y="1700808"/>
            <a:ext cx="7631112" cy="324217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zh-CN" altLang="en-US" dirty="0">
                <a:latin typeface="Times New Roman" panose="02020603050405020304" pitchFamily="18" charset="0"/>
              </a:rPr>
              <a:t>　　 一般，若</a:t>
            </a:r>
            <a:r>
              <a:rPr kumimoji="1" lang="en-US" altLang="zh-CN" dirty="0">
                <a:latin typeface="Times New Roman" panose="02020603050405020304" pitchFamily="18" charset="0"/>
              </a:rPr>
              <a:t>R</a:t>
            </a:r>
            <a:r>
              <a:rPr kumimoji="1" lang="zh-CN" altLang="en-US" dirty="0">
                <a:latin typeface="Times New Roman" panose="02020603050405020304" pitchFamily="18" charset="0"/>
              </a:rPr>
              <a:t>是一个实数集合，将</a:t>
            </a:r>
            <a:r>
              <a:rPr kumimoji="1" lang="en-US" altLang="zh-CN" i="1" dirty="0">
                <a:latin typeface="Times New Roman" panose="02020603050405020304" pitchFamily="18" charset="0"/>
              </a:rPr>
              <a:t>X</a:t>
            </a:r>
            <a:r>
              <a:rPr kumimoji="1" lang="zh-CN" altLang="en-US" dirty="0">
                <a:latin typeface="Times New Roman" panose="02020603050405020304" pitchFamily="18" charset="0"/>
              </a:rPr>
              <a:t>在</a:t>
            </a:r>
            <a:r>
              <a:rPr kumimoji="1" lang="en-US" altLang="zh-CN" dirty="0">
                <a:latin typeface="Times New Roman" panose="02020603050405020304" pitchFamily="18" charset="0"/>
              </a:rPr>
              <a:t>R</a:t>
            </a:r>
            <a:r>
              <a:rPr kumimoji="1" lang="zh-CN" altLang="en-US" dirty="0">
                <a:latin typeface="Times New Roman" panose="02020603050405020304" pitchFamily="18" charset="0"/>
              </a:rPr>
              <a:t>上取值写成</a:t>
            </a:r>
            <a:r>
              <a:rPr kumimoji="1" lang="en-US" altLang="zh-CN" dirty="0">
                <a:latin typeface="Times New Roman" panose="02020603050405020304" pitchFamily="18" charset="0"/>
              </a:rPr>
              <a:t>{</a:t>
            </a:r>
            <a:r>
              <a:rPr kumimoji="1" lang="en-US" altLang="zh-CN" i="1" dirty="0">
                <a:latin typeface="Times New Roman" panose="02020603050405020304" pitchFamily="18" charset="0"/>
              </a:rPr>
              <a:t>X</a:t>
            </a:r>
            <a:r>
              <a:rPr kumimoji="1" lang="en-US" altLang="zh-CN" dirty="0">
                <a:latin typeface="Times New Roman" panose="02020603050405020304" pitchFamily="18" charset="0"/>
                <a:sym typeface="Symbol" panose="05050102010706020507" pitchFamily="18" charset="2"/>
              </a:rPr>
              <a:t></a:t>
            </a:r>
            <a:r>
              <a:rPr kumimoji="1" lang="en-US" altLang="zh-CN" dirty="0">
                <a:latin typeface="Times New Roman" panose="02020603050405020304" pitchFamily="18" charset="0"/>
              </a:rPr>
              <a:t>R}</a:t>
            </a:r>
            <a:r>
              <a:rPr kumimoji="1" lang="zh-CN" altLang="en-US" dirty="0">
                <a:latin typeface="Times New Roman" panose="02020603050405020304" pitchFamily="18" charset="0"/>
              </a:rPr>
              <a:t>，它表示事件</a:t>
            </a:r>
            <a:r>
              <a:rPr kumimoji="1" lang="en-US" altLang="zh-CN" dirty="0">
                <a:latin typeface="Times New Roman" panose="02020603050405020304" pitchFamily="18" charset="0"/>
              </a:rPr>
              <a:t>B ={ e </a:t>
            </a:r>
            <a:r>
              <a:rPr kumimoji="1" lang="en-US" altLang="zh-CN" dirty="0">
                <a:latin typeface="Times New Roman" panose="02020603050405020304" pitchFamily="18" charset="0"/>
                <a:sym typeface="Symbol" panose="05050102010706020507" pitchFamily="18" charset="2"/>
              </a:rPr>
              <a:t> </a:t>
            </a:r>
            <a:r>
              <a:rPr kumimoji="1" lang="en-US" altLang="zh-CN" i="1" dirty="0">
                <a:latin typeface="Times New Roman" panose="02020603050405020304" pitchFamily="18" charset="0"/>
              </a:rPr>
              <a:t>X</a:t>
            </a:r>
            <a:r>
              <a:rPr kumimoji="1" lang="en-US" altLang="zh-CN" dirty="0">
                <a:latin typeface="Times New Roman" panose="02020603050405020304" pitchFamily="18" charset="0"/>
              </a:rPr>
              <a:t>(e) </a:t>
            </a:r>
            <a:r>
              <a:rPr kumimoji="1" lang="en-US" altLang="zh-CN"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rPr>
              <a:t>R}</a:t>
            </a:r>
            <a:r>
              <a:rPr kumimoji="1" lang="zh-CN" altLang="en-US" dirty="0">
                <a:latin typeface="Times New Roman" panose="02020603050405020304" pitchFamily="18" charset="0"/>
              </a:rPr>
              <a:t>，即</a:t>
            </a:r>
            <a:r>
              <a:rPr kumimoji="1" lang="en-US" altLang="zh-CN" dirty="0">
                <a:latin typeface="Times New Roman" panose="02020603050405020304" pitchFamily="18" charset="0"/>
              </a:rPr>
              <a:t>B</a:t>
            </a:r>
            <a:r>
              <a:rPr kumimoji="1" lang="zh-CN" altLang="en-US" dirty="0">
                <a:latin typeface="Times New Roman" panose="02020603050405020304" pitchFamily="18" charset="0"/>
              </a:rPr>
              <a:t>是由</a:t>
            </a:r>
            <a:r>
              <a:rPr kumimoji="1" lang="en-US" altLang="zh-CN" i="1" dirty="0">
                <a:latin typeface="Times New Roman" panose="02020603050405020304" pitchFamily="18" charset="0"/>
              </a:rPr>
              <a:t>X</a:t>
            </a:r>
            <a:r>
              <a:rPr kumimoji="1" lang="zh-CN" altLang="en-US" dirty="0">
                <a:latin typeface="Times New Roman" panose="02020603050405020304" pitchFamily="18" charset="0"/>
              </a:rPr>
              <a:t>中使得</a:t>
            </a:r>
            <a:r>
              <a:rPr kumimoji="1" lang="en-US" altLang="zh-CN" i="1" dirty="0">
                <a:latin typeface="Times New Roman" panose="02020603050405020304" pitchFamily="18" charset="0"/>
              </a:rPr>
              <a:t>X</a:t>
            </a:r>
            <a:r>
              <a:rPr kumimoji="1" lang="en-US" altLang="zh-CN" dirty="0">
                <a:latin typeface="Times New Roman" panose="02020603050405020304" pitchFamily="18" charset="0"/>
              </a:rPr>
              <a:t>(e)</a:t>
            </a:r>
            <a:r>
              <a:rPr kumimoji="1" lang="en-US" altLang="zh-CN" dirty="0">
                <a:latin typeface="Times New Roman" panose="02020603050405020304" pitchFamily="18" charset="0"/>
                <a:sym typeface="Symbol" panose="05050102010706020507" pitchFamily="18" charset="2"/>
              </a:rPr>
              <a:t></a:t>
            </a:r>
            <a:r>
              <a:rPr kumimoji="1" lang="en-US" altLang="zh-CN" dirty="0">
                <a:latin typeface="Times New Roman" panose="02020603050405020304" pitchFamily="18" charset="0"/>
              </a:rPr>
              <a:t>R</a:t>
            </a:r>
            <a:r>
              <a:rPr kumimoji="1" lang="zh-CN" altLang="en-US" dirty="0">
                <a:latin typeface="Times New Roman" panose="02020603050405020304" pitchFamily="18" charset="0"/>
              </a:rPr>
              <a:t>的所有样本点</a:t>
            </a:r>
            <a:r>
              <a:rPr kumimoji="1" lang="en-US" altLang="zh-CN" dirty="0">
                <a:latin typeface="Times New Roman" panose="02020603050405020304" pitchFamily="18" charset="0"/>
              </a:rPr>
              <a:t>e</a:t>
            </a:r>
            <a:r>
              <a:rPr kumimoji="1" lang="zh-CN" altLang="en-US" dirty="0">
                <a:latin typeface="Times New Roman" panose="02020603050405020304" pitchFamily="18" charset="0"/>
              </a:rPr>
              <a:t>所组成的事件，此时有</a:t>
            </a:r>
            <a:r>
              <a:rPr kumimoji="1" lang="en-US" altLang="zh-CN" i="1" dirty="0">
                <a:latin typeface="Times New Roman" panose="02020603050405020304" pitchFamily="18" charset="0"/>
              </a:rPr>
              <a:t>P</a:t>
            </a:r>
            <a:r>
              <a:rPr kumimoji="1" lang="en-US" altLang="zh-CN" dirty="0">
                <a:latin typeface="Times New Roman" panose="02020603050405020304" pitchFamily="18" charset="0"/>
              </a:rPr>
              <a:t>{</a:t>
            </a:r>
            <a:r>
              <a:rPr kumimoji="1" lang="en-US" altLang="zh-CN" i="1" dirty="0">
                <a:latin typeface="Times New Roman" panose="02020603050405020304" pitchFamily="18" charset="0"/>
              </a:rPr>
              <a:t>X</a:t>
            </a:r>
            <a:r>
              <a:rPr kumimoji="1" lang="en-US" altLang="zh-CN" dirty="0">
                <a:latin typeface="Times New Roman" panose="02020603050405020304" pitchFamily="18" charset="0"/>
                <a:sym typeface="Symbol" panose="05050102010706020507" pitchFamily="18" charset="2"/>
              </a:rPr>
              <a:t></a:t>
            </a:r>
            <a:r>
              <a:rPr kumimoji="1" lang="en-US" altLang="zh-CN" dirty="0">
                <a:latin typeface="Times New Roman" panose="02020603050405020304" pitchFamily="18" charset="0"/>
              </a:rPr>
              <a:t>R}=</a:t>
            </a:r>
            <a:r>
              <a:rPr kumimoji="1" lang="en-US" altLang="zh-CN" i="1" dirty="0">
                <a:latin typeface="Times New Roman" panose="02020603050405020304" pitchFamily="18" charset="0"/>
              </a:rPr>
              <a:t>P </a:t>
            </a:r>
            <a:r>
              <a:rPr kumimoji="1" lang="en-US" altLang="zh-CN" dirty="0">
                <a:latin typeface="Times New Roman" panose="02020603050405020304" pitchFamily="18" charset="0"/>
              </a:rPr>
              <a:t>(B) =</a:t>
            </a:r>
            <a:r>
              <a:rPr kumimoji="1" lang="en-US" altLang="zh-CN" i="1" dirty="0">
                <a:latin typeface="Times New Roman" panose="02020603050405020304" pitchFamily="18" charset="0"/>
              </a:rPr>
              <a:t>P </a:t>
            </a:r>
            <a:r>
              <a:rPr kumimoji="1" lang="en-US" altLang="zh-CN" dirty="0">
                <a:latin typeface="Times New Roman" panose="02020603050405020304" pitchFamily="18" charset="0"/>
              </a:rPr>
              <a:t>{e </a:t>
            </a:r>
            <a:r>
              <a:rPr kumimoji="1" lang="en-US" altLang="zh-CN" dirty="0">
                <a:latin typeface="Times New Roman" panose="02020603050405020304" pitchFamily="18" charset="0"/>
                <a:sym typeface="Symbol" panose="05050102010706020507" pitchFamily="18" charset="2"/>
              </a:rPr>
              <a:t> </a:t>
            </a:r>
            <a:r>
              <a:rPr kumimoji="1" lang="en-US" altLang="zh-CN" i="1" dirty="0">
                <a:latin typeface="Times New Roman" panose="02020603050405020304" pitchFamily="18" charset="0"/>
              </a:rPr>
              <a:t>X</a:t>
            </a:r>
            <a:r>
              <a:rPr kumimoji="1" lang="en-US" altLang="zh-CN" dirty="0">
                <a:latin typeface="Times New Roman" panose="02020603050405020304" pitchFamily="18" charset="0"/>
              </a:rPr>
              <a:t>(e)</a:t>
            </a:r>
            <a:r>
              <a:rPr kumimoji="1" lang="en-US" altLang="zh-CN" dirty="0">
                <a:latin typeface="Times New Roman" panose="02020603050405020304" pitchFamily="18" charset="0"/>
                <a:sym typeface="Symbol" panose="05050102010706020507" pitchFamily="18" charset="2"/>
              </a:rPr>
              <a:t></a:t>
            </a:r>
            <a:r>
              <a:rPr kumimoji="1" lang="en-US" altLang="zh-CN" dirty="0">
                <a:latin typeface="Times New Roman" panose="02020603050405020304" pitchFamily="18" charset="0"/>
              </a:rPr>
              <a:t>R}</a:t>
            </a:r>
            <a:r>
              <a:rPr kumimoji="1" lang="zh-CN" altLang="en-US" dirty="0">
                <a:latin typeface="Times New Roman" panose="02020603050405020304" pitchFamily="18" charset="0"/>
              </a:rPr>
              <a:t>。 </a:t>
            </a:r>
            <a:r>
              <a:rPr kumimoji="1" lang="en-US" altLang="zh-CN" i="1" dirty="0">
                <a:latin typeface="Times New Roman" panose="02020603050405020304" pitchFamily="18" charset="0"/>
              </a:rPr>
              <a:t>P</a:t>
            </a:r>
            <a:r>
              <a:rPr kumimoji="1" lang="en-US" altLang="zh-CN" dirty="0">
                <a:latin typeface="Times New Roman" panose="02020603050405020304" pitchFamily="18" charset="0"/>
              </a:rPr>
              <a:t>{</a:t>
            </a:r>
            <a:r>
              <a:rPr kumimoji="1" lang="en-US" altLang="zh-CN" i="1" dirty="0">
                <a:latin typeface="Times New Roman" panose="02020603050405020304" pitchFamily="18" charset="0"/>
              </a:rPr>
              <a:t>X</a:t>
            </a:r>
            <a:r>
              <a:rPr kumimoji="1" lang="en-US" altLang="zh-CN" dirty="0">
                <a:latin typeface="Times New Roman" panose="02020603050405020304" pitchFamily="18" charset="0"/>
                <a:sym typeface="Symbol" panose="05050102010706020507" pitchFamily="18" charset="2"/>
              </a:rPr>
              <a:t></a:t>
            </a:r>
            <a:r>
              <a:rPr kumimoji="1" lang="en-US" altLang="zh-CN" dirty="0">
                <a:latin typeface="Times New Roman" panose="02020603050405020304" pitchFamily="18" charset="0"/>
              </a:rPr>
              <a:t>R}</a:t>
            </a:r>
            <a:r>
              <a:rPr kumimoji="1" lang="zh-CN" altLang="en-US" dirty="0">
                <a:latin typeface="Times New Roman" panose="02020603050405020304" pitchFamily="18" charset="0"/>
              </a:rPr>
              <a:t>称为</a:t>
            </a:r>
            <a:r>
              <a:rPr kumimoji="1" lang="zh-CN" altLang="en-US" u="sng" dirty="0">
                <a:solidFill>
                  <a:srgbClr val="E313ED"/>
                </a:solidFill>
                <a:latin typeface="Times New Roman" panose="02020603050405020304" pitchFamily="18" charset="0"/>
              </a:rPr>
              <a:t>随机变量</a:t>
            </a:r>
            <a:r>
              <a:rPr kumimoji="1" lang="en-US" altLang="zh-CN" i="1" u="sng" dirty="0">
                <a:solidFill>
                  <a:srgbClr val="E313ED"/>
                </a:solidFill>
                <a:latin typeface="Times New Roman" panose="02020603050405020304" pitchFamily="18" charset="0"/>
              </a:rPr>
              <a:t>X</a:t>
            </a:r>
            <a:r>
              <a:rPr kumimoji="1" lang="zh-CN" altLang="en-US" u="sng" dirty="0">
                <a:solidFill>
                  <a:srgbClr val="E313ED"/>
                </a:solidFill>
                <a:latin typeface="Times New Roman" panose="02020603050405020304" pitchFamily="18" charset="0"/>
              </a:rPr>
              <a:t>的概率分布</a:t>
            </a:r>
            <a:r>
              <a:rPr kumimoji="1" lang="zh-CN" altLang="en-US" dirty="0">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anim calcmode="lin" valueType="num">
                                      <p:cBhvr additive="base">
                                        <p:cTn id="7" dur="500" fill="hold"/>
                                        <p:tgtEl>
                                          <p:spTgt spid="46083"/>
                                        </p:tgtEl>
                                        <p:attrNameLst>
                                          <p:attrName>ppt_x</p:attrName>
                                        </p:attrNameLst>
                                      </p:cBhvr>
                                      <p:tavLst>
                                        <p:tav tm="0">
                                          <p:val>
                                            <p:strVal val="1+#ppt_w/2"/>
                                          </p:val>
                                        </p:tav>
                                        <p:tav tm="100000">
                                          <p:val>
                                            <p:strVal val="#ppt_x"/>
                                          </p:val>
                                        </p:tav>
                                      </p:tavLst>
                                    </p:anim>
                                    <p:anim calcmode="lin" valueType="num">
                                      <p:cBhvr additive="base">
                                        <p:cTn id="8" dur="500" fill="hold"/>
                                        <p:tgtEl>
                                          <p:spTgt spid="460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5">
            <a:extLst>
              <a:ext uri="{FF2B5EF4-FFF2-40B4-BE49-F238E27FC236}">
                <a16:creationId xmlns:a16="http://schemas.microsoft.com/office/drawing/2014/main" id="{267673DD-3176-467D-B0A3-36BF7674D730}"/>
              </a:ext>
            </a:extLst>
          </p:cNvPr>
          <p:cNvSpPr txBox="1">
            <a:spLocks noGrp="1"/>
          </p:cNvSpPr>
          <p:nvPr/>
        </p:nvSpPr>
        <p:spPr bwMode="auto">
          <a:xfrm>
            <a:off x="65532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B7601A36-1E25-457F-B1DF-625B105065B9}" type="slidenum">
              <a:rPr lang="en-US" altLang="zh-CN" sz="1200" b="0">
                <a:latin typeface="Verdana" panose="020B0604030504040204" pitchFamily="34" charset="0"/>
              </a:rPr>
              <a:pPr algn="r"/>
              <a:t>5</a:t>
            </a:fld>
            <a:endParaRPr lang="en-US" altLang="zh-CN" sz="1200" b="0">
              <a:latin typeface="Verdana" panose="020B0604030504040204" pitchFamily="34" charset="0"/>
            </a:endParaRPr>
          </a:p>
        </p:txBody>
      </p:sp>
      <p:sp>
        <p:nvSpPr>
          <p:cNvPr id="47108" name="Rectangle 2">
            <a:extLst>
              <a:ext uri="{FF2B5EF4-FFF2-40B4-BE49-F238E27FC236}">
                <a16:creationId xmlns:a16="http://schemas.microsoft.com/office/drawing/2014/main" id="{EDBF2058-03F7-4704-81FA-0B0A2F157D09}"/>
              </a:ext>
            </a:extLst>
          </p:cNvPr>
          <p:cNvSpPr>
            <a:spLocks noGrp="1" noChangeArrowheads="1"/>
          </p:cNvSpPr>
          <p:nvPr>
            <p:ph type="title"/>
          </p:nvPr>
        </p:nvSpPr>
        <p:spPr>
          <a:xfrm>
            <a:off x="304800" y="190500"/>
            <a:ext cx="8229600" cy="1143000"/>
          </a:xfrm>
        </p:spPr>
        <p:txBody>
          <a:bodyPr anchor="b"/>
          <a:lstStyle/>
          <a:p>
            <a:pPr algn="l"/>
            <a:r>
              <a:rPr lang="zh-CN" altLang="en-US" b="1" dirty="0">
                <a:solidFill>
                  <a:schemeClr val="tx1"/>
                </a:solidFill>
              </a:rPr>
              <a:t>随机分布</a:t>
            </a:r>
          </a:p>
        </p:txBody>
      </p:sp>
      <p:sp>
        <p:nvSpPr>
          <p:cNvPr id="47109" name="Rectangle 3">
            <a:extLst>
              <a:ext uri="{FF2B5EF4-FFF2-40B4-BE49-F238E27FC236}">
                <a16:creationId xmlns:a16="http://schemas.microsoft.com/office/drawing/2014/main" id="{449B3CFB-9788-45E8-957D-1633BA5E1C93}"/>
              </a:ext>
            </a:extLst>
          </p:cNvPr>
          <p:cNvSpPr>
            <a:spLocks noGrp="1" noChangeArrowheads="1"/>
          </p:cNvSpPr>
          <p:nvPr>
            <p:ph idx="1"/>
          </p:nvPr>
        </p:nvSpPr>
        <p:spPr>
          <a:xfrm>
            <a:off x="394556" y="1333500"/>
            <a:ext cx="8354888" cy="4495800"/>
          </a:xfrm>
        </p:spPr>
        <p:txBody>
          <a:bodyPr/>
          <a:lstStyle/>
          <a:p>
            <a:pPr marL="469900" indent="-469900">
              <a:lnSpc>
                <a:spcPct val="125000"/>
              </a:lnSpc>
            </a:pPr>
            <a:r>
              <a:rPr lang="zh-CN" altLang="en-US" sz="2800" b="1" dirty="0">
                <a:solidFill>
                  <a:srgbClr val="FFFF00"/>
                </a:solidFill>
                <a:latin typeface="Times New Roman" panose="02020603050405020304" pitchFamily="18" charset="0"/>
              </a:rPr>
              <a:t>离散型随机分布</a:t>
            </a:r>
          </a:p>
          <a:p>
            <a:pPr marL="469900" indent="-469900">
              <a:lnSpc>
                <a:spcPct val="125000"/>
              </a:lnSpc>
              <a:buFontTx/>
              <a:buNone/>
            </a:pPr>
            <a:r>
              <a:rPr lang="zh-CN" altLang="en-US" sz="1900" b="1" dirty="0">
                <a:solidFill>
                  <a:schemeClr val="accent2"/>
                </a:solidFill>
                <a:latin typeface="Times New Roman" panose="02020603050405020304" pitchFamily="18" charset="0"/>
              </a:rPr>
              <a:t>       </a:t>
            </a:r>
            <a:r>
              <a:rPr lang="zh-CN" altLang="en-US" sz="1900" b="1" dirty="0">
                <a:solidFill>
                  <a:srgbClr val="FFFF00"/>
                </a:solidFill>
                <a:latin typeface="Times New Roman" panose="02020603050405020304" pitchFamily="18" charset="0"/>
              </a:rPr>
              <a:t>◆</a:t>
            </a:r>
            <a:r>
              <a:rPr lang="zh-CN" altLang="en-US" sz="1900" b="1" dirty="0">
                <a:solidFill>
                  <a:schemeClr val="accent2"/>
                </a:solidFill>
                <a:latin typeface="Times New Roman" panose="02020603050405020304" pitchFamily="18" charset="0"/>
              </a:rPr>
              <a:t> </a:t>
            </a:r>
            <a:r>
              <a:rPr lang="zh-CN" altLang="en-US" sz="2400" b="1" dirty="0">
                <a:latin typeface="Times New Roman" panose="02020603050405020304" pitchFamily="18" charset="0"/>
              </a:rPr>
              <a:t>二项分布、几何分布、超几何分布、泊松分布</a:t>
            </a:r>
          </a:p>
          <a:p>
            <a:pPr marL="469900" indent="-469900">
              <a:lnSpc>
                <a:spcPct val="125000"/>
              </a:lnSpc>
            </a:pPr>
            <a:r>
              <a:rPr lang="zh-CN" altLang="en-US" sz="2800" b="1" dirty="0">
                <a:solidFill>
                  <a:srgbClr val="FFFF00"/>
                </a:solidFill>
                <a:latin typeface="Times New Roman" panose="02020603050405020304" pitchFamily="18" charset="0"/>
              </a:rPr>
              <a:t>连续型随机分布</a:t>
            </a:r>
          </a:p>
          <a:p>
            <a:pPr marL="469900" indent="-469900">
              <a:lnSpc>
                <a:spcPct val="125000"/>
              </a:lnSpc>
              <a:buFontTx/>
              <a:buNone/>
            </a:pPr>
            <a:r>
              <a:rPr lang="zh-CN" altLang="en-US" sz="2200" b="1" dirty="0">
                <a:solidFill>
                  <a:schemeClr val="accent2"/>
                </a:solidFill>
                <a:latin typeface="Times New Roman" panose="02020603050405020304" pitchFamily="18" charset="0"/>
              </a:rPr>
              <a:t>      </a:t>
            </a:r>
            <a:r>
              <a:rPr lang="zh-CN" altLang="en-US" sz="2200" b="1" dirty="0">
                <a:solidFill>
                  <a:srgbClr val="FFFF00"/>
                </a:solidFill>
                <a:latin typeface="Times New Roman" panose="02020603050405020304" pitchFamily="18" charset="0"/>
              </a:rPr>
              <a:t>◆</a:t>
            </a:r>
            <a:r>
              <a:rPr lang="zh-CN" altLang="en-US" sz="2200" b="1" dirty="0">
                <a:solidFill>
                  <a:schemeClr val="accent2"/>
                </a:solidFill>
                <a:latin typeface="Times New Roman" panose="02020603050405020304" pitchFamily="18" charset="0"/>
              </a:rPr>
              <a:t> </a:t>
            </a:r>
            <a:r>
              <a:rPr lang="zh-CN" altLang="en-US" sz="2400" b="1" dirty="0">
                <a:latin typeface="Times New Roman" panose="02020603050405020304" pitchFamily="18" charset="0"/>
              </a:rPr>
              <a:t>正态分布、均匀分布、指数分布、对数正态分布、柯西分布、</a:t>
            </a:r>
            <a:r>
              <a:rPr lang="en-US" altLang="zh-CN" sz="2400" b="1" dirty="0">
                <a:latin typeface="Times New Roman" panose="02020603050405020304" pitchFamily="18" charset="0"/>
              </a:rPr>
              <a:t>Gamma</a:t>
            </a:r>
            <a:r>
              <a:rPr lang="zh-CN" altLang="en-US" sz="2400" b="1" dirty="0">
                <a:latin typeface="Times New Roman" panose="02020603050405020304" pitchFamily="18" charset="0"/>
              </a:rPr>
              <a:t>分布、瑞利分布、韦伯分布、三角形分布</a:t>
            </a:r>
          </a:p>
          <a:p>
            <a:pPr marL="469900" indent="-469900">
              <a:lnSpc>
                <a:spcPct val="125000"/>
              </a:lnSpc>
            </a:pPr>
            <a:r>
              <a:rPr lang="zh-CN" altLang="en-US" sz="2800" b="1" dirty="0">
                <a:solidFill>
                  <a:srgbClr val="FFFF00"/>
                </a:solidFill>
                <a:latin typeface="Times New Roman" panose="02020603050405020304" pitchFamily="18" charset="0"/>
              </a:rPr>
              <a:t>三大抽样分布</a:t>
            </a:r>
          </a:p>
          <a:p>
            <a:pPr marL="469900" indent="-469900">
              <a:lnSpc>
                <a:spcPct val="125000"/>
              </a:lnSpc>
              <a:buFontTx/>
              <a:buNone/>
            </a:pPr>
            <a:r>
              <a:rPr lang="zh-CN" altLang="en-US" sz="1900" b="1" dirty="0">
                <a:solidFill>
                  <a:schemeClr val="accent2"/>
                </a:solidFill>
                <a:latin typeface="Times New Roman" panose="02020603050405020304" pitchFamily="18" charset="0"/>
              </a:rPr>
              <a:t>       </a:t>
            </a:r>
            <a:r>
              <a:rPr lang="zh-CN" altLang="en-US" sz="1900" b="1" dirty="0">
                <a:solidFill>
                  <a:srgbClr val="FFFF00"/>
                </a:solidFill>
                <a:latin typeface="Times New Roman" panose="02020603050405020304" pitchFamily="18" charset="0"/>
              </a:rPr>
              <a:t>◆</a:t>
            </a:r>
            <a:r>
              <a:rPr lang="zh-CN" altLang="en-US" sz="1900" b="1" dirty="0">
                <a:solidFill>
                  <a:schemeClr val="accent2"/>
                </a:solidFill>
                <a:latin typeface="Times New Roman" panose="02020603050405020304" pitchFamily="18" charset="0"/>
              </a:rPr>
              <a:t> </a:t>
            </a:r>
            <a:r>
              <a:rPr lang="zh-CN" altLang="en-US" sz="2400" b="1" dirty="0">
                <a:latin typeface="Times New Roman" panose="02020603050405020304" pitchFamily="18" charset="0"/>
              </a:rPr>
              <a:t>卡方分布、</a:t>
            </a:r>
            <a:r>
              <a:rPr lang="en-US" altLang="zh-CN" sz="2400" b="1" dirty="0">
                <a:latin typeface="Times New Roman" panose="02020603050405020304" pitchFamily="18" charset="0"/>
              </a:rPr>
              <a:t>F</a:t>
            </a:r>
            <a:r>
              <a:rPr lang="zh-CN" altLang="en-US" sz="2400" b="1" dirty="0">
                <a:latin typeface="Times New Roman" panose="02020603050405020304" pitchFamily="18" charset="0"/>
              </a:rPr>
              <a:t>分布、</a:t>
            </a:r>
            <a:r>
              <a:rPr lang="en-US" altLang="zh-CN" sz="2400" b="1" i="1" dirty="0">
                <a:latin typeface="Times New Roman" panose="02020603050405020304" pitchFamily="18" charset="0"/>
              </a:rPr>
              <a:t>t</a:t>
            </a:r>
            <a:r>
              <a:rPr lang="zh-CN" altLang="en-US" sz="2400" b="1" dirty="0">
                <a:latin typeface="Times New Roman" panose="02020603050405020304" pitchFamily="18" charset="0"/>
              </a:rPr>
              <a:t>分布</a:t>
            </a:r>
            <a:endParaRPr lang="zh-CN" altLang="en-US" sz="2400" b="1" dirty="0">
              <a:solidFill>
                <a:schemeClr val="accent2"/>
              </a:solidFill>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id="{56C0600C-C2A4-47C5-B709-0FC6D559FC0B}"/>
              </a:ext>
            </a:extLst>
          </p:cNvPr>
          <p:cNvSpPr txBox="1">
            <a:spLocks noChangeArrowheads="1"/>
          </p:cNvSpPr>
          <p:nvPr/>
        </p:nvSpPr>
        <p:spPr bwMode="auto">
          <a:xfrm>
            <a:off x="250825" y="549275"/>
            <a:ext cx="78597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rgbClr val="996633"/>
              </a:buClr>
              <a:buFont typeface="Wingdings" panose="05000000000000000000" pitchFamily="2" charset="2"/>
              <a:buNone/>
            </a:pPr>
            <a:r>
              <a:rPr lang="zh-CN" altLang="en-US" sz="3600" dirty="0">
                <a:solidFill>
                  <a:srgbClr val="E313ED"/>
                </a:solidFill>
              </a:rPr>
              <a:t>二、离散型随机分布</a:t>
            </a:r>
          </a:p>
        </p:txBody>
      </p:sp>
      <p:sp>
        <p:nvSpPr>
          <p:cNvPr id="48136" name="Rectangle 8">
            <a:extLst>
              <a:ext uri="{FF2B5EF4-FFF2-40B4-BE49-F238E27FC236}">
                <a16:creationId xmlns:a16="http://schemas.microsoft.com/office/drawing/2014/main" id="{EB34523E-E9BB-4B80-9757-A03B583611E8}"/>
              </a:ext>
            </a:extLst>
          </p:cNvPr>
          <p:cNvSpPr>
            <a:spLocks noChangeArrowheads="1"/>
          </p:cNvSpPr>
          <p:nvPr/>
        </p:nvSpPr>
        <p:spPr bwMode="auto">
          <a:xfrm>
            <a:off x="612775" y="1477963"/>
            <a:ext cx="7847013" cy="303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dirty="0">
                <a:solidFill>
                  <a:srgbClr val="FFFF00"/>
                </a:solidFill>
                <a:latin typeface="Times New Roman" panose="02020603050405020304" pitchFamily="18" charset="0"/>
              </a:rPr>
              <a:t>定义：</a:t>
            </a:r>
            <a:r>
              <a:rPr lang="zh-CN" altLang="en-US" dirty="0">
                <a:latin typeface="Times New Roman" panose="02020603050405020304" pitchFamily="18" charset="0"/>
              </a:rPr>
              <a:t>若随机变量 </a:t>
            </a:r>
            <a:r>
              <a:rPr lang="en-US" altLang="zh-CN" i="1" dirty="0">
                <a:latin typeface="Times New Roman" panose="02020603050405020304" pitchFamily="18" charset="0"/>
              </a:rPr>
              <a:t>X </a:t>
            </a:r>
            <a:r>
              <a:rPr lang="zh-CN" altLang="en-US" dirty="0">
                <a:latin typeface="Times New Roman" panose="02020603050405020304" pitchFamily="18" charset="0"/>
              </a:rPr>
              <a:t>取</a:t>
            </a:r>
            <a:r>
              <a:rPr lang="en-US" altLang="zh-CN" i="1" dirty="0">
                <a:latin typeface="Times New Roman" panose="02020603050405020304" pitchFamily="18" charset="0"/>
              </a:rPr>
              <a:t>x</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x</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x</a:t>
            </a:r>
            <a:r>
              <a:rPr lang="en-US" altLang="zh-CN" baseline="-25000" dirty="0" err="1">
                <a:latin typeface="Times New Roman" panose="02020603050405020304" pitchFamily="18" charset="0"/>
              </a:rPr>
              <a:t>n</a:t>
            </a:r>
            <a:r>
              <a:rPr lang="en-US" altLang="zh-CN" dirty="0">
                <a:latin typeface="Times New Roman" panose="02020603050405020304" pitchFamily="18" charset="0"/>
              </a:rPr>
              <a:t>, … </a:t>
            </a:r>
            <a:r>
              <a:rPr lang="zh-CN" altLang="en-US" dirty="0">
                <a:latin typeface="Times New Roman" panose="02020603050405020304" pitchFamily="18" charset="0"/>
              </a:rPr>
              <a:t>值， 且取这些值的概率依次为 </a:t>
            </a:r>
            <a:r>
              <a:rPr lang="en-US" altLang="zh-CN" i="1" dirty="0">
                <a:latin typeface="Times New Roman" panose="02020603050405020304" pitchFamily="18" charset="0"/>
              </a:rPr>
              <a:t>p</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p</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p</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 , </a:t>
            </a:r>
            <a:r>
              <a:rPr lang="zh-CN" altLang="en-US" dirty="0">
                <a:latin typeface="Times New Roman" panose="02020603050405020304" pitchFamily="18" charset="0"/>
              </a:rPr>
              <a:t>则称</a:t>
            </a:r>
            <a:r>
              <a:rPr lang="en-US" altLang="zh-CN" i="1" dirty="0">
                <a:latin typeface="Times New Roman" panose="02020603050405020304" pitchFamily="18" charset="0"/>
              </a:rPr>
              <a:t>X</a:t>
            </a:r>
            <a:r>
              <a:rPr lang="zh-CN" altLang="en-US" dirty="0">
                <a:latin typeface="Times New Roman" panose="02020603050405020304" pitchFamily="18" charset="0"/>
              </a:rPr>
              <a:t>为离散型随机变量，而称</a:t>
            </a:r>
          </a:p>
          <a:p>
            <a:pPr>
              <a:lnSpc>
                <a:spcPct val="125000"/>
              </a:lnSpc>
            </a:pPr>
            <a:endParaRPr lang="zh-CN" altLang="en-US" dirty="0">
              <a:latin typeface="Times New Roman" panose="02020603050405020304" pitchFamily="18" charset="0"/>
            </a:endParaRPr>
          </a:p>
          <a:p>
            <a:pPr>
              <a:lnSpc>
                <a:spcPct val="125000"/>
              </a:lnSpc>
            </a:pPr>
            <a:r>
              <a:rPr lang="zh-CN" altLang="en-US" dirty="0">
                <a:latin typeface="Times New Roman" panose="02020603050405020304" pitchFamily="18" charset="0"/>
              </a:rPr>
              <a:t>为</a:t>
            </a:r>
            <a:r>
              <a:rPr lang="en-US" altLang="zh-CN" i="1" dirty="0">
                <a:latin typeface="Times New Roman" panose="02020603050405020304" pitchFamily="18" charset="0"/>
              </a:rPr>
              <a:t>X</a:t>
            </a:r>
            <a:r>
              <a:rPr lang="zh-CN" altLang="en-US" dirty="0">
                <a:latin typeface="Times New Roman" panose="02020603050405020304" pitchFamily="18" charset="0"/>
              </a:rPr>
              <a:t>的分布律或概率分布。可表示为：                </a:t>
            </a:r>
          </a:p>
        </p:txBody>
      </p:sp>
      <mc:AlternateContent xmlns:mc="http://schemas.openxmlformats.org/markup-compatibility/2006" xmlns:a14="http://schemas.microsoft.com/office/drawing/2010/main">
        <mc:Choice Requires="a14">
          <p:sp>
            <p:nvSpPr>
              <p:cNvPr id="48139" name="Object 11">
                <a:extLst>
                  <a:ext uri="{FF2B5EF4-FFF2-40B4-BE49-F238E27FC236}">
                    <a16:creationId xmlns:a16="http://schemas.microsoft.com/office/drawing/2014/main" id="{402AC214-849B-40CE-A871-01F4CE78E806}"/>
                  </a:ext>
                </a:extLst>
              </p:cNvPr>
              <p:cNvSpPr txBox="1"/>
              <p:nvPr/>
            </p:nvSpPr>
            <p:spPr bwMode="auto">
              <a:xfrm>
                <a:off x="2339975" y="3213100"/>
                <a:ext cx="4608513" cy="5921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ln>
                            <a:noFill/>
                          </a:ln>
                          <a:solidFill>
                            <a:schemeClr val="tx1"/>
                          </a:solidFill>
                          <a:effectLst/>
                          <a:latin typeface="Cambria Math" panose="02040503050406030204" pitchFamily="18" charset="0"/>
                        </a:rPr>
                        <m:t>𝑃</m:t>
                      </m:r>
                      <m:r>
                        <a:rPr lang="zh-CN" altLang="en-US" i="1" smtClean="0">
                          <a:ln>
                            <a:noFill/>
                          </a:ln>
                          <a:solidFill>
                            <a:schemeClr val="tx1"/>
                          </a:solidFill>
                          <a:effectLst/>
                          <a:latin typeface="Cambria Math" panose="02040503050406030204" pitchFamily="18" charset="0"/>
                        </a:rPr>
                        <m:t>{</m:t>
                      </m:r>
                      <m:r>
                        <a:rPr lang="zh-CN" altLang="en-US" i="1" smtClean="0">
                          <a:ln>
                            <a:noFill/>
                          </a:ln>
                          <a:solidFill>
                            <a:schemeClr val="tx1"/>
                          </a:solidFill>
                          <a:effectLst/>
                          <a:latin typeface="Cambria Math" panose="02040503050406030204" pitchFamily="18" charset="0"/>
                        </a:rPr>
                        <m:t>𝑋</m:t>
                      </m:r>
                      <m:r>
                        <a:rPr lang="zh-CN" altLang="en-US" i="1" smtClean="0">
                          <a:ln>
                            <a:noFill/>
                          </a:ln>
                          <a:solidFill>
                            <a:schemeClr val="tx1"/>
                          </a:solidFill>
                          <a:effectLst/>
                          <a:latin typeface="Cambria Math" panose="02040503050406030204" pitchFamily="18" charset="0"/>
                        </a:rPr>
                        <m:t>=</m:t>
                      </m:r>
                      <m:sSub>
                        <m:sSubPr>
                          <m:ctrlPr>
                            <a:rPr lang="zh-CN" altLang="en-US" i="1">
                              <a:ln>
                                <a:noFill/>
                              </a:ln>
                              <a:solidFill>
                                <a:schemeClr val="tx1"/>
                              </a:solidFill>
                              <a:effectLst/>
                              <a:latin typeface="Cambria Math" panose="02040503050406030204" pitchFamily="18" charset="0"/>
                            </a:rPr>
                          </m:ctrlPr>
                        </m:sSubPr>
                        <m:e>
                          <m:r>
                            <a:rPr lang="zh-CN" altLang="en-US" i="1">
                              <a:ln>
                                <a:noFill/>
                              </a:ln>
                              <a:solidFill>
                                <a:schemeClr val="tx1"/>
                              </a:solidFill>
                              <a:effectLst/>
                              <a:latin typeface="Cambria Math" panose="02040503050406030204" pitchFamily="18" charset="0"/>
                            </a:rPr>
                            <m:t>𝑥</m:t>
                          </m:r>
                        </m:e>
                        <m:sub>
                          <m:r>
                            <a:rPr lang="zh-CN" altLang="en-US" i="1">
                              <a:ln>
                                <a:noFill/>
                              </a:ln>
                              <a:solidFill>
                                <a:schemeClr val="tx1"/>
                              </a:solidFill>
                              <a:effectLst/>
                              <a:latin typeface="Cambria Math" panose="02040503050406030204" pitchFamily="18" charset="0"/>
                            </a:rPr>
                            <m:t>𝑘</m:t>
                          </m:r>
                        </m:sub>
                      </m:sSub>
                      <m:r>
                        <a:rPr lang="zh-CN" altLang="en-US" i="1">
                          <a:ln>
                            <a:noFill/>
                          </a:ln>
                          <a:solidFill>
                            <a:schemeClr val="tx1"/>
                          </a:solidFill>
                          <a:effectLst/>
                          <a:latin typeface="Cambria Math" panose="02040503050406030204" pitchFamily="18" charset="0"/>
                        </a:rPr>
                        <m:t>}=</m:t>
                      </m:r>
                      <m:sSub>
                        <m:sSubPr>
                          <m:ctrlPr>
                            <a:rPr lang="zh-CN" altLang="en-US" i="1">
                              <a:ln>
                                <a:noFill/>
                              </a:ln>
                              <a:solidFill>
                                <a:schemeClr val="tx1"/>
                              </a:solidFill>
                              <a:effectLst/>
                              <a:latin typeface="Cambria Math" panose="02040503050406030204" pitchFamily="18" charset="0"/>
                            </a:rPr>
                          </m:ctrlPr>
                        </m:sSubPr>
                        <m:e>
                          <m:r>
                            <a:rPr lang="zh-CN" altLang="en-US" i="1">
                              <a:ln>
                                <a:noFill/>
                              </a:ln>
                              <a:solidFill>
                                <a:schemeClr val="tx1"/>
                              </a:solidFill>
                              <a:effectLst/>
                              <a:latin typeface="Cambria Math" panose="02040503050406030204" pitchFamily="18" charset="0"/>
                            </a:rPr>
                            <m:t>𝑝</m:t>
                          </m:r>
                        </m:e>
                        <m:sub>
                          <m:r>
                            <a:rPr lang="zh-CN" altLang="en-US" i="1">
                              <a:ln>
                                <a:noFill/>
                              </a:ln>
                              <a:solidFill>
                                <a:schemeClr val="tx1"/>
                              </a:solidFill>
                              <a:effectLst/>
                              <a:latin typeface="Cambria Math" panose="02040503050406030204" pitchFamily="18" charset="0"/>
                            </a:rPr>
                            <m:t>𝑘</m:t>
                          </m:r>
                        </m:sub>
                      </m:sSub>
                      <m:m>
                        <m:mPr>
                          <m:plcHide m:val="on"/>
                          <m:mcs>
                            <m:mc>
                              <m:mcPr>
                                <m:count m:val="2"/>
                                <m:mcJc m:val="center"/>
                              </m:mcPr>
                            </m:mc>
                          </m:mcs>
                          <m:ctrlPr>
                            <a:rPr lang="zh-CN" altLang="en-US" i="1">
                              <a:ln>
                                <a:noFill/>
                              </a:ln>
                              <a:solidFill>
                                <a:schemeClr val="tx1"/>
                              </a:solidFill>
                              <a:effectLst/>
                              <a:latin typeface="Cambria Math" panose="02040503050406030204" pitchFamily="18" charset="0"/>
                            </a:rPr>
                          </m:ctrlPr>
                        </m:mPr>
                        <m:mr>
                          <m:e>
                            <m:r>
                              <a:rPr lang="zh-CN" altLang="en-US" i="1">
                                <a:ln>
                                  <a:noFill/>
                                </a:ln>
                                <a:solidFill>
                                  <a:schemeClr val="tx1"/>
                                </a:solidFill>
                                <a:effectLst/>
                                <a:latin typeface="Cambria Math" panose="02040503050406030204" pitchFamily="18" charset="0"/>
                              </a:rPr>
                              <m:t>,</m:t>
                            </m:r>
                          </m:e>
                          <m:e>
                            <m:r>
                              <a:rPr lang="zh-CN" altLang="en-US" i="1">
                                <a:ln>
                                  <a:noFill/>
                                </a:ln>
                                <a:solidFill>
                                  <a:schemeClr val="tx1"/>
                                </a:solidFill>
                                <a:effectLst/>
                                <a:latin typeface="Cambria Math" panose="02040503050406030204" pitchFamily="18" charset="0"/>
                              </a:rPr>
                              <m:t>𝑘</m:t>
                            </m:r>
                            <m:r>
                              <a:rPr lang="zh-CN" altLang="en-US" i="1">
                                <a:ln>
                                  <a:noFill/>
                                </a:ln>
                                <a:solidFill>
                                  <a:schemeClr val="tx1"/>
                                </a:solidFill>
                                <a:effectLst/>
                                <a:latin typeface="Cambria Math" panose="02040503050406030204" pitchFamily="18" charset="0"/>
                              </a:rPr>
                              <m:t>=1,2,⋯</m:t>
                            </m:r>
                          </m:e>
                        </m:mr>
                      </m:m>
                    </m:oMath>
                  </m:oMathPara>
                </a14:m>
                <a:endParaRPr lang="zh-CN" altLang="en-US" dirty="0">
                  <a:ln>
                    <a:noFill/>
                  </a:ln>
                  <a:solidFill>
                    <a:schemeClr val="tx1"/>
                  </a:solidFill>
                  <a:effectLst/>
                </a:endParaRPr>
              </a:p>
            </p:txBody>
          </p:sp>
        </mc:Choice>
        <mc:Fallback xmlns="">
          <p:sp>
            <p:nvSpPr>
              <p:cNvPr id="48139" name="Object 11">
                <a:extLst>
                  <a:ext uri="{FF2B5EF4-FFF2-40B4-BE49-F238E27FC236}">
                    <a16:creationId xmlns:a16="http://schemas.microsoft.com/office/drawing/2014/main" id="{402AC214-849B-40CE-A871-01F4CE78E806}"/>
                  </a:ext>
                </a:extLst>
              </p:cNvPr>
              <p:cNvSpPr txBox="1">
                <a:spLocks noRot="1" noChangeAspect="1" noMove="1" noResize="1" noEditPoints="1" noAdjustHandles="1" noChangeArrowheads="1" noChangeShapeType="1" noTextEdit="1"/>
              </p:cNvSpPr>
              <p:nvPr/>
            </p:nvSpPr>
            <p:spPr bwMode="auto">
              <a:xfrm>
                <a:off x="2339975" y="3213100"/>
                <a:ext cx="4608513" cy="592138"/>
              </a:xfrm>
              <a:prstGeom prst="rect">
                <a:avLst/>
              </a:prstGeom>
              <a:blipFill>
                <a:blip r:embed="rId2"/>
                <a:stretch>
                  <a:fillRect/>
                </a:stretch>
              </a:blipFill>
              <a:ln>
                <a:noFill/>
              </a:ln>
              <a:effectLst/>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36FD332B-5D19-49E1-9648-86543E7467A8}"/>
              </a:ext>
            </a:extLst>
          </p:cNvPr>
          <p:cNvGrpSpPr/>
          <p:nvPr/>
        </p:nvGrpSpPr>
        <p:grpSpPr>
          <a:xfrm>
            <a:off x="1382502" y="4565400"/>
            <a:ext cx="5781886" cy="1439862"/>
            <a:chOff x="1382502" y="4565400"/>
            <a:chExt cx="5781886" cy="1439862"/>
          </a:xfrm>
        </p:grpSpPr>
        <mc:AlternateContent xmlns:mc="http://schemas.openxmlformats.org/markup-compatibility/2006" xmlns:a14="http://schemas.microsoft.com/office/drawing/2010/main">
          <mc:Choice Requires="a14">
            <p:sp>
              <p:nvSpPr>
                <p:cNvPr id="48140" name="Object 12">
                  <a:extLst>
                    <a:ext uri="{FF2B5EF4-FFF2-40B4-BE49-F238E27FC236}">
                      <a16:creationId xmlns:a16="http://schemas.microsoft.com/office/drawing/2014/main" id="{92E3DCA3-3C03-482F-B26C-874696AF5511}"/>
                    </a:ext>
                  </a:extLst>
                </p:cNvPr>
                <p:cNvSpPr txBox="1"/>
                <p:nvPr/>
              </p:nvSpPr>
              <p:spPr bwMode="auto">
                <a:xfrm>
                  <a:off x="1382502" y="4911725"/>
                  <a:ext cx="863600" cy="468312"/>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smtClean="0">
                            <a:solidFill>
                              <a:schemeClr val="tx1"/>
                            </a:solidFill>
                            <a:latin typeface="Cambria Math" panose="02040503050406030204" pitchFamily="18" charset="0"/>
                          </a:rPr>
                          <m:t>𝑋</m:t>
                        </m:r>
                        <m:r>
                          <a:rPr lang="zh-CN" altLang="en-US" i="1" smtClean="0">
                            <a:solidFill>
                              <a:schemeClr val="tx1"/>
                            </a:solidFill>
                            <a:latin typeface="Cambria Math" panose="02040503050406030204" pitchFamily="18" charset="0"/>
                          </a:rPr>
                          <m:t>~</m:t>
                        </m:r>
                      </m:oMath>
                    </m:oMathPara>
                  </a14:m>
                  <a:endParaRPr lang="zh-CN" altLang="en-US" dirty="0">
                    <a:solidFill>
                      <a:schemeClr val="tx1"/>
                    </a:solidFill>
                  </a:endParaRPr>
                </a:p>
              </p:txBody>
            </p:sp>
          </mc:Choice>
          <mc:Fallback xmlns="">
            <p:sp>
              <p:nvSpPr>
                <p:cNvPr id="48140" name="Object 12">
                  <a:extLst>
                    <a:ext uri="{FF2B5EF4-FFF2-40B4-BE49-F238E27FC236}">
                      <a16:creationId xmlns:a16="http://schemas.microsoft.com/office/drawing/2014/main" id="{92E3DCA3-3C03-482F-B26C-874696AF5511}"/>
                    </a:ext>
                  </a:extLst>
                </p:cNvPr>
                <p:cNvSpPr txBox="1">
                  <a:spLocks noRot="1" noChangeAspect="1" noMove="1" noResize="1" noEditPoints="1" noAdjustHandles="1" noChangeArrowheads="1" noChangeShapeType="1" noTextEdit="1"/>
                </p:cNvSpPr>
                <p:nvPr/>
              </p:nvSpPr>
              <p:spPr bwMode="auto">
                <a:xfrm>
                  <a:off x="1382502" y="4911725"/>
                  <a:ext cx="863600" cy="468312"/>
                </a:xfrm>
                <a:prstGeom prst="rect">
                  <a:avLst/>
                </a:prstGeom>
                <a:blipFill>
                  <a:blip r:embed="rId3"/>
                  <a:stretch>
                    <a:fillRect l="-212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141" name="Object 13">
                  <a:extLst>
                    <a:ext uri="{FF2B5EF4-FFF2-40B4-BE49-F238E27FC236}">
                      <a16:creationId xmlns:a16="http://schemas.microsoft.com/office/drawing/2014/main" id="{94BE9D62-A65E-4FFC-A5A9-0419D8052A4C}"/>
                    </a:ext>
                  </a:extLst>
                </p:cNvPr>
                <p:cNvSpPr txBox="1"/>
                <p:nvPr/>
              </p:nvSpPr>
              <p:spPr bwMode="auto">
                <a:xfrm>
                  <a:off x="2339975" y="4690812"/>
                  <a:ext cx="4824413" cy="11890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m>
                          <m:mPr>
                            <m:plcHide m:val="on"/>
                            <m:mcs>
                              <m:mc>
                                <m:mcPr>
                                  <m:count m:val="4"/>
                                  <m:mcJc m:val="center"/>
                                </m:mcPr>
                              </m:mc>
                            </m:mcs>
                            <m:ctrlPr>
                              <a:rPr lang="zh-CN" altLang="en-US" i="1" smtClean="0">
                                <a:solidFill>
                                  <a:schemeClr val="tx1"/>
                                </a:solidFill>
                                <a:latin typeface="Cambria Math" panose="02040503050406030204" pitchFamily="18" charset="0"/>
                              </a:rPr>
                            </m:ctrlPr>
                          </m:mPr>
                          <m:mr>
                            <m:e>
                              <m:m>
                                <m:mPr>
                                  <m:plcHide m:val="on"/>
                                  <m:mcs>
                                    <m:mc>
                                      <m:mcPr>
                                        <m:count m:val="2"/>
                                        <m:mcJc m:val="center"/>
                                      </m:mcPr>
                                    </m:mc>
                                  </m:mcs>
                                  <m:ctrlPr>
                                    <a:rPr lang="zh-CN" altLang="en-US" i="1">
                                      <a:solidFill>
                                        <a:schemeClr val="tx1"/>
                                      </a:solidFill>
                                      <a:latin typeface="Cambria Math" panose="02040503050406030204" pitchFamily="18" charset="0"/>
                                    </a:rPr>
                                  </m:ctrlPr>
                                </m:mPr>
                                <m:mr>
                                  <m:e>
                                    <m:r>
                                      <a:rPr lang="zh-CN" altLang="en-US" i="1">
                                        <a:solidFill>
                                          <a:schemeClr val="tx1"/>
                                        </a:solidFill>
                                        <a:latin typeface="Cambria Math" panose="02040503050406030204" pitchFamily="18" charset="0"/>
                                      </a:rPr>
                                      <m:t>𝑋</m:t>
                                    </m:r>
                                  </m:e>
                                  <m:e/>
                                </m:mr>
                              </m:m>
                            </m:e>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1">
                                      <a:solidFill>
                                        <a:schemeClr val="tx1"/>
                                      </a:solidFill>
                                      <a:latin typeface="Cambria Math" panose="02040503050406030204" pitchFamily="18" charset="0"/>
                                    </a:rPr>
                                    <m:t>1</m:t>
                                  </m:r>
                                </m:sub>
                              </m:sSub>
                            </m:e>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1">
                                      <a:solidFill>
                                        <a:schemeClr val="tx1"/>
                                      </a:solidFill>
                                      <a:latin typeface="Cambria Math" panose="02040503050406030204" pitchFamily="18" charset="0"/>
                                    </a:rPr>
                                    <m:t>2</m:t>
                                  </m:r>
                                </m:sub>
                              </m:sSub>
                            </m:e>
                            <m:e>
                              <m:m>
                                <m:mPr>
                                  <m:plcHide m:val="on"/>
                                  <m:mcs>
                                    <m:mc>
                                      <m:mcPr>
                                        <m:count m:val="3"/>
                                        <m:mcJc m:val="center"/>
                                      </m:mcPr>
                                    </m:mc>
                                  </m:mcs>
                                  <m:ctrlPr>
                                    <a:rPr lang="zh-CN" altLang="en-US" i="1">
                                      <a:solidFill>
                                        <a:schemeClr val="tx1"/>
                                      </a:solidFill>
                                      <a:latin typeface="Cambria Math" panose="02040503050406030204" pitchFamily="18" charset="0"/>
                                    </a:rPr>
                                  </m:ctrlPr>
                                </m:mPr>
                                <m:mr>
                                  <m:e>
                                    <m:r>
                                      <a:rPr lang="zh-CN" altLang="en-US" i="1">
                                        <a:solidFill>
                                          <a:schemeClr val="tx1"/>
                                        </a:solidFill>
                                        <a:latin typeface="Cambria Math" panose="02040503050406030204" pitchFamily="18" charset="0"/>
                                      </a:rPr>
                                      <m:t>⋯</m:t>
                                    </m:r>
                                  </m:e>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𝑥</m:t>
                                        </m:r>
                                      </m:e>
                                      <m:sub>
                                        <m:r>
                                          <a:rPr lang="zh-CN" altLang="en-US" i="1">
                                            <a:solidFill>
                                              <a:schemeClr val="tx1"/>
                                            </a:solidFill>
                                            <a:latin typeface="Cambria Math" panose="02040503050406030204" pitchFamily="18" charset="0"/>
                                          </a:rPr>
                                          <m:t>𝑘</m:t>
                                        </m:r>
                                      </m:sub>
                                    </m:sSub>
                                  </m:e>
                                  <m:e>
                                    <m:r>
                                      <a:rPr lang="zh-CN" altLang="en-US" i="1">
                                        <a:solidFill>
                                          <a:schemeClr val="tx1"/>
                                        </a:solidFill>
                                        <a:latin typeface="Cambria Math" panose="02040503050406030204" pitchFamily="18" charset="0"/>
                                      </a:rPr>
                                      <m:t>⋯</m:t>
                                    </m:r>
                                  </m:e>
                                </m:mr>
                              </m:m>
                            </m:e>
                          </m:mr>
                        </m:m>
                      </m:oMath>
                      <m:oMath xmlns:m="http://schemas.openxmlformats.org/officeDocument/2006/math">
                        <m:m>
                          <m:mPr>
                            <m:plcHide m:val="on"/>
                            <m:mcs>
                              <m:mc>
                                <m:mcPr>
                                  <m:count m:val="4"/>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sSub>
                                      <m:sSubPr>
                                        <m:ctrlPr>
                                          <a:rPr lang="zh-CN" altLang="en-US" i="1" smtClean="0">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𝑝</m:t>
                                        </m:r>
                                      </m:e>
                                      <m:sub>
                                        <m:r>
                                          <a:rPr lang="zh-CN" altLang="en-US" i="1">
                                            <a:solidFill>
                                              <a:schemeClr val="tx1"/>
                                            </a:solidFill>
                                            <a:latin typeface="Cambria Math" panose="02040503050406030204" pitchFamily="18" charset="0"/>
                                          </a:rPr>
                                          <m:t>𝑘</m:t>
                                        </m:r>
                                      </m:sub>
                                    </m:sSub>
                                  </m:e>
                                  <m:e/>
                                </m:mr>
                              </m:m>
                            </m:e>
                            <m:e>
                              <m:sSub>
                                <m:sSubPr>
                                  <m:ctrlPr>
                                    <a:rPr lang="zh-CN" altLang="en-US" i="1" smtClean="0">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𝑝</m:t>
                                  </m:r>
                                </m:e>
                                <m:sub>
                                  <m:r>
                                    <a:rPr lang="zh-CN" altLang="en-US" i="1">
                                      <a:solidFill>
                                        <a:schemeClr val="tx1"/>
                                      </a:solidFill>
                                      <a:latin typeface="Cambria Math" panose="02040503050406030204" pitchFamily="18" charset="0"/>
                                    </a:rPr>
                                    <m:t>1</m:t>
                                  </m:r>
                                </m:sub>
                              </m:sSub>
                            </m:e>
                            <m:e>
                              <m:sSub>
                                <m:sSubPr>
                                  <m:ctrlPr>
                                    <a:rPr lang="zh-CN" altLang="en-US" i="1" smtClean="0">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𝑝</m:t>
                                  </m:r>
                                </m:e>
                                <m:sub>
                                  <m:r>
                                    <a:rPr lang="zh-CN" altLang="en-US" i="1">
                                      <a:solidFill>
                                        <a:schemeClr val="tx1"/>
                                      </a:solidFill>
                                      <a:latin typeface="Cambria Math" panose="02040503050406030204" pitchFamily="18" charset="0"/>
                                    </a:rPr>
                                    <m:t>2</m:t>
                                  </m:r>
                                </m:sub>
                              </m:sSub>
                            </m:e>
                            <m:e>
                              <m:m>
                                <m:mPr>
                                  <m:plcHide m:val="on"/>
                                  <m:mcs>
                                    <m:mc>
                                      <m:mcPr>
                                        <m:count m:val="3"/>
                                        <m:mcJc m:val="center"/>
                                      </m:mcPr>
                                    </m:mc>
                                  </m:mcs>
                                  <m:ctrlPr>
                                    <a:rPr lang="zh-CN" altLang="en-US" i="1" smtClean="0">
                                      <a:solidFill>
                                        <a:schemeClr val="tx1"/>
                                      </a:solidFill>
                                      <a:latin typeface="Cambria Math" panose="02040503050406030204" pitchFamily="18" charset="0"/>
                                    </a:rPr>
                                  </m:ctrlPr>
                                </m:mPr>
                                <m:mr>
                                  <m:e>
                                    <m:r>
                                      <a:rPr lang="zh-CN" altLang="en-US" i="1">
                                        <a:solidFill>
                                          <a:schemeClr val="tx1"/>
                                        </a:solidFill>
                                        <a:latin typeface="Cambria Math" panose="02040503050406030204" pitchFamily="18" charset="0"/>
                                      </a:rPr>
                                      <m:t>⋯</m:t>
                                    </m:r>
                                  </m:e>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𝑝</m:t>
                                        </m:r>
                                      </m:e>
                                      <m:sub>
                                        <m:r>
                                          <a:rPr lang="zh-CN" altLang="en-US" i="1">
                                            <a:solidFill>
                                              <a:schemeClr val="tx1"/>
                                            </a:solidFill>
                                            <a:latin typeface="Cambria Math" panose="02040503050406030204" pitchFamily="18" charset="0"/>
                                          </a:rPr>
                                          <m:t>𝑘</m:t>
                                        </m:r>
                                      </m:sub>
                                    </m:sSub>
                                  </m:e>
                                  <m:e>
                                    <m:r>
                                      <a:rPr lang="zh-CN" altLang="en-US" i="1">
                                        <a:solidFill>
                                          <a:schemeClr val="tx1"/>
                                        </a:solidFill>
                                        <a:latin typeface="Cambria Math" panose="02040503050406030204" pitchFamily="18" charset="0"/>
                                      </a:rPr>
                                      <m:t>⋯</m:t>
                                    </m:r>
                                  </m:e>
                                </m:mr>
                              </m:m>
                            </m:e>
                          </m:mr>
                        </m:m>
                      </m:oMath>
                    </m:oMathPara>
                  </a14:m>
                  <a:endParaRPr lang="zh-CN" altLang="en-US" dirty="0"/>
                </a:p>
              </p:txBody>
            </p:sp>
          </mc:Choice>
          <mc:Fallback xmlns="">
            <p:sp>
              <p:nvSpPr>
                <p:cNvPr id="48141" name="Object 13">
                  <a:extLst>
                    <a:ext uri="{FF2B5EF4-FFF2-40B4-BE49-F238E27FC236}">
                      <a16:creationId xmlns:a16="http://schemas.microsoft.com/office/drawing/2014/main" id="{94BE9D62-A65E-4FFC-A5A9-0419D8052A4C}"/>
                    </a:ext>
                  </a:extLst>
                </p:cNvPr>
                <p:cNvSpPr txBox="1">
                  <a:spLocks noRot="1" noChangeAspect="1" noMove="1" noResize="1" noEditPoints="1" noAdjustHandles="1" noChangeArrowheads="1" noChangeShapeType="1" noTextEdit="1"/>
                </p:cNvSpPr>
                <p:nvPr/>
              </p:nvSpPr>
              <p:spPr bwMode="auto">
                <a:xfrm>
                  <a:off x="2339975" y="4690812"/>
                  <a:ext cx="4824413" cy="1189037"/>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48142" name="Line 14">
              <a:extLst>
                <a:ext uri="{FF2B5EF4-FFF2-40B4-BE49-F238E27FC236}">
                  <a16:creationId xmlns:a16="http://schemas.microsoft.com/office/drawing/2014/main" id="{B79B698D-458A-4A56-842D-043B436A4886}"/>
                </a:ext>
              </a:extLst>
            </p:cNvPr>
            <p:cNvSpPr>
              <a:spLocks noChangeShapeType="1"/>
            </p:cNvSpPr>
            <p:nvPr/>
          </p:nvSpPr>
          <p:spPr bwMode="auto">
            <a:xfrm>
              <a:off x="2160587" y="5176044"/>
              <a:ext cx="4967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3" name="Line 15">
              <a:extLst>
                <a:ext uri="{FF2B5EF4-FFF2-40B4-BE49-F238E27FC236}">
                  <a16:creationId xmlns:a16="http://schemas.microsoft.com/office/drawing/2014/main" id="{96064D5D-2E48-4A9D-8655-320366905442}"/>
                </a:ext>
              </a:extLst>
            </p:cNvPr>
            <p:cNvSpPr>
              <a:spLocks noChangeShapeType="1"/>
            </p:cNvSpPr>
            <p:nvPr/>
          </p:nvSpPr>
          <p:spPr bwMode="auto">
            <a:xfrm>
              <a:off x="3131840" y="4565400"/>
              <a:ext cx="0" cy="1439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2">
            <a:extLst>
              <a:ext uri="{FF2B5EF4-FFF2-40B4-BE49-F238E27FC236}">
                <a16:creationId xmlns:a16="http://schemas.microsoft.com/office/drawing/2014/main" id="{1892541A-6A86-42AD-A044-B4109D4694FF}"/>
              </a:ext>
            </a:extLst>
          </p:cNvPr>
          <p:cNvSpPr>
            <a:spLocks noGrp="1" noChangeArrowheads="1"/>
          </p:cNvSpPr>
          <p:nvPr>
            <p:ph type="title"/>
          </p:nvPr>
        </p:nvSpPr>
        <p:spPr>
          <a:xfrm>
            <a:off x="96838" y="420985"/>
            <a:ext cx="8229600" cy="606896"/>
          </a:xfrm>
        </p:spPr>
        <p:txBody>
          <a:bodyPr anchor="b"/>
          <a:lstStyle/>
          <a:p>
            <a:pPr algn="l"/>
            <a:r>
              <a:rPr lang="en-US" altLang="zh-CN" sz="3600" b="1" dirty="0">
                <a:solidFill>
                  <a:schemeClr val="tx1"/>
                </a:solidFill>
                <a:latin typeface="Times New Roman" panose="02020603050405020304" pitchFamily="18" charset="0"/>
              </a:rPr>
              <a:t>1. </a:t>
            </a:r>
            <a:r>
              <a:rPr lang="zh-CN" altLang="en-US" sz="3600" b="1" dirty="0">
                <a:solidFill>
                  <a:schemeClr val="tx1"/>
                </a:solidFill>
                <a:latin typeface="Times New Roman" panose="02020603050405020304" pitchFamily="18" charset="0"/>
              </a:rPr>
              <a:t>二项分布</a:t>
            </a:r>
            <a:r>
              <a:rPr lang="en-US" altLang="zh-CN" sz="3600" b="1" dirty="0">
                <a:solidFill>
                  <a:schemeClr val="tx1"/>
                </a:solidFill>
                <a:latin typeface="Times New Roman" panose="02020603050405020304" pitchFamily="18" charset="0"/>
              </a:rPr>
              <a:t>(Bernoulli distribution) </a:t>
            </a:r>
          </a:p>
        </p:txBody>
      </p:sp>
      <p:sp>
        <p:nvSpPr>
          <p:cNvPr id="82949" name="Rectangle 3">
            <a:extLst>
              <a:ext uri="{FF2B5EF4-FFF2-40B4-BE49-F238E27FC236}">
                <a16:creationId xmlns:a16="http://schemas.microsoft.com/office/drawing/2014/main" id="{F83FD245-A7E3-4882-BE9C-BBCAC95C3784}"/>
              </a:ext>
            </a:extLst>
          </p:cNvPr>
          <p:cNvSpPr>
            <a:spLocks noGrp="1" noChangeArrowheads="1"/>
          </p:cNvSpPr>
          <p:nvPr>
            <p:ph idx="1"/>
          </p:nvPr>
        </p:nvSpPr>
        <p:spPr>
          <a:xfrm>
            <a:off x="457200" y="3322491"/>
            <a:ext cx="8229600" cy="2085496"/>
          </a:xfrm>
        </p:spPr>
        <p:txBody>
          <a:bodyPr/>
          <a:lstStyle/>
          <a:p>
            <a:pPr marL="0" indent="0">
              <a:lnSpc>
                <a:spcPct val="150000"/>
              </a:lnSpc>
              <a:spcBef>
                <a:spcPts val="0"/>
              </a:spcBef>
              <a:buFontTx/>
              <a:buNone/>
            </a:pPr>
            <a:r>
              <a:rPr lang="zh-CN" altLang="en-US" sz="2800" b="1" dirty="0">
                <a:solidFill>
                  <a:srgbClr val="E313ED"/>
                </a:solidFill>
                <a:latin typeface="Times New Roman" panose="02020603050405020304" pitchFamily="18" charset="0"/>
              </a:rPr>
              <a:t>应用：</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次试验在相同条件下进行，各个观察单位的结果相互独立，且只能具有相互对立的一种结果，当</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时，二项分布近似于正态分布。</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921435E-3343-4AB2-A04B-C040692CF52F}"/>
                  </a:ext>
                </a:extLst>
              </p:cNvPr>
              <p:cNvSpPr txBox="1"/>
              <p:nvPr/>
            </p:nvSpPr>
            <p:spPr>
              <a:xfrm>
                <a:off x="1670679" y="1483827"/>
                <a:ext cx="4197175" cy="6502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cs typeface="Times New Roman" panose="02020603050405020304" pitchFamily="18" charset="0"/>
                        </a:rPr>
                        <m:t>𝑷</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𝑿</m:t>
                          </m:r>
                        </m:e>
                      </m:d>
                      <m:r>
                        <a:rPr lang="en-US" altLang="zh-CN" b="1" i="1" smtClean="0">
                          <a:latin typeface="Cambria Math" panose="02040503050406030204" pitchFamily="18" charset="0"/>
                          <a:cs typeface="Times New Roman" panose="02020603050405020304" pitchFamily="18" charset="0"/>
                        </a:rPr>
                        <m:t>=</m:t>
                      </m:r>
                      <m:d>
                        <m:dPr>
                          <m:ctrlPr>
                            <a:rPr lang="en-US" altLang="zh-CN" b="1" i="1" smtClean="0">
                              <a:latin typeface="Cambria Math" panose="02040503050406030204" pitchFamily="18" charset="0"/>
                              <a:cs typeface="Times New Roman" panose="02020603050405020304" pitchFamily="18" charset="0"/>
                            </a:rPr>
                          </m:ctrlPr>
                        </m:dPr>
                        <m:e>
                          <m:m>
                            <m:mPr>
                              <m:mcs>
                                <m:mc>
                                  <m:mcPr>
                                    <m:count m:val="1"/>
                                    <m:mcJc m:val="center"/>
                                  </m:mcPr>
                                </m:mc>
                              </m:mcs>
                              <m:ctrlPr>
                                <a:rPr lang="en-US" altLang="zh-CN" b="1" i="1" smtClean="0">
                                  <a:latin typeface="Cambria Math" panose="02040503050406030204" pitchFamily="18" charset="0"/>
                                  <a:cs typeface="Times New Roman" panose="02020603050405020304" pitchFamily="18" charset="0"/>
                                </a:rPr>
                              </m:ctrlPr>
                            </m:mPr>
                            <m:mr>
                              <m:e>
                                <m:r>
                                  <m:rPr>
                                    <m:brk m:alnAt="7"/>
                                  </m:rPr>
                                  <a:rPr lang="en-US" altLang="zh-CN" b="1" i="1" smtClean="0">
                                    <a:latin typeface="Cambria Math" panose="02040503050406030204" pitchFamily="18" charset="0"/>
                                    <a:cs typeface="Times New Roman" panose="02020603050405020304" pitchFamily="18" charset="0"/>
                                  </a:rPr>
                                  <m:t>𝒏</m:t>
                                </m:r>
                              </m:e>
                            </m:mr>
                            <m:mr>
                              <m:e>
                                <m:r>
                                  <a:rPr lang="en-US" altLang="zh-CN" b="1" i="1" smtClean="0">
                                    <a:latin typeface="Cambria Math" panose="02040503050406030204" pitchFamily="18" charset="0"/>
                                    <a:cs typeface="Times New Roman" panose="02020603050405020304" pitchFamily="18" charset="0"/>
                                  </a:rPr>
                                  <m:t>𝑿</m:t>
                                </m:r>
                              </m:e>
                            </m:mr>
                          </m:m>
                        </m:e>
                      </m:d>
                      <m:sSup>
                        <m:sSupPr>
                          <m:ctrlPr>
                            <a:rPr lang="en-US" altLang="zh-CN" b="1" i="1" smtClean="0">
                              <a:latin typeface="Cambria Math" panose="02040503050406030204" pitchFamily="18" charset="0"/>
                              <a:cs typeface="Times New Roman" panose="02020603050405020304" pitchFamily="18" charset="0"/>
                            </a:rPr>
                          </m:ctrlPr>
                        </m:sSupPr>
                        <m:e>
                          <m:r>
                            <a:rPr lang="zh-CN" altLang="en-US" b="1" i="1" smtClean="0">
                              <a:latin typeface="Cambria Math" panose="02040503050406030204" pitchFamily="18" charset="0"/>
                              <a:cs typeface="Times New Roman" panose="02020603050405020304" pitchFamily="18" charset="0"/>
                            </a:rPr>
                            <m:t>𝝅</m:t>
                          </m:r>
                        </m:e>
                        <m:sup>
                          <m:r>
                            <a:rPr lang="en-US" altLang="zh-CN" b="1" i="1" smtClean="0">
                              <a:latin typeface="Cambria Math" panose="02040503050406030204" pitchFamily="18" charset="0"/>
                              <a:cs typeface="Times New Roman" panose="02020603050405020304" pitchFamily="18" charset="0"/>
                            </a:rPr>
                            <m:t>𝑿</m:t>
                          </m:r>
                        </m:sup>
                      </m:sSup>
                      <m:sSup>
                        <m:sSupPr>
                          <m:ctrlPr>
                            <a:rPr lang="en-US" altLang="zh-CN" b="1" i="1" smtClean="0">
                              <a:latin typeface="Cambria Math" panose="02040503050406030204" pitchFamily="18" charset="0"/>
                              <a:cs typeface="Times New Roman" panose="02020603050405020304" pitchFamily="18" charset="0"/>
                            </a:rPr>
                          </m:ctrlPr>
                        </m:sSupPr>
                        <m:e>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𝟏</m:t>
                              </m:r>
                              <m:r>
                                <a:rPr lang="en-US" altLang="zh-CN" b="1" i="1" smtClean="0">
                                  <a:latin typeface="Cambria Math" panose="02040503050406030204" pitchFamily="18" charset="0"/>
                                  <a:cs typeface="Times New Roman" panose="02020603050405020304" pitchFamily="18" charset="0"/>
                                </a:rPr>
                                <m:t>−</m:t>
                              </m:r>
                              <m:r>
                                <a:rPr lang="zh-CN" altLang="en-US" b="1" i="1" smtClean="0">
                                  <a:latin typeface="Cambria Math" panose="02040503050406030204" pitchFamily="18" charset="0"/>
                                  <a:cs typeface="Times New Roman" panose="02020603050405020304" pitchFamily="18" charset="0"/>
                                </a:rPr>
                                <m:t>𝝅</m:t>
                              </m:r>
                            </m:e>
                          </m:d>
                        </m:e>
                        <m:sup>
                          <m:r>
                            <a:rPr lang="en-US" altLang="zh-CN" b="1" i="1" smtClean="0">
                              <a:latin typeface="Cambria Math" panose="02040503050406030204" pitchFamily="18" charset="0"/>
                              <a:cs typeface="Times New Roman" panose="02020603050405020304" pitchFamily="18" charset="0"/>
                            </a:rPr>
                            <m:t>𝒏</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𝑿</m:t>
                          </m:r>
                        </m:sup>
                      </m:sSup>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D921435E-3343-4AB2-A04B-C040692CF52F}"/>
                  </a:ext>
                </a:extLst>
              </p:cNvPr>
              <p:cNvSpPr txBox="1">
                <a:spLocks noRot="1" noChangeAspect="1" noMove="1" noResize="1" noEditPoints="1" noAdjustHandles="1" noChangeArrowheads="1" noChangeShapeType="1" noTextEdit="1"/>
              </p:cNvSpPr>
              <p:nvPr/>
            </p:nvSpPr>
            <p:spPr>
              <a:xfrm>
                <a:off x="1670679" y="1483827"/>
                <a:ext cx="4197175" cy="65024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6932C81-69AE-40FA-B3EC-830D9F0A90AD}"/>
                  </a:ext>
                </a:extLst>
              </p:cNvPr>
              <p:cNvSpPr txBox="1"/>
              <p:nvPr/>
            </p:nvSpPr>
            <p:spPr>
              <a:xfrm>
                <a:off x="1245152" y="2512011"/>
                <a:ext cx="593297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𝒏𝒑</m:t>
                      </m:r>
                      <m:r>
                        <a:rPr lang="en-US" altLang="zh-CN" b="1" i="1" smtClean="0">
                          <a:latin typeface="Cambria Math" panose="02040503050406030204" pitchFamily="18" charset="0"/>
                        </a:rPr>
                        <m:t>            </m:t>
                      </m:r>
                      <m:r>
                        <a:rPr lang="en-US" altLang="zh-CN" b="1" i="1" smtClean="0">
                          <a:latin typeface="Cambria Math" panose="02040503050406030204" pitchFamily="18" charset="0"/>
                        </a:rPr>
                        <m:t>𝑽𝒂𝒓</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𝒏𝒑</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e>
                      </m:d>
                    </m:oMath>
                  </m:oMathPara>
                </a14:m>
                <a:endParaRPr lang="zh-CN" altLang="en-US" dirty="0"/>
              </a:p>
            </p:txBody>
          </p:sp>
        </mc:Choice>
        <mc:Fallback xmlns="">
          <p:sp>
            <p:nvSpPr>
              <p:cNvPr id="3" name="文本框 2">
                <a:extLst>
                  <a:ext uri="{FF2B5EF4-FFF2-40B4-BE49-F238E27FC236}">
                    <a16:creationId xmlns:a16="http://schemas.microsoft.com/office/drawing/2014/main" id="{66932C81-69AE-40FA-B3EC-830D9F0A90AD}"/>
                  </a:ext>
                </a:extLst>
              </p:cNvPr>
              <p:cNvSpPr txBox="1">
                <a:spLocks noRot="1" noChangeAspect="1" noMove="1" noResize="1" noEditPoints="1" noAdjustHandles="1" noChangeArrowheads="1" noChangeShapeType="1" noTextEdit="1"/>
              </p:cNvSpPr>
              <p:nvPr/>
            </p:nvSpPr>
            <p:spPr>
              <a:xfrm>
                <a:off x="1245152" y="2512011"/>
                <a:ext cx="5932971" cy="430887"/>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a:extLst>
              <a:ext uri="{FF2B5EF4-FFF2-40B4-BE49-F238E27FC236}">
                <a16:creationId xmlns:a16="http://schemas.microsoft.com/office/drawing/2014/main" id="{D3C33250-EE12-4C96-A5B7-A74D14D40AFF}"/>
              </a:ext>
            </a:extLst>
          </p:cNvPr>
          <p:cNvSpPr>
            <a:spLocks noGrp="1" noChangeArrowheads="1"/>
          </p:cNvSpPr>
          <p:nvPr>
            <p:ph type="title"/>
          </p:nvPr>
        </p:nvSpPr>
        <p:spPr>
          <a:xfrm>
            <a:off x="152400" y="304800"/>
            <a:ext cx="8229600" cy="822920"/>
          </a:xfrm>
        </p:spPr>
        <p:txBody>
          <a:bodyPr anchor="b"/>
          <a:lstStyle/>
          <a:p>
            <a:pPr algn="l"/>
            <a:r>
              <a:rPr lang="en-US" altLang="zh-CN" sz="3600" b="1" dirty="0">
                <a:solidFill>
                  <a:schemeClr val="tx1"/>
                </a:solidFill>
                <a:latin typeface="Times New Roman" panose="02020603050405020304" pitchFamily="18" charset="0"/>
              </a:rPr>
              <a:t>2. </a:t>
            </a:r>
            <a:r>
              <a:rPr lang="zh-CN" altLang="en-US" sz="3600" b="1" dirty="0">
                <a:solidFill>
                  <a:schemeClr val="tx1"/>
                </a:solidFill>
                <a:latin typeface="Times New Roman" panose="02020603050405020304" pitchFamily="18" charset="0"/>
              </a:rPr>
              <a:t>几何分布</a:t>
            </a:r>
          </a:p>
        </p:txBody>
      </p:sp>
      <p:sp>
        <p:nvSpPr>
          <p:cNvPr id="84997" name="Rectangle 3">
            <a:extLst>
              <a:ext uri="{FF2B5EF4-FFF2-40B4-BE49-F238E27FC236}">
                <a16:creationId xmlns:a16="http://schemas.microsoft.com/office/drawing/2014/main" id="{1D04F9A2-F84B-46B1-BDB9-B79F9E2D51BF}"/>
              </a:ext>
            </a:extLst>
          </p:cNvPr>
          <p:cNvSpPr>
            <a:spLocks noGrp="1" noChangeArrowheads="1"/>
          </p:cNvSpPr>
          <p:nvPr>
            <p:ph idx="1"/>
          </p:nvPr>
        </p:nvSpPr>
        <p:spPr>
          <a:xfrm>
            <a:off x="457200" y="1284804"/>
            <a:ext cx="8229600" cy="5076527"/>
          </a:xfrm>
        </p:spPr>
        <p:txBody>
          <a:bodyPr/>
          <a:lstStyle/>
          <a:p>
            <a:pPr marL="20638" indent="-20638">
              <a:lnSpc>
                <a:spcPct val="150000"/>
              </a:lnSpc>
              <a:spcBef>
                <a:spcPts val="0"/>
              </a:spcBef>
              <a:buFontTx/>
              <a:buNone/>
            </a:pPr>
            <a:r>
              <a:rPr lang="zh-CN" altLang="en-US" sz="2800" b="1" dirty="0">
                <a:solidFill>
                  <a:srgbClr val="E313ED"/>
                </a:solidFill>
                <a:latin typeface="Times New Roman" panose="02020603050405020304" pitchFamily="18" charset="0"/>
              </a:rPr>
              <a:t>定义：</a:t>
            </a:r>
            <a:r>
              <a:rPr lang="zh-CN" altLang="en-US" sz="2800" b="1" dirty="0">
                <a:latin typeface="Times New Roman" panose="02020603050405020304" pitchFamily="18" charset="0"/>
              </a:rPr>
              <a:t>在第 </a:t>
            </a:r>
            <a:r>
              <a:rPr lang="en-US" altLang="zh-CN" sz="2800" b="1" i="1" dirty="0">
                <a:latin typeface="Times New Roman" panose="02020603050405020304" pitchFamily="18" charset="0"/>
              </a:rPr>
              <a:t>n </a:t>
            </a:r>
            <a:r>
              <a:rPr lang="zh-CN" altLang="en-US" sz="2800" b="1" dirty="0">
                <a:latin typeface="Times New Roman" panose="02020603050405020304" pitchFamily="18" charset="0"/>
              </a:rPr>
              <a:t>次伯努利实验，才得到第一次成功的机率。更详细的说是：</a:t>
            </a:r>
            <a:r>
              <a:rPr lang="en-US" altLang="zh-CN" sz="2800" b="1" i="1" dirty="0">
                <a:latin typeface="Times New Roman" panose="02020603050405020304" pitchFamily="18" charset="0"/>
              </a:rPr>
              <a:t>n</a:t>
            </a:r>
            <a:r>
              <a:rPr lang="zh-CN" altLang="en-US" sz="2800" b="1" dirty="0">
                <a:latin typeface="Times New Roman" panose="02020603050405020304" pitchFamily="18" charset="0"/>
              </a:rPr>
              <a:t>次伯努利试验，前 </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-1</a:t>
            </a:r>
            <a:r>
              <a:rPr lang="en-US" altLang="zh-CN" sz="2800" b="1" i="1" dirty="0">
                <a:latin typeface="Times New Roman" panose="02020603050405020304" pitchFamily="18" charset="0"/>
              </a:rPr>
              <a:t> </a:t>
            </a:r>
            <a:r>
              <a:rPr lang="zh-CN" altLang="en-US" sz="2800" b="1" dirty="0">
                <a:latin typeface="Times New Roman" panose="02020603050405020304" pitchFamily="18" charset="0"/>
              </a:rPr>
              <a:t>次皆失败，第 </a:t>
            </a:r>
            <a:r>
              <a:rPr lang="en-US" altLang="zh-CN" sz="2800" b="1" i="1" dirty="0">
                <a:latin typeface="Times New Roman" panose="02020603050405020304" pitchFamily="18" charset="0"/>
              </a:rPr>
              <a:t>n </a:t>
            </a:r>
            <a:r>
              <a:rPr lang="zh-CN" altLang="en-US" sz="2800" b="1" dirty="0">
                <a:latin typeface="Times New Roman" panose="02020603050405020304" pitchFamily="18" charset="0"/>
              </a:rPr>
              <a:t>次才成功的概率。</a:t>
            </a:r>
          </a:p>
          <a:p>
            <a:pPr marL="20638" indent="-20638">
              <a:lnSpc>
                <a:spcPct val="150000"/>
              </a:lnSpc>
              <a:spcBef>
                <a:spcPts val="0"/>
              </a:spcBef>
              <a:buFontTx/>
              <a:buNone/>
            </a:pPr>
            <a:endParaRPr lang="zh-CN" altLang="en-US" sz="2800" b="1" dirty="0">
              <a:latin typeface="Times New Roman" panose="02020603050405020304" pitchFamily="18" charset="0"/>
            </a:endParaRPr>
          </a:p>
          <a:p>
            <a:pPr marL="20638" indent="-20638">
              <a:lnSpc>
                <a:spcPct val="150000"/>
              </a:lnSpc>
              <a:spcBef>
                <a:spcPts val="0"/>
              </a:spcBef>
              <a:buFontTx/>
              <a:buNone/>
            </a:pPr>
            <a:endParaRPr lang="zh-CN" altLang="en-US" sz="2800" b="1" dirty="0">
              <a:latin typeface="Times New Roman" panose="02020603050405020304" pitchFamily="18" charset="0"/>
            </a:endParaRPr>
          </a:p>
          <a:p>
            <a:pPr marL="20638" indent="-20638">
              <a:lnSpc>
                <a:spcPct val="150000"/>
              </a:lnSpc>
              <a:spcBef>
                <a:spcPts val="0"/>
              </a:spcBef>
              <a:buFontTx/>
              <a:buNone/>
            </a:pPr>
            <a:r>
              <a:rPr lang="zh-CN" altLang="en-US" sz="2800" b="1" dirty="0">
                <a:latin typeface="Times New Roman" panose="02020603050405020304" pitchFamily="18" charset="0"/>
              </a:rPr>
              <a:t> </a:t>
            </a:r>
          </a:p>
          <a:p>
            <a:pPr marL="20638" indent="-20638">
              <a:lnSpc>
                <a:spcPct val="150000"/>
              </a:lnSpc>
              <a:spcBef>
                <a:spcPts val="0"/>
              </a:spcBef>
              <a:buFontTx/>
              <a:buNone/>
            </a:pPr>
            <a:r>
              <a:rPr lang="zh-CN" altLang="en-US" sz="2800" b="1" dirty="0">
                <a:solidFill>
                  <a:srgbClr val="E313ED"/>
                </a:solidFill>
                <a:latin typeface="Times New Roman" panose="02020603050405020304" pitchFamily="18" charset="0"/>
              </a:rPr>
              <a:t>应用：</a:t>
            </a:r>
            <a:r>
              <a:rPr lang="zh-CN" altLang="en-US" sz="2800" b="1" dirty="0">
                <a:latin typeface="Times New Roman" panose="02020603050405020304" pitchFamily="18" charset="0"/>
              </a:rPr>
              <a:t>射击比赛等。</a:t>
            </a:r>
          </a:p>
        </p:txBody>
      </p:sp>
      <p:sp>
        <p:nvSpPr>
          <p:cNvPr id="85003" name="AutoShape 13" descr="V9W()BTZ[M@T7LRPM8BC">
            <a:extLst>
              <a:ext uri="{FF2B5EF4-FFF2-40B4-BE49-F238E27FC236}">
                <a16:creationId xmlns:a16="http://schemas.microsoft.com/office/drawing/2014/main" id="{AD0BF26A-1C86-4FF7-865C-B64CC887D703}"/>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p:sp>
        <p:nvSpPr>
          <p:cNvPr id="85004" name="AutoShape 14" descr="V9W()BTZ[M@T7LRPM8BC">
            <a:extLst>
              <a:ext uri="{FF2B5EF4-FFF2-40B4-BE49-F238E27FC236}">
                <a16:creationId xmlns:a16="http://schemas.microsoft.com/office/drawing/2014/main" id="{8CE12B73-EAF5-465A-8D7F-4C61CC128F71}"/>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p:sp>
        <p:nvSpPr>
          <p:cNvPr id="85005" name="AutoShape 15" descr="V9W()BTZ[M@T7LRPM8BC">
            <a:extLst>
              <a:ext uri="{FF2B5EF4-FFF2-40B4-BE49-F238E27FC236}">
                <a16:creationId xmlns:a16="http://schemas.microsoft.com/office/drawing/2014/main" id="{3F57B3C1-9831-4722-8DEA-6E9DE9DAEF04}"/>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p:sp>
        <p:nvSpPr>
          <p:cNvPr id="85006" name="AutoShape 16" descr="V9W()BTZ[M@T7LRPM8BC">
            <a:extLst>
              <a:ext uri="{FF2B5EF4-FFF2-40B4-BE49-F238E27FC236}">
                <a16:creationId xmlns:a16="http://schemas.microsoft.com/office/drawing/2014/main" id="{8DB770EA-7737-4933-82A0-C4A59BBEF9D2}"/>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C10269D-B173-4BA1-9A0C-FBE7C5445C79}"/>
                  </a:ext>
                </a:extLst>
              </p:cNvPr>
              <p:cNvSpPr txBox="1"/>
              <p:nvPr/>
            </p:nvSpPr>
            <p:spPr>
              <a:xfrm>
                <a:off x="1835694" y="3429000"/>
                <a:ext cx="4206473" cy="447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cs typeface="Times New Roman" panose="02020603050405020304" pitchFamily="18" charset="0"/>
                        </a:rPr>
                        <m:t>𝑷</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𝑿</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𝒌</m:t>
                          </m:r>
                        </m:e>
                      </m:d>
                      <m:r>
                        <a:rPr lang="en-US" altLang="zh-CN" b="1" i="1" smtClean="0">
                          <a:latin typeface="Cambria Math" panose="02040503050406030204" pitchFamily="18" charset="0"/>
                          <a:cs typeface="Times New Roman" panose="02020603050405020304" pitchFamily="18" charset="0"/>
                        </a:rPr>
                        <m:t>=</m:t>
                      </m:r>
                      <m:sSup>
                        <m:sSupPr>
                          <m:ctrlPr>
                            <a:rPr lang="en-US" altLang="zh-CN" b="1" i="1" smtClean="0">
                              <a:latin typeface="Cambria Math" panose="02040503050406030204" pitchFamily="18" charset="0"/>
                              <a:cs typeface="Times New Roman" panose="02020603050405020304" pitchFamily="18" charset="0"/>
                            </a:rPr>
                          </m:ctrlPr>
                        </m:sSupPr>
                        <m:e>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𝟏</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𝒑</m:t>
                              </m:r>
                            </m:e>
                          </m:d>
                        </m:e>
                        <m:sup>
                          <m:r>
                            <a:rPr lang="en-US" altLang="zh-CN" b="1" i="1" smtClean="0">
                              <a:latin typeface="Cambria Math" panose="02040503050406030204" pitchFamily="18" charset="0"/>
                              <a:cs typeface="Times New Roman" panose="02020603050405020304" pitchFamily="18" charset="0"/>
                            </a:rPr>
                            <m:t>𝒌</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𝟏</m:t>
                          </m:r>
                        </m:sup>
                      </m:sSup>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𝒑</m:t>
                      </m:r>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8C10269D-B173-4BA1-9A0C-FBE7C5445C79}"/>
                  </a:ext>
                </a:extLst>
              </p:cNvPr>
              <p:cNvSpPr txBox="1">
                <a:spLocks noRot="1" noChangeAspect="1" noMove="1" noResize="1" noEditPoints="1" noAdjustHandles="1" noChangeArrowheads="1" noChangeShapeType="1" noTextEdit="1"/>
              </p:cNvSpPr>
              <p:nvPr/>
            </p:nvSpPr>
            <p:spPr>
              <a:xfrm>
                <a:off x="1835694" y="3429000"/>
                <a:ext cx="4206473" cy="44711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F5A1B87-8AB9-44C5-8C13-5990DB1C85C0}"/>
                  </a:ext>
                </a:extLst>
              </p:cNvPr>
              <p:cNvSpPr txBox="1"/>
              <p:nvPr/>
            </p:nvSpPr>
            <p:spPr>
              <a:xfrm>
                <a:off x="1435394" y="4221088"/>
                <a:ext cx="5007075" cy="882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𝒑</m:t>
                          </m:r>
                        </m:den>
                      </m:f>
                      <m:r>
                        <a:rPr lang="en-US" altLang="zh-CN" b="1" i="1" smtClean="0">
                          <a:latin typeface="Cambria Math" panose="02040503050406030204" pitchFamily="18" charset="0"/>
                        </a:rPr>
                        <m:t>            </m:t>
                      </m:r>
                      <m:r>
                        <a:rPr lang="en-US" altLang="zh-CN" b="1" i="1" smtClean="0">
                          <a:latin typeface="Cambria Math" panose="02040503050406030204" pitchFamily="18" charset="0"/>
                        </a:rPr>
                        <m:t>𝑽𝒂𝒓</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num>
                        <m:den>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𝒑</m:t>
                              </m:r>
                            </m:e>
                            <m:sup>
                              <m:r>
                                <a:rPr lang="en-US" altLang="zh-CN" b="1" i="1" smtClean="0">
                                  <a:latin typeface="Cambria Math" panose="02040503050406030204" pitchFamily="18" charset="0"/>
                                </a:rPr>
                                <m:t>𝟐</m:t>
                              </m:r>
                            </m:sup>
                          </m:sSup>
                        </m:den>
                      </m:f>
                    </m:oMath>
                  </m:oMathPara>
                </a14:m>
                <a:endParaRPr lang="zh-CN" altLang="en-US" dirty="0"/>
              </a:p>
            </p:txBody>
          </p:sp>
        </mc:Choice>
        <mc:Fallback xmlns="">
          <p:sp>
            <p:nvSpPr>
              <p:cNvPr id="16" name="文本框 15">
                <a:extLst>
                  <a:ext uri="{FF2B5EF4-FFF2-40B4-BE49-F238E27FC236}">
                    <a16:creationId xmlns:a16="http://schemas.microsoft.com/office/drawing/2014/main" id="{EF5A1B87-8AB9-44C5-8C13-5990DB1C85C0}"/>
                  </a:ext>
                </a:extLst>
              </p:cNvPr>
              <p:cNvSpPr txBox="1">
                <a:spLocks noRot="1" noChangeAspect="1" noMove="1" noResize="1" noEditPoints="1" noAdjustHandles="1" noChangeArrowheads="1" noChangeShapeType="1" noTextEdit="1"/>
              </p:cNvSpPr>
              <p:nvPr/>
            </p:nvSpPr>
            <p:spPr>
              <a:xfrm>
                <a:off x="1435394" y="4221088"/>
                <a:ext cx="5007075" cy="882036"/>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2">
            <a:extLst>
              <a:ext uri="{FF2B5EF4-FFF2-40B4-BE49-F238E27FC236}">
                <a16:creationId xmlns:a16="http://schemas.microsoft.com/office/drawing/2014/main" id="{8E238AAF-81A5-4AD4-A0CE-63AF62058D71}"/>
              </a:ext>
            </a:extLst>
          </p:cNvPr>
          <p:cNvSpPr>
            <a:spLocks noGrp="1" noChangeArrowheads="1"/>
          </p:cNvSpPr>
          <p:nvPr>
            <p:ph type="title"/>
          </p:nvPr>
        </p:nvSpPr>
        <p:spPr>
          <a:xfrm>
            <a:off x="179512" y="256285"/>
            <a:ext cx="8229600" cy="1143000"/>
          </a:xfrm>
        </p:spPr>
        <p:txBody>
          <a:bodyPr anchor="b"/>
          <a:lstStyle/>
          <a:p>
            <a:pPr algn="l"/>
            <a:r>
              <a:rPr lang="en-US" altLang="zh-CN" sz="3600" b="1" dirty="0">
                <a:solidFill>
                  <a:schemeClr val="tx1"/>
                </a:solidFill>
                <a:latin typeface="Times New Roman" panose="02020603050405020304" pitchFamily="18" charset="0"/>
              </a:rPr>
              <a:t>3. </a:t>
            </a:r>
            <a:r>
              <a:rPr lang="zh-CN" altLang="en-US" sz="3600" b="1" dirty="0">
                <a:solidFill>
                  <a:schemeClr val="tx1"/>
                </a:solidFill>
                <a:latin typeface="Times New Roman" panose="02020603050405020304" pitchFamily="18" charset="0"/>
              </a:rPr>
              <a:t>负二项分布</a:t>
            </a:r>
            <a:r>
              <a:rPr lang="en-US" altLang="zh-CN" sz="3600" b="1" dirty="0">
                <a:solidFill>
                  <a:schemeClr val="tx1"/>
                </a:solidFill>
                <a:latin typeface="Times New Roman" panose="02020603050405020304" pitchFamily="18" charset="0"/>
              </a:rPr>
              <a:t>(Negative binomial distribution) </a:t>
            </a:r>
          </a:p>
        </p:txBody>
      </p:sp>
      <p:sp>
        <p:nvSpPr>
          <p:cNvPr id="83973" name="Rectangle 3">
            <a:extLst>
              <a:ext uri="{FF2B5EF4-FFF2-40B4-BE49-F238E27FC236}">
                <a16:creationId xmlns:a16="http://schemas.microsoft.com/office/drawing/2014/main" id="{B0D6A4C7-03AF-48B5-99ED-2962D7754D03}"/>
              </a:ext>
            </a:extLst>
          </p:cNvPr>
          <p:cNvSpPr>
            <a:spLocks noGrp="1" noChangeArrowheads="1"/>
          </p:cNvSpPr>
          <p:nvPr>
            <p:ph idx="1"/>
          </p:nvPr>
        </p:nvSpPr>
        <p:spPr/>
        <p:txBody>
          <a:bodyPr/>
          <a:lstStyle/>
          <a:p>
            <a:pPr marL="0" indent="0">
              <a:lnSpc>
                <a:spcPct val="150000"/>
              </a:lnSpc>
              <a:spcBef>
                <a:spcPts val="0"/>
              </a:spcBef>
              <a:buFontTx/>
              <a:buNone/>
            </a:pPr>
            <a:r>
              <a:rPr lang="zh-CN" altLang="en-US" sz="2800" b="1" dirty="0">
                <a:solidFill>
                  <a:schemeClr val="accent2"/>
                </a:solidFill>
                <a:latin typeface="Times New Roman" panose="02020603050405020304" pitchFamily="18" charset="0"/>
              </a:rPr>
              <a:t>定义：</a:t>
            </a:r>
            <a:r>
              <a:rPr lang="zh-CN" altLang="en-US" sz="2800" b="1" dirty="0">
                <a:latin typeface="Times New Roman" panose="02020603050405020304" pitchFamily="18" charset="0"/>
              </a:rPr>
              <a:t>已知一个事件在伯努利试验中每次的出现概率是 </a:t>
            </a:r>
            <a:r>
              <a:rPr lang="en-US" altLang="zh-CN" sz="2800" b="1" i="1" dirty="0">
                <a:latin typeface="Times New Roman" panose="02020603050405020304" pitchFamily="18" charset="0"/>
              </a:rPr>
              <a:t>p</a:t>
            </a:r>
            <a:r>
              <a:rPr lang="zh-CN" altLang="en-US" sz="2800" b="1" dirty="0">
                <a:latin typeface="Times New Roman" panose="02020603050405020304" pitchFamily="18" charset="0"/>
              </a:rPr>
              <a:t>，在一连串伯努利试验中，一件事件刚好在第</a:t>
            </a:r>
            <a:r>
              <a:rPr lang="en-US" altLang="zh-CN" sz="2800" b="1" i="1" dirty="0">
                <a:latin typeface="Times New Roman" panose="02020603050405020304" pitchFamily="18" charset="0"/>
              </a:rPr>
              <a:t>r</a:t>
            </a:r>
            <a:r>
              <a:rPr lang="en-US" altLang="zh-CN" sz="2800" b="1" dirty="0">
                <a:latin typeface="Times New Roman" panose="02020603050405020304" pitchFamily="18" charset="0"/>
              </a:rPr>
              <a:t> + </a:t>
            </a:r>
            <a:r>
              <a:rPr lang="en-US" altLang="zh-CN" sz="2800" b="1" i="1" dirty="0">
                <a:latin typeface="Times New Roman" panose="02020603050405020304" pitchFamily="18" charset="0"/>
              </a:rPr>
              <a:t>k</a:t>
            </a:r>
            <a:r>
              <a:rPr lang="zh-CN" altLang="en-US" sz="2800" b="1" dirty="0">
                <a:latin typeface="Times New Roman" panose="02020603050405020304" pitchFamily="18" charset="0"/>
              </a:rPr>
              <a:t>次试验出现第</a:t>
            </a:r>
            <a:r>
              <a:rPr lang="en-US" altLang="zh-CN" sz="2800" b="1" i="1" dirty="0">
                <a:latin typeface="Times New Roman" panose="02020603050405020304" pitchFamily="18" charset="0"/>
              </a:rPr>
              <a:t>r</a:t>
            </a:r>
            <a:r>
              <a:rPr lang="zh-CN" altLang="en-US" sz="2800" b="1" dirty="0">
                <a:latin typeface="Times New Roman" panose="02020603050405020304" pitchFamily="18" charset="0"/>
              </a:rPr>
              <a:t>次的概率。 </a:t>
            </a:r>
          </a:p>
        </p:txBody>
      </p:sp>
      <p:sp>
        <p:nvSpPr>
          <p:cNvPr id="83981" name="Rectangle 17">
            <a:extLst>
              <a:ext uri="{FF2B5EF4-FFF2-40B4-BE49-F238E27FC236}">
                <a16:creationId xmlns:a16="http://schemas.microsoft.com/office/drawing/2014/main" id="{0FA30C8C-9056-4220-A5B5-80AF2FF0BB5A}"/>
              </a:ext>
            </a:extLst>
          </p:cNvPr>
          <p:cNvSpPr>
            <a:spLocks noChangeArrowheads="1"/>
          </p:cNvSpPr>
          <p:nvPr/>
        </p:nvSpPr>
        <p:spPr bwMode="auto">
          <a:xfrm>
            <a:off x="596919" y="5491620"/>
            <a:ext cx="76560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latin typeface="Times New Roman" panose="02020603050405020304" pitchFamily="18" charset="0"/>
              </a:rPr>
              <a:t>当 </a:t>
            </a:r>
            <a:r>
              <a:rPr lang="en-US" altLang="zh-CN" i="1" dirty="0">
                <a:latin typeface="Times New Roman" panose="02020603050405020304" pitchFamily="18" charset="0"/>
              </a:rPr>
              <a:t>r</a:t>
            </a:r>
            <a:r>
              <a:rPr lang="en-US" altLang="zh-CN" dirty="0">
                <a:latin typeface="Times New Roman" panose="02020603050405020304" pitchFamily="18" charset="0"/>
              </a:rPr>
              <a:t> = 1</a:t>
            </a:r>
            <a:r>
              <a:rPr lang="zh-CN" altLang="en-US" dirty="0">
                <a:latin typeface="Times New Roman" panose="02020603050405020304" pitchFamily="18" charset="0"/>
              </a:rPr>
              <a:t>时，负二项分布等于几何分布。              </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7EBDDAB-F69E-4C0F-9894-D2A8D0615BA7}"/>
                  </a:ext>
                </a:extLst>
              </p:cNvPr>
              <p:cNvSpPr txBox="1"/>
              <p:nvPr/>
            </p:nvSpPr>
            <p:spPr>
              <a:xfrm>
                <a:off x="2060773" y="3541540"/>
                <a:ext cx="4728346" cy="8971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cs typeface="Times New Roman" panose="02020603050405020304" pitchFamily="18" charset="0"/>
                        </a:rPr>
                        <m:t>𝑷</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𝑿</m:t>
                          </m:r>
                        </m:e>
                      </m:d>
                      <m:r>
                        <a:rPr lang="en-US" altLang="zh-CN" b="1" i="1" smtClean="0">
                          <a:latin typeface="Cambria Math" panose="02040503050406030204" pitchFamily="18" charset="0"/>
                          <a:cs typeface="Times New Roman" panose="02020603050405020304" pitchFamily="18" charset="0"/>
                        </a:rPr>
                        <m:t>=</m:t>
                      </m:r>
                      <m:sSup>
                        <m:sSupPr>
                          <m:ctrlPr>
                            <a:rPr lang="en-US" altLang="zh-CN" b="1" i="1" smtClean="0">
                              <a:latin typeface="Cambria Math" panose="02040503050406030204" pitchFamily="18" charset="0"/>
                              <a:cs typeface="Times New Roman" panose="02020603050405020304" pitchFamily="18" charset="0"/>
                            </a:rPr>
                          </m:ctrlPr>
                        </m:sSupPr>
                        <m:e>
                          <m:f>
                            <m:fPr>
                              <m:ctrlPr>
                                <a:rPr lang="en-US" altLang="zh-CN" b="1" i="1" smtClean="0">
                                  <a:latin typeface="Cambria Math" panose="02040503050406030204" pitchFamily="18" charset="0"/>
                                  <a:cs typeface="Times New Roman" panose="02020603050405020304" pitchFamily="18" charset="0"/>
                                </a:rPr>
                              </m:ctrlPr>
                            </m:fPr>
                            <m:num>
                              <m:r>
                                <a:rPr lang="zh-CN" altLang="en-US" b="1" i="1" smtClean="0">
                                  <a:latin typeface="Cambria Math" panose="02040503050406030204" pitchFamily="18" charset="0"/>
                                  <a:cs typeface="Times New Roman" panose="02020603050405020304" pitchFamily="18" charset="0"/>
                                </a:rPr>
                                <m:t>𝚪</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𝒓</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𝒌</m:t>
                                  </m:r>
                                </m:e>
                              </m:d>
                            </m:num>
                            <m:den>
                              <m:r>
                                <a:rPr lang="en-US" altLang="zh-CN" b="1" i="1" smtClean="0">
                                  <a:latin typeface="Cambria Math" panose="02040503050406030204" pitchFamily="18" charset="0"/>
                                  <a:cs typeface="Times New Roman" panose="02020603050405020304" pitchFamily="18" charset="0"/>
                                </a:rPr>
                                <m:t>𝒌</m:t>
                              </m:r>
                              <m:r>
                                <a:rPr lang="en-US" altLang="zh-CN" b="1" i="1" smtClean="0">
                                  <a:latin typeface="Cambria Math" panose="02040503050406030204" pitchFamily="18" charset="0"/>
                                  <a:cs typeface="Times New Roman" panose="02020603050405020304" pitchFamily="18" charset="0"/>
                                </a:rPr>
                                <m:t>!</m:t>
                              </m:r>
                              <m:r>
                                <a:rPr lang="zh-CN" altLang="en-US" b="1" i="1" smtClean="0">
                                  <a:latin typeface="Cambria Math" panose="02040503050406030204" pitchFamily="18" charset="0"/>
                                  <a:cs typeface="Times New Roman" panose="02020603050405020304" pitchFamily="18" charset="0"/>
                                </a:rPr>
                                <m:t>𝚪</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𝒓</m:t>
                                  </m:r>
                                </m:e>
                              </m:d>
                            </m:den>
                          </m:f>
                          <m:sSup>
                            <m:sSupPr>
                              <m:ctrlPr>
                                <a:rPr lang="en-US" altLang="zh-CN" b="1" i="1" smtClean="0">
                                  <a:latin typeface="Cambria Math" panose="02040503050406030204" pitchFamily="18" charset="0"/>
                                  <a:cs typeface="Times New Roman" panose="02020603050405020304" pitchFamily="18" charset="0"/>
                                </a:rPr>
                              </m:ctrlPr>
                            </m:sSupPr>
                            <m:e>
                              <m:r>
                                <a:rPr lang="en-US" altLang="zh-CN" b="1" i="1" smtClean="0">
                                  <a:latin typeface="Cambria Math" panose="02040503050406030204" pitchFamily="18" charset="0"/>
                                  <a:cs typeface="Times New Roman" panose="02020603050405020304" pitchFamily="18" charset="0"/>
                                </a:rPr>
                                <m:t>𝒑</m:t>
                              </m:r>
                            </m:e>
                            <m:sup>
                              <m:r>
                                <a:rPr lang="en-US" altLang="zh-CN" b="1" i="1" smtClean="0">
                                  <a:latin typeface="Cambria Math" panose="02040503050406030204" pitchFamily="18" charset="0"/>
                                  <a:cs typeface="Times New Roman" panose="02020603050405020304" pitchFamily="18" charset="0"/>
                                </a:rPr>
                                <m:t>𝒓</m:t>
                              </m:r>
                            </m:sup>
                          </m:sSup>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𝟏</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𝒑</m:t>
                              </m:r>
                            </m:e>
                          </m:d>
                        </m:e>
                        <m:sup>
                          <m:r>
                            <a:rPr lang="en-US" altLang="zh-CN" b="1" i="1" smtClean="0">
                              <a:latin typeface="Cambria Math" panose="02040503050406030204" pitchFamily="18" charset="0"/>
                              <a:cs typeface="Times New Roman" panose="02020603050405020304" pitchFamily="18" charset="0"/>
                            </a:rPr>
                            <m:t>𝒌</m:t>
                          </m:r>
                        </m:sup>
                      </m:sSup>
                    </m:oMath>
                  </m:oMathPara>
                </a14:m>
                <a:endParaRPr lang="zh-CN" altLang="en-US" i="1" dirty="0">
                  <a:latin typeface="Times New Roman" panose="02020603050405020304" pitchFamily="18" charset="0"/>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F7EBDDAB-F69E-4C0F-9894-D2A8D0615BA7}"/>
                  </a:ext>
                </a:extLst>
              </p:cNvPr>
              <p:cNvSpPr txBox="1">
                <a:spLocks noRot="1" noChangeAspect="1" noMove="1" noResize="1" noEditPoints="1" noAdjustHandles="1" noChangeArrowheads="1" noChangeShapeType="1" noTextEdit="1"/>
              </p:cNvSpPr>
              <p:nvPr/>
            </p:nvSpPr>
            <p:spPr>
              <a:xfrm>
                <a:off x="2060773" y="3541540"/>
                <a:ext cx="4728346" cy="89710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3F96C70-AD92-495C-A5BB-FF8E19E627EC}"/>
                  </a:ext>
                </a:extLst>
              </p:cNvPr>
              <p:cNvSpPr txBox="1"/>
              <p:nvPr/>
            </p:nvSpPr>
            <p:spPr>
              <a:xfrm>
                <a:off x="1016876" y="4547858"/>
                <a:ext cx="6554871" cy="882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𝒓</m:t>
                      </m:r>
                      <m:r>
                        <a:rPr lang="en-US" altLang="zh-CN" b="1" i="1" smtClean="0">
                          <a:latin typeface="Cambria Math" panose="02040503050406030204" pitchFamily="18" charset="0"/>
                          <a:ea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num>
                        <m:den>
                          <m:r>
                            <a:rPr lang="en-US" altLang="zh-CN" b="1" i="1" smtClean="0">
                              <a:latin typeface="Cambria Math" panose="02040503050406030204" pitchFamily="18" charset="0"/>
                            </a:rPr>
                            <m:t>𝒑</m:t>
                          </m:r>
                        </m:den>
                      </m:f>
                      <m:r>
                        <a:rPr lang="en-US" altLang="zh-CN" b="1" i="1" smtClean="0">
                          <a:latin typeface="Cambria Math" panose="02040503050406030204" pitchFamily="18" charset="0"/>
                        </a:rPr>
                        <m:t>            </m:t>
                      </m:r>
                      <m:r>
                        <a:rPr lang="en-US" altLang="zh-CN" b="1" i="1" smtClean="0">
                          <a:latin typeface="Cambria Math" panose="02040503050406030204" pitchFamily="18" charset="0"/>
                        </a:rPr>
                        <m:t>𝑽𝒂𝒓</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𝒓</m:t>
                      </m:r>
                      <m:r>
                        <a:rPr lang="en-US" altLang="zh-CN" b="1" i="1" smtClean="0">
                          <a:latin typeface="Cambria Math" panose="02040503050406030204" pitchFamily="18" charset="0"/>
                          <a:ea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num>
                        <m:den>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𝒑</m:t>
                              </m:r>
                            </m:e>
                            <m:sup>
                              <m:r>
                                <a:rPr lang="en-US" altLang="zh-CN" b="1" i="1" smtClean="0">
                                  <a:latin typeface="Cambria Math" panose="02040503050406030204" pitchFamily="18" charset="0"/>
                                </a:rPr>
                                <m:t>𝟐</m:t>
                              </m:r>
                            </m:sup>
                          </m:sSup>
                        </m:den>
                      </m:f>
                    </m:oMath>
                  </m:oMathPara>
                </a14:m>
                <a:endParaRPr lang="zh-CN" altLang="en-US" dirty="0"/>
              </a:p>
            </p:txBody>
          </p:sp>
        </mc:Choice>
        <mc:Fallback xmlns="">
          <p:sp>
            <p:nvSpPr>
              <p:cNvPr id="15" name="文本框 14">
                <a:extLst>
                  <a:ext uri="{FF2B5EF4-FFF2-40B4-BE49-F238E27FC236}">
                    <a16:creationId xmlns:a16="http://schemas.microsoft.com/office/drawing/2014/main" id="{33F96C70-AD92-495C-A5BB-FF8E19E627EC}"/>
                  </a:ext>
                </a:extLst>
              </p:cNvPr>
              <p:cNvSpPr txBox="1">
                <a:spLocks noRot="1" noChangeAspect="1" noMove="1" noResize="1" noEditPoints="1" noAdjustHandles="1" noChangeArrowheads="1" noChangeShapeType="1" noTextEdit="1"/>
              </p:cNvSpPr>
              <p:nvPr/>
            </p:nvSpPr>
            <p:spPr>
              <a:xfrm>
                <a:off x="1016876" y="4547858"/>
                <a:ext cx="6554871" cy="882036"/>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a:extLst>
              <a:ext uri="{FF2B5EF4-FFF2-40B4-BE49-F238E27FC236}">
                <a16:creationId xmlns:a16="http://schemas.microsoft.com/office/drawing/2014/main" id="{F2A6B0D6-32B6-4AF2-BEDB-9B925E4C6224}"/>
              </a:ext>
            </a:extLst>
          </p:cNvPr>
          <p:cNvSpPr>
            <a:spLocks noGrp="1" noChangeArrowheads="1"/>
          </p:cNvSpPr>
          <p:nvPr>
            <p:ph type="title"/>
          </p:nvPr>
        </p:nvSpPr>
        <p:spPr>
          <a:xfrm>
            <a:off x="251520" y="457200"/>
            <a:ext cx="8229600" cy="609600"/>
          </a:xfrm>
        </p:spPr>
        <p:txBody>
          <a:bodyPr anchor="b"/>
          <a:lstStyle/>
          <a:p>
            <a:pPr algn="l"/>
            <a:r>
              <a:rPr lang="en-US" altLang="zh-CN" sz="3600" b="1" dirty="0">
                <a:solidFill>
                  <a:schemeClr val="tx1"/>
                </a:solidFill>
                <a:latin typeface="Times New Roman" panose="02020603050405020304" pitchFamily="18" charset="0"/>
              </a:rPr>
              <a:t>4. </a:t>
            </a:r>
            <a:r>
              <a:rPr lang="zh-CN" altLang="en-US" sz="3600" b="1" dirty="0">
                <a:solidFill>
                  <a:schemeClr val="tx1"/>
                </a:solidFill>
                <a:latin typeface="Times New Roman" panose="02020603050405020304" pitchFamily="18" charset="0"/>
              </a:rPr>
              <a:t>超几何分布</a:t>
            </a:r>
          </a:p>
        </p:txBody>
      </p:sp>
      <p:sp>
        <p:nvSpPr>
          <p:cNvPr id="86021" name="Rectangle 3">
            <a:extLst>
              <a:ext uri="{FF2B5EF4-FFF2-40B4-BE49-F238E27FC236}">
                <a16:creationId xmlns:a16="http://schemas.microsoft.com/office/drawing/2014/main" id="{0342AFC3-30BB-4606-9A27-9DD7C730C86F}"/>
              </a:ext>
            </a:extLst>
          </p:cNvPr>
          <p:cNvSpPr>
            <a:spLocks noGrp="1" noChangeArrowheads="1"/>
          </p:cNvSpPr>
          <p:nvPr>
            <p:ph idx="1"/>
          </p:nvPr>
        </p:nvSpPr>
        <p:spPr>
          <a:xfrm>
            <a:off x="344682" y="1268760"/>
            <a:ext cx="8229600" cy="4495800"/>
          </a:xfrm>
        </p:spPr>
        <p:txBody>
          <a:bodyPr/>
          <a:lstStyle/>
          <a:p>
            <a:pPr marL="0" indent="0">
              <a:lnSpc>
                <a:spcPct val="150000"/>
              </a:lnSpc>
              <a:spcBef>
                <a:spcPts val="0"/>
              </a:spcBef>
              <a:buFontTx/>
              <a:buNone/>
            </a:pPr>
            <a:r>
              <a:rPr lang="zh-CN" altLang="en-US" sz="2800" b="1" dirty="0">
                <a:solidFill>
                  <a:srgbClr val="E313ED"/>
                </a:solidFill>
                <a:latin typeface="Times New Roman" panose="02020603050405020304" pitchFamily="18" charset="0"/>
              </a:rPr>
              <a:t>定义：</a:t>
            </a:r>
            <a:r>
              <a:rPr lang="zh-CN" altLang="en-US" sz="2800" b="1" dirty="0">
                <a:latin typeface="Times New Roman" panose="02020603050405020304" pitchFamily="18" charset="0"/>
              </a:rPr>
              <a:t>在产品质量的不放回抽检中，若</a:t>
            </a:r>
            <a:r>
              <a:rPr lang="en-US" altLang="zh-CN" sz="2800" b="1" i="1" dirty="0">
                <a:latin typeface="Times New Roman" panose="02020603050405020304" pitchFamily="18" charset="0"/>
              </a:rPr>
              <a:t>N</a:t>
            </a:r>
            <a:r>
              <a:rPr lang="zh-CN" altLang="en-US" sz="2800" b="1" dirty="0">
                <a:latin typeface="Times New Roman" panose="02020603050405020304" pitchFamily="18" charset="0"/>
              </a:rPr>
              <a:t>件产品中有</a:t>
            </a:r>
            <a:r>
              <a:rPr lang="en-US" altLang="zh-CN" sz="2800" b="1" i="1" dirty="0">
                <a:latin typeface="Times New Roman" panose="02020603050405020304" pitchFamily="18" charset="0"/>
              </a:rPr>
              <a:t>M</a:t>
            </a:r>
            <a:r>
              <a:rPr lang="zh-CN" altLang="en-US" sz="2800" b="1" dirty="0">
                <a:latin typeface="Times New Roman" panose="02020603050405020304" pitchFamily="18" charset="0"/>
              </a:rPr>
              <a:t>件次品，抽检</a:t>
            </a:r>
            <a:r>
              <a:rPr lang="en-US" altLang="zh-CN" sz="2800" b="1" i="1" dirty="0">
                <a:latin typeface="Times New Roman" panose="02020603050405020304" pitchFamily="18" charset="0"/>
              </a:rPr>
              <a:t>n</a:t>
            </a:r>
            <a:r>
              <a:rPr lang="zh-CN" altLang="en-US" sz="2800" b="1" dirty="0">
                <a:latin typeface="Times New Roman" panose="02020603050405020304" pitchFamily="18" charset="0"/>
              </a:rPr>
              <a:t>件时所得次品数</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k</a:t>
            </a:r>
            <a:r>
              <a:rPr lang="zh-CN" altLang="en-US" sz="2800" b="1" dirty="0">
                <a:latin typeface="Times New Roman" panose="02020603050405020304" pitchFamily="18" charset="0"/>
              </a:rPr>
              <a:t>，是一个随机变量： </a:t>
            </a:r>
          </a:p>
          <a:p>
            <a:pPr marL="0" indent="0">
              <a:lnSpc>
                <a:spcPct val="150000"/>
              </a:lnSpc>
              <a:spcBef>
                <a:spcPts val="0"/>
              </a:spcBef>
              <a:buFontTx/>
              <a:buNone/>
            </a:pPr>
            <a:endParaRPr lang="zh-CN" altLang="en-US" sz="2800" b="1" dirty="0">
              <a:latin typeface="Times New Roman" panose="02020603050405020304" pitchFamily="18" charset="0"/>
            </a:endParaRPr>
          </a:p>
          <a:p>
            <a:pPr marL="0" indent="0">
              <a:lnSpc>
                <a:spcPct val="150000"/>
              </a:lnSpc>
              <a:spcBef>
                <a:spcPts val="0"/>
              </a:spcBef>
              <a:buFontTx/>
              <a:buNone/>
            </a:pPr>
            <a:endParaRPr lang="zh-CN" altLang="en-US" sz="2800" b="1" dirty="0">
              <a:latin typeface="Times New Roman" panose="02020603050405020304" pitchFamily="18" charset="0"/>
            </a:endParaRPr>
          </a:p>
          <a:p>
            <a:pPr marL="0" indent="0">
              <a:lnSpc>
                <a:spcPct val="150000"/>
              </a:lnSpc>
              <a:spcBef>
                <a:spcPts val="0"/>
              </a:spcBef>
              <a:buFontTx/>
              <a:buNone/>
            </a:pPr>
            <a:endParaRPr lang="zh-CN" altLang="en-US" sz="2800" b="1" dirty="0">
              <a:latin typeface="Times New Roman" panose="02020603050405020304" pitchFamily="18" charset="0"/>
            </a:endParaRPr>
          </a:p>
          <a:p>
            <a:pPr marL="0" indent="0">
              <a:lnSpc>
                <a:spcPct val="150000"/>
              </a:lnSpc>
              <a:spcBef>
                <a:spcPts val="0"/>
              </a:spcBef>
              <a:buFontTx/>
              <a:buNone/>
            </a:pPr>
            <a:r>
              <a:rPr lang="zh-CN" altLang="en-US" sz="2800" b="1" dirty="0">
                <a:solidFill>
                  <a:srgbClr val="E313ED"/>
                </a:solidFill>
                <a:latin typeface="Times New Roman" panose="02020603050405020304" pitchFamily="18" charset="0"/>
              </a:rPr>
              <a:t>应用：</a:t>
            </a:r>
            <a:r>
              <a:rPr lang="zh-CN" altLang="en-US" sz="2800" b="1" dirty="0">
                <a:latin typeface="Times New Roman" panose="02020603050405020304" pitchFamily="18" charset="0"/>
              </a:rPr>
              <a:t>产品质量检测等。</a:t>
            </a:r>
            <a:endParaRPr lang="en-US" altLang="zh-CN" sz="2800" b="1"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94D55B6-D368-4915-970A-EAE5A4F4A20B}"/>
                  </a:ext>
                </a:extLst>
              </p:cNvPr>
              <p:cNvSpPr txBox="1"/>
              <p:nvPr/>
            </p:nvSpPr>
            <p:spPr>
              <a:xfrm>
                <a:off x="1907704" y="2884235"/>
                <a:ext cx="5941178" cy="1089529"/>
              </a:xfrm>
              <a:prstGeom prst="rect">
                <a:avLst/>
              </a:prstGeom>
              <a:noFill/>
            </p:spPr>
            <p:txBody>
              <a:bodyPr wrap="none" lIns="0" tIns="0" rIns="0" bIns="0" rtlCol="0">
                <a:spAutoFit/>
              </a:bodyPr>
              <a:lstStyle/>
              <a:p>
                <a14:m>
                  <m:oMath xmlns:m="http://schemas.openxmlformats.org/officeDocument/2006/math">
                    <m:r>
                      <a:rPr lang="en-US" altLang="zh-CN" b="1" i="1" smtClean="0">
                        <a:latin typeface="Cambria Math" panose="02040503050406030204" pitchFamily="18" charset="0"/>
                        <a:cs typeface="Times New Roman" panose="02020603050405020304" pitchFamily="18" charset="0"/>
                      </a:rPr>
                      <m:t>𝑷</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𝑿</m:t>
                        </m:r>
                        <m:r>
                          <a:rPr lang="en-US" altLang="zh-CN" i="1">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𝒌</m:t>
                        </m:r>
                      </m:e>
                    </m:d>
                    <m:r>
                      <a:rPr lang="en-US" altLang="zh-CN" b="1" i="1" smtClean="0">
                        <a:latin typeface="Cambria Math" panose="02040503050406030204" pitchFamily="18" charset="0"/>
                        <a:cs typeface="Times New Roman" panose="02020603050405020304" pitchFamily="18" charset="0"/>
                      </a:rPr>
                      <m:t>=</m:t>
                    </m:r>
                  </m:oMath>
                </a14:m>
                <a:r>
                  <a:rPr lang="en-US" altLang="zh-CN" dirty="0">
                    <a:cs typeface="Times New Roman" panose="02020603050405020304" pitchFamily="18" charset="0"/>
                  </a:rPr>
                  <a:t> </a:t>
                </a:r>
                <a14:m>
                  <m:oMath xmlns:m="http://schemas.openxmlformats.org/officeDocument/2006/math">
                    <m:f>
                      <m:fPr>
                        <m:ctrlPr>
                          <a:rPr lang="en-US" altLang="zh-CN" i="1">
                            <a:latin typeface="Cambria Math" panose="02040503050406030204" pitchFamily="18" charset="0"/>
                            <a:cs typeface="Times New Roman" panose="02020603050405020304" pitchFamily="18" charset="0"/>
                          </a:rPr>
                        </m:ctrlPr>
                      </m:fPr>
                      <m:num>
                        <m:d>
                          <m:dPr>
                            <m:ctrlPr>
                              <a:rPr lang="en-US" altLang="zh-CN" i="1">
                                <a:latin typeface="Cambria Math" panose="02040503050406030204" pitchFamily="18" charset="0"/>
                                <a:cs typeface="Times New Roman" panose="02020603050405020304" pitchFamily="18" charset="0"/>
                              </a:rPr>
                            </m:ctrlPr>
                          </m:dPr>
                          <m:e>
                            <m:m>
                              <m:mPr>
                                <m:mcs>
                                  <m:mc>
                                    <m:mcPr>
                                      <m:count m:val="1"/>
                                      <m:mcJc m:val="center"/>
                                    </m:mcPr>
                                  </m:mc>
                                </m:mcs>
                                <m:ctrlPr>
                                  <a:rPr lang="en-US" altLang="zh-CN" i="1">
                                    <a:latin typeface="Cambria Math" panose="02040503050406030204" pitchFamily="18" charset="0"/>
                                    <a:cs typeface="Times New Roman" panose="02020603050405020304" pitchFamily="18" charset="0"/>
                                  </a:rPr>
                                </m:ctrlPr>
                              </m:mPr>
                              <m:mr>
                                <m:e>
                                  <m:r>
                                    <m:rPr>
                                      <m:brk m:alnAt="7"/>
                                    </m:rPr>
                                    <a:rPr lang="en-US" altLang="zh-CN" i="1">
                                      <a:latin typeface="Cambria Math" panose="02040503050406030204" pitchFamily="18" charset="0"/>
                                      <a:cs typeface="Times New Roman" panose="02020603050405020304" pitchFamily="18" charset="0"/>
                                    </a:rPr>
                                    <m:t>𝑴</m:t>
                                  </m:r>
                                </m:e>
                              </m:mr>
                              <m:mr>
                                <m:e>
                                  <m:r>
                                    <a:rPr lang="en-US" altLang="zh-CN" i="1">
                                      <a:latin typeface="Cambria Math" panose="02040503050406030204" pitchFamily="18" charset="0"/>
                                      <a:cs typeface="Times New Roman" panose="02020603050405020304" pitchFamily="18" charset="0"/>
                                    </a:rPr>
                                    <m:t>𝒌</m:t>
                                  </m:r>
                                </m:e>
                              </m:mr>
                            </m:m>
                          </m:e>
                        </m:d>
                        <m:r>
                          <a:rPr lang="en-US" altLang="zh-CN"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US" altLang="zh-CN" i="1">
                                      <a:latin typeface="Cambria Math" panose="02040503050406030204" pitchFamily="18" charset="0"/>
                                      <a:ea typeface="Cambria Math" panose="02040503050406030204" pitchFamily="18" charset="0"/>
                                      <a:cs typeface="Times New Roman" panose="02020603050405020304" pitchFamily="18" charset="0"/>
                                    </a:rPr>
                                    <m:t>𝑵</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𝑴</m:t>
                                  </m:r>
                                </m:e>
                              </m:mr>
                              <m:mr>
                                <m:e>
                                  <m:r>
                                    <a:rPr lang="en-US" altLang="zh-CN" i="1">
                                      <a:latin typeface="Cambria Math" panose="02040503050406030204" pitchFamily="18" charset="0"/>
                                      <a:ea typeface="Cambria Math" panose="02040503050406030204" pitchFamily="18" charset="0"/>
                                      <a:cs typeface="Times New Roman" panose="02020603050405020304" pitchFamily="18" charset="0"/>
                                    </a:rPr>
                                    <m:t>𝒏</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𝒌</m:t>
                                  </m:r>
                                </m:e>
                              </m:mr>
                            </m:m>
                          </m:e>
                        </m:d>
                      </m:num>
                      <m:den>
                        <m:d>
                          <m:dPr>
                            <m:ctrlPr>
                              <a:rPr lang="en-US" altLang="zh-CN" i="1" smtClea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US" altLang="zh-CN" i="1" smtClean="0">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𝑵</m:t>
                                  </m:r>
                                </m:e>
                              </m:mr>
                              <m:mr>
                                <m:e>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𝒏</m:t>
                                  </m:r>
                                </m:e>
                              </m:mr>
                            </m:m>
                          </m:e>
                        </m:d>
                      </m:den>
                    </m:f>
                  </m:oMath>
                </a14:m>
                <a:r>
                  <a:rPr lang="zh-CN" altLang="en-US" i="1"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k </a:t>
                </a:r>
                <a:r>
                  <a:rPr lang="en-US" altLang="zh-CN" dirty="0">
                    <a:latin typeface="Times New Roman" panose="02020603050405020304" pitchFamily="18" charset="0"/>
                    <a:cs typeface="Times New Roman" panose="02020603050405020304" pitchFamily="18" charset="0"/>
                  </a:rPr>
                  <a:t>=1, 2, …</a:t>
                </a:r>
                <a:endParaRPr lang="zh-CN" altLang="en-US" i="1"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194D55B6-D368-4915-970A-EAE5A4F4A20B}"/>
                  </a:ext>
                </a:extLst>
              </p:cNvPr>
              <p:cNvSpPr txBox="1">
                <a:spLocks noRot="1" noChangeAspect="1" noMove="1" noResize="1" noEditPoints="1" noAdjustHandles="1" noChangeArrowheads="1" noChangeShapeType="1" noTextEdit="1"/>
              </p:cNvSpPr>
              <p:nvPr/>
            </p:nvSpPr>
            <p:spPr>
              <a:xfrm>
                <a:off x="1907704" y="2884235"/>
                <a:ext cx="5941178" cy="1089529"/>
              </a:xfrm>
              <a:prstGeom prst="rect">
                <a:avLst/>
              </a:prstGeom>
              <a:blipFill>
                <a:blip r:embed="rId2"/>
                <a:stretch>
                  <a:fillRect r="-2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0E2C1BD-2E08-4E6B-8EF6-B5A1A8709A23}"/>
                  </a:ext>
                </a:extLst>
              </p:cNvPr>
              <p:cNvSpPr txBox="1"/>
              <p:nvPr/>
            </p:nvSpPr>
            <p:spPr>
              <a:xfrm>
                <a:off x="686225" y="4125136"/>
                <a:ext cx="7888057" cy="9681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𝒏𝑴</m:t>
                          </m:r>
                        </m:num>
                        <m:den>
                          <m:r>
                            <a:rPr lang="en-US" altLang="zh-CN" b="1" i="1" smtClean="0">
                              <a:latin typeface="Cambria Math" panose="02040503050406030204" pitchFamily="18" charset="0"/>
                            </a:rPr>
                            <m:t>𝑵</m:t>
                          </m:r>
                        </m:den>
                      </m:f>
                      <m:r>
                        <a:rPr lang="en-US" altLang="zh-CN" b="1" i="1" smtClean="0">
                          <a:latin typeface="Cambria Math" panose="02040503050406030204" pitchFamily="18" charset="0"/>
                        </a:rPr>
                        <m:t>            </m:t>
                      </m:r>
                      <m:r>
                        <a:rPr lang="en-US" altLang="zh-CN" b="1" i="1" smtClean="0">
                          <a:latin typeface="Cambria Math" panose="02040503050406030204" pitchFamily="18" charset="0"/>
                        </a:rPr>
                        <m:t>𝑽𝒂𝒓</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𝒏𝑴</m:t>
                          </m:r>
                        </m:num>
                        <m:den>
                          <m:r>
                            <a:rPr lang="en-US" altLang="zh-CN" b="1" i="1" smtClean="0">
                              <a:latin typeface="Cambria Math" panose="02040503050406030204" pitchFamily="18" charset="0"/>
                            </a:rPr>
                            <m:t>𝑵</m:t>
                          </m:r>
                        </m:den>
                      </m:f>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𝑴</m:t>
                              </m:r>
                            </m:num>
                            <m:den>
                              <m:r>
                                <a:rPr lang="en-US" altLang="zh-CN" b="1" i="1" smtClean="0">
                                  <a:latin typeface="Cambria Math" panose="02040503050406030204" pitchFamily="18" charset="0"/>
                                </a:rPr>
                                <m:t>𝑵</m:t>
                              </m:r>
                            </m:den>
                          </m:f>
                        </m:e>
                      </m:d>
                      <m:d>
                        <m:dPr>
                          <m:ctrlPr>
                            <a:rPr lang="en-US" altLang="zh-CN" b="1" i="1" smtClean="0">
                              <a:latin typeface="Cambria Math" panose="02040503050406030204" pitchFamily="18" charset="0"/>
                            </a:rPr>
                          </m:ctrlPr>
                        </m:d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𝑵</m:t>
                              </m:r>
                              <m:r>
                                <a:rPr lang="en-US" altLang="zh-CN" b="1" i="1" smtClean="0">
                                  <a:latin typeface="Cambria Math" panose="02040503050406030204" pitchFamily="18" charset="0"/>
                                </a:rPr>
                                <m:t>−</m:t>
                              </m:r>
                              <m:r>
                                <a:rPr lang="en-US" altLang="zh-CN" b="1" i="1" smtClean="0">
                                  <a:latin typeface="Cambria Math" panose="02040503050406030204" pitchFamily="18" charset="0"/>
                                </a:rPr>
                                <m:t>𝒏</m:t>
                              </m:r>
                            </m:num>
                            <m:den>
                              <m:r>
                                <a:rPr lang="en-US" altLang="zh-CN" b="1" i="1" smtClean="0">
                                  <a:latin typeface="Cambria Math" panose="02040503050406030204" pitchFamily="18" charset="0"/>
                                </a:rPr>
                                <m:t>𝑵</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den>
                          </m:f>
                        </m:e>
                      </m:d>
                    </m:oMath>
                  </m:oMathPara>
                </a14:m>
                <a:endParaRPr lang="zh-CN" altLang="en-US" dirty="0"/>
              </a:p>
            </p:txBody>
          </p:sp>
        </mc:Choice>
        <mc:Fallback xmlns="">
          <p:sp>
            <p:nvSpPr>
              <p:cNvPr id="9" name="文本框 8">
                <a:extLst>
                  <a:ext uri="{FF2B5EF4-FFF2-40B4-BE49-F238E27FC236}">
                    <a16:creationId xmlns:a16="http://schemas.microsoft.com/office/drawing/2014/main" id="{50E2C1BD-2E08-4E6B-8EF6-B5A1A8709A23}"/>
                  </a:ext>
                </a:extLst>
              </p:cNvPr>
              <p:cNvSpPr txBox="1">
                <a:spLocks noRot="1" noChangeAspect="1" noMove="1" noResize="1" noEditPoints="1" noAdjustHandles="1" noChangeArrowheads="1" noChangeShapeType="1" noTextEdit="1"/>
              </p:cNvSpPr>
              <p:nvPr/>
            </p:nvSpPr>
            <p:spPr>
              <a:xfrm>
                <a:off x="686225" y="4125136"/>
                <a:ext cx="7888057" cy="968150"/>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2">
            <a:extLst>
              <a:ext uri="{FF2B5EF4-FFF2-40B4-BE49-F238E27FC236}">
                <a16:creationId xmlns:a16="http://schemas.microsoft.com/office/drawing/2014/main" id="{FDC765A6-B601-4314-8B2E-481DC07BC8DD}"/>
              </a:ext>
            </a:extLst>
          </p:cNvPr>
          <p:cNvSpPr>
            <a:spLocks noGrp="1" noChangeArrowheads="1"/>
          </p:cNvSpPr>
          <p:nvPr>
            <p:ph type="title"/>
          </p:nvPr>
        </p:nvSpPr>
        <p:spPr>
          <a:xfrm>
            <a:off x="251520" y="648816"/>
            <a:ext cx="8229600" cy="609600"/>
          </a:xfrm>
        </p:spPr>
        <p:txBody>
          <a:bodyPr anchor="b"/>
          <a:lstStyle/>
          <a:p>
            <a:pPr algn="l"/>
            <a:r>
              <a:rPr lang="en-US" altLang="zh-CN" sz="3600" b="1" dirty="0">
                <a:solidFill>
                  <a:schemeClr val="tx1"/>
                </a:solidFill>
                <a:latin typeface="Times New Roman" panose="02020603050405020304" pitchFamily="18" charset="0"/>
              </a:rPr>
              <a:t>5. </a:t>
            </a:r>
            <a:r>
              <a:rPr lang="zh-CN" altLang="en-US" sz="3600" b="1" dirty="0">
                <a:solidFill>
                  <a:schemeClr val="tx1"/>
                </a:solidFill>
                <a:latin typeface="Times New Roman" panose="02020603050405020304" pitchFamily="18" charset="0"/>
              </a:rPr>
              <a:t>泊松分布（</a:t>
            </a:r>
            <a:r>
              <a:rPr lang="en-US" altLang="zh-CN" sz="3600" b="1" dirty="0">
                <a:solidFill>
                  <a:schemeClr val="tx1"/>
                </a:solidFill>
                <a:latin typeface="Times New Roman" panose="02020603050405020304" pitchFamily="18" charset="0"/>
              </a:rPr>
              <a:t>Poisson distribution</a:t>
            </a:r>
            <a:r>
              <a:rPr lang="zh-CN" altLang="en-US" sz="3600" b="1" dirty="0">
                <a:solidFill>
                  <a:schemeClr val="tx1"/>
                </a:solidFill>
                <a:latin typeface="Times New Roman" panose="02020603050405020304" pitchFamily="18" charset="0"/>
              </a:rPr>
              <a:t>） </a:t>
            </a:r>
          </a:p>
        </p:txBody>
      </p:sp>
      <p:sp>
        <p:nvSpPr>
          <p:cNvPr id="87045" name="Rectangle 3">
            <a:extLst>
              <a:ext uri="{FF2B5EF4-FFF2-40B4-BE49-F238E27FC236}">
                <a16:creationId xmlns:a16="http://schemas.microsoft.com/office/drawing/2014/main" id="{1C8614B5-CE69-4376-9752-6D983B3AC5F1}"/>
              </a:ext>
            </a:extLst>
          </p:cNvPr>
          <p:cNvSpPr>
            <a:spLocks noGrp="1" noChangeArrowheads="1"/>
          </p:cNvSpPr>
          <p:nvPr>
            <p:ph idx="1"/>
          </p:nvPr>
        </p:nvSpPr>
        <p:spPr/>
        <p:txBody>
          <a:bodyPr/>
          <a:lstStyle/>
          <a:p>
            <a:pPr marL="20638" indent="-20638">
              <a:lnSpc>
                <a:spcPct val="150000"/>
              </a:lnSpc>
              <a:spcBef>
                <a:spcPts val="0"/>
              </a:spcBef>
              <a:buFontTx/>
              <a:buNone/>
            </a:pPr>
            <a:r>
              <a:rPr lang="zh-CN" altLang="en-US" sz="2400" b="1" dirty="0">
                <a:solidFill>
                  <a:srgbClr val="E313ED"/>
                </a:solidFill>
                <a:latin typeface="Times New Roman" panose="02020603050405020304" pitchFamily="18" charset="0"/>
              </a:rPr>
              <a:t>应用：</a:t>
            </a:r>
            <a:r>
              <a:rPr lang="zh-CN" altLang="en-US" sz="2400" b="1" dirty="0">
                <a:latin typeface="Times New Roman" panose="02020603050405020304" pitchFamily="18" charset="0"/>
              </a:rPr>
              <a:t>泊松分布适合于描述单位时间（或空间）内随机事件发生的次数。如某一服务设施在一定时间内到达的人数，电话交换机接到呼叫的次数，汽车站台的候客人数，机器出现的故障数，自然灾害发生的次数，一块产品上的缺陷陷数，显微镜下单位分区内的细菌分布数等。 </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E2ADF1D-914B-4377-86D1-083AD04F9377}"/>
                  </a:ext>
                </a:extLst>
              </p:cNvPr>
              <p:cNvSpPr txBox="1"/>
              <p:nvPr/>
            </p:nvSpPr>
            <p:spPr>
              <a:xfrm>
                <a:off x="1825637" y="4454042"/>
                <a:ext cx="5213222" cy="690574"/>
              </a:xfrm>
              <a:prstGeom prst="rect">
                <a:avLst/>
              </a:prstGeom>
              <a:noFill/>
            </p:spPr>
            <p:txBody>
              <a:bodyPr wrap="none" lIns="0" tIns="0" rIns="0" bIns="0" rtlCol="0">
                <a:spAutoFit/>
              </a:bodyPr>
              <a:lstStyle/>
              <a:p>
                <a14:m>
                  <m:oMath xmlns:m="http://schemas.openxmlformats.org/officeDocument/2006/math">
                    <m:r>
                      <a:rPr lang="en-US" altLang="zh-CN" b="1" i="1" smtClean="0">
                        <a:latin typeface="Cambria Math" panose="02040503050406030204" pitchFamily="18" charset="0"/>
                        <a:cs typeface="Times New Roman" panose="02020603050405020304" pitchFamily="18" charset="0"/>
                      </a:rPr>
                      <m:t>𝑷</m:t>
                    </m:r>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𝑿</m:t>
                        </m:r>
                        <m:r>
                          <a:rPr lang="en-US" altLang="zh-CN" i="1">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𝒌</m:t>
                        </m:r>
                      </m:e>
                    </m:d>
                    <m:r>
                      <a:rPr lang="en-US" altLang="zh-CN" b="1" i="1" smtClean="0">
                        <a:latin typeface="Cambria Math" panose="02040503050406030204" pitchFamily="18" charset="0"/>
                        <a:cs typeface="Times New Roman" panose="02020603050405020304" pitchFamily="18" charset="0"/>
                      </a:rPr>
                      <m:t>=</m:t>
                    </m:r>
                  </m:oMath>
                </a14:m>
                <a:r>
                  <a:rPr lang="en-US" altLang="zh-CN" dirty="0">
                    <a:cs typeface="Times New Roman" panose="02020603050405020304" pitchFamily="18" charset="0"/>
                  </a:rPr>
                  <a:t> </a:t>
                </a:r>
                <a14:m>
                  <m:oMath xmlns:m="http://schemas.openxmlformats.org/officeDocument/2006/math">
                    <m:f>
                      <m:fPr>
                        <m:ctrlPr>
                          <a:rPr lang="en-US" altLang="zh-CN" i="1">
                            <a:latin typeface="Cambria Math" panose="02040503050406030204" pitchFamily="18" charset="0"/>
                            <a:cs typeface="Times New Roman" panose="02020603050405020304" pitchFamily="18" charset="0"/>
                          </a:rPr>
                        </m:ctrlPr>
                      </m:fPr>
                      <m:num>
                        <m:sSup>
                          <m:sSupPr>
                            <m:ctrlPr>
                              <a:rPr lang="en-US" altLang="zh-CN" i="1" smtClean="0">
                                <a:latin typeface="Cambria Math" panose="02040503050406030204" pitchFamily="18" charset="0"/>
                                <a:cs typeface="Times New Roman" panose="02020603050405020304" pitchFamily="18" charset="0"/>
                              </a:rPr>
                            </m:ctrlPr>
                          </m:sSupPr>
                          <m:e>
                            <m:r>
                              <a:rPr lang="en-US" altLang="zh-CN" b="1" i="1" smtClean="0">
                                <a:latin typeface="Cambria Math" panose="02040503050406030204" pitchFamily="18" charset="0"/>
                                <a:cs typeface="Times New Roman" panose="02020603050405020304" pitchFamily="18" charset="0"/>
                              </a:rPr>
                              <m:t>𝒆</m:t>
                            </m:r>
                          </m:e>
                          <m:sup>
                            <m:r>
                              <a:rPr lang="en-US" altLang="zh-CN" b="1" i="1" smtClean="0">
                                <a:latin typeface="Cambria Math" panose="02040503050406030204" pitchFamily="18" charset="0"/>
                                <a:cs typeface="Times New Roman" panose="02020603050405020304" pitchFamily="18" charset="0"/>
                              </a:rPr>
                              <m:t>−</m:t>
                            </m:r>
                            <m:r>
                              <a:rPr lang="zh-CN" altLang="en-US" b="1" i="1" smtClean="0">
                                <a:latin typeface="Cambria Math" panose="02040503050406030204" pitchFamily="18" charset="0"/>
                                <a:cs typeface="Times New Roman" panose="02020603050405020304" pitchFamily="18" charset="0"/>
                              </a:rPr>
                              <m:t>𝝀</m:t>
                            </m:r>
                          </m:sup>
                        </m:sSup>
                        <m:sSup>
                          <m:sSupPr>
                            <m:ctrlPr>
                              <a:rPr lang="en-US" altLang="zh-CN" i="1" smtClean="0">
                                <a:latin typeface="Cambria Math" panose="02040503050406030204" pitchFamily="18" charset="0"/>
                                <a:cs typeface="Times New Roman" panose="02020603050405020304" pitchFamily="18" charset="0"/>
                              </a:rPr>
                            </m:ctrlPr>
                          </m:sSupPr>
                          <m:e>
                            <m:r>
                              <a:rPr lang="zh-CN" altLang="en-US" i="1" smtClean="0">
                                <a:latin typeface="Cambria Math" panose="02040503050406030204" pitchFamily="18" charset="0"/>
                                <a:cs typeface="Times New Roman" panose="02020603050405020304" pitchFamily="18" charset="0"/>
                              </a:rPr>
                              <m:t>𝝀</m:t>
                            </m:r>
                          </m:e>
                          <m:sup>
                            <m:r>
                              <a:rPr lang="en-US" altLang="zh-CN" b="1" i="1" smtClean="0">
                                <a:latin typeface="Cambria Math" panose="02040503050406030204" pitchFamily="18" charset="0"/>
                                <a:cs typeface="Times New Roman" panose="02020603050405020304" pitchFamily="18" charset="0"/>
                              </a:rPr>
                              <m:t>𝒌</m:t>
                            </m:r>
                          </m:sup>
                        </m:sSup>
                      </m:num>
                      <m:den>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m:t>
                        </m:r>
                      </m:den>
                    </m:f>
                  </m:oMath>
                </a14:m>
                <a:r>
                  <a:rPr lang="zh-CN" altLang="en-US" i="1"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k </a:t>
                </a:r>
                <a:r>
                  <a:rPr lang="en-US" altLang="zh-CN" dirty="0">
                    <a:latin typeface="Times New Roman" panose="02020603050405020304" pitchFamily="18" charset="0"/>
                    <a:cs typeface="Times New Roman" panose="02020603050405020304" pitchFamily="18" charset="0"/>
                  </a:rPr>
                  <a:t>=1, 2, …</a:t>
                </a:r>
                <a:endParaRPr lang="zh-CN" altLang="en-US" i="1" dirty="0">
                  <a:latin typeface="Times New Roman" panose="02020603050405020304" pitchFamily="18" charset="0"/>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CE2ADF1D-914B-4377-86D1-083AD04F9377}"/>
                  </a:ext>
                </a:extLst>
              </p:cNvPr>
              <p:cNvSpPr txBox="1">
                <a:spLocks noRot="1" noChangeAspect="1" noMove="1" noResize="1" noEditPoints="1" noAdjustHandles="1" noChangeArrowheads="1" noChangeShapeType="1" noTextEdit="1"/>
              </p:cNvSpPr>
              <p:nvPr/>
            </p:nvSpPr>
            <p:spPr>
              <a:xfrm>
                <a:off x="1825637" y="4454042"/>
                <a:ext cx="5213222" cy="690574"/>
              </a:xfrm>
              <a:prstGeom prst="rect">
                <a:avLst/>
              </a:prstGeom>
              <a:blipFill>
                <a:blip r:embed="rId2"/>
                <a:stretch>
                  <a:fillRect r="-3037" b="-168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E38F709-252E-4317-BD03-F89E8FC16C6D}"/>
                  </a:ext>
                </a:extLst>
              </p:cNvPr>
              <p:cNvSpPr txBox="1"/>
              <p:nvPr/>
            </p:nvSpPr>
            <p:spPr>
              <a:xfrm>
                <a:off x="2339752" y="5373216"/>
                <a:ext cx="418499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𝑬</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r>
                        <a:rPr lang="zh-CN" altLang="en-US" b="1" i="1" smtClean="0">
                          <a:latin typeface="Cambria Math" panose="02040503050406030204" pitchFamily="18" charset="0"/>
                        </a:rPr>
                        <m:t>𝝀</m:t>
                      </m:r>
                      <m:r>
                        <a:rPr lang="en-US" altLang="zh-CN" b="1" i="1" smtClean="0">
                          <a:latin typeface="Cambria Math" panose="02040503050406030204" pitchFamily="18" charset="0"/>
                        </a:rPr>
                        <m:t>           </m:t>
                      </m:r>
                      <m:r>
                        <a:rPr lang="en-US" altLang="zh-CN" b="1" i="1" smtClean="0">
                          <a:latin typeface="Cambria Math" panose="02040503050406030204" pitchFamily="18" charset="0"/>
                        </a:rPr>
                        <m:t>𝑽𝒂𝒓</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𝑿</m:t>
                          </m:r>
                        </m:e>
                      </m:d>
                      <m:r>
                        <a:rPr lang="en-US" altLang="zh-CN" b="1" i="1" smtClean="0">
                          <a:latin typeface="Cambria Math" panose="02040503050406030204" pitchFamily="18" charset="0"/>
                        </a:rPr>
                        <m:t>=</m:t>
                      </m:r>
                      <m:r>
                        <a:rPr lang="zh-CN" altLang="en-US" b="1" i="1" smtClean="0">
                          <a:latin typeface="Cambria Math" panose="02040503050406030204" pitchFamily="18" charset="0"/>
                        </a:rPr>
                        <m:t>𝝀</m:t>
                      </m:r>
                    </m:oMath>
                  </m:oMathPara>
                </a14:m>
                <a:endParaRPr lang="zh-CN" altLang="en-US" dirty="0"/>
              </a:p>
            </p:txBody>
          </p:sp>
        </mc:Choice>
        <mc:Fallback xmlns="">
          <p:sp>
            <p:nvSpPr>
              <p:cNvPr id="11" name="文本框 10">
                <a:extLst>
                  <a:ext uri="{FF2B5EF4-FFF2-40B4-BE49-F238E27FC236}">
                    <a16:creationId xmlns:a16="http://schemas.microsoft.com/office/drawing/2014/main" id="{BE38F709-252E-4317-BD03-F89E8FC16C6D}"/>
                  </a:ext>
                </a:extLst>
              </p:cNvPr>
              <p:cNvSpPr txBox="1">
                <a:spLocks noRot="1" noChangeAspect="1" noMove="1" noResize="1" noEditPoints="1" noAdjustHandles="1" noChangeArrowheads="1" noChangeShapeType="1" noTextEdit="1"/>
              </p:cNvSpPr>
              <p:nvPr/>
            </p:nvSpPr>
            <p:spPr>
              <a:xfrm>
                <a:off x="2339752" y="5373216"/>
                <a:ext cx="4184992" cy="430887"/>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extLst>
              <a:ext uri="{FF2B5EF4-FFF2-40B4-BE49-F238E27FC236}">
                <a16:creationId xmlns:a16="http://schemas.microsoft.com/office/drawing/2014/main" id="{FD8784BD-459C-40D0-949C-F1B6F698254B}"/>
              </a:ext>
            </a:extLst>
          </p:cNvPr>
          <p:cNvSpPr txBox="1">
            <a:spLocks noChangeArrowheads="1"/>
          </p:cNvSpPr>
          <p:nvPr/>
        </p:nvSpPr>
        <p:spPr bwMode="auto">
          <a:xfrm>
            <a:off x="250825" y="549275"/>
            <a:ext cx="78597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rgbClr val="996633"/>
              </a:buClr>
              <a:buFont typeface="Wingdings" panose="05000000000000000000" pitchFamily="2" charset="2"/>
              <a:buNone/>
            </a:pPr>
            <a:r>
              <a:rPr lang="zh-CN" altLang="en-US" sz="3600">
                <a:solidFill>
                  <a:srgbClr val="E313ED"/>
                </a:solidFill>
              </a:rPr>
              <a:t>三、连续型随机变量、概率密度函数</a:t>
            </a:r>
          </a:p>
        </p:txBody>
      </p:sp>
      <p:sp>
        <p:nvSpPr>
          <p:cNvPr id="81923" name="Text Box 3">
            <a:extLst>
              <a:ext uri="{FF2B5EF4-FFF2-40B4-BE49-F238E27FC236}">
                <a16:creationId xmlns:a16="http://schemas.microsoft.com/office/drawing/2014/main" id="{2B217742-1194-4DF3-8073-EF05F47E1F29}"/>
              </a:ext>
            </a:extLst>
          </p:cNvPr>
          <p:cNvSpPr txBox="1">
            <a:spLocks noChangeArrowheads="1"/>
          </p:cNvSpPr>
          <p:nvPr/>
        </p:nvSpPr>
        <p:spPr bwMode="auto">
          <a:xfrm>
            <a:off x="428625" y="1412776"/>
            <a:ext cx="8286750" cy="38885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ts val="0"/>
              </a:spcBef>
              <a:spcAft>
                <a:spcPts val="0"/>
              </a:spcAft>
            </a:pPr>
            <a:r>
              <a:rPr kumimoji="1" lang="en-US" altLang="zh-CN" dirty="0">
                <a:latin typeface="Times New Roman" panose="02020603050405020304" pitchFamily="18" charset="0"/>
              </a:rPr>
              <a:t>        </a:t>
            </a:r>
            <a:r>
              <a:rPr kumimoji="1" lang="zh-CN" altLang="en-US" dirty="0">
                <a:latin typeface="Times New Roman" panose="02020603050405020304" pitchFamily="18" charset="0"/>
              </a:rPr>
              <a:t>如果对于随机变量</a:t>
            </a:r>
            <a:r>
              <a:rPr kumimoji="1" lang="en-US" altLang="zh-CN" i="1" dirty="0">
                <a:latin typeface="Times New Roman" panose="02020603050405020304" pitchFamily="18" charset="0"/>
              </a:rPr>
              <a:t>X</a:t>
            </a:r>
            <a:r>
              <a:rPr kumimoji="1" lang="zh-CN" altLang="en-US" dirty="0">
                <a:latin typeface="Times New Roman" panose="02020603050405020304" pitchFamily="18" charset="0"/>
              </a:rPr>
              <a:t>的分布函数</a:t>
            </a:r>
            <a:r>
              <a:rPr kumimoji="1" lang="en-US" altLang="zh-CN" i="1" dirty="0">
                <a:latin typeface="Times New Roman" panose="02020603050405020304" pitchFamily="18" charset="0"/>
              </a:rPr>
              <a:t>F</a:t>
            </a:r>
            <a:r>
              <a:rPr kumimoji="1" lang="en-US" altLang="zh-CN" dirty="0">
                <a:latin typeface="Times New Roman" panose="02020603050405020304" pitchFamily="18" charset="0"/>
              </a:rPr>
              <a:t>(</a:t>
            </a:r>
            <a:r>
              <a:rPr kumimoji="1" lang="en-US" altLang="zh-CN" i="1" dirty="0">
                <a:latin typeface="Times New Roman" panose="02020603050405020304" pitchFamily="18" charset="0"/>
              </a:rPr>
              <a:t>x</a:t>
            </a:r>
            <a:r>
              <a:rPr kumimoji="1" lang="en-US" altLang="zh-CN" dirty="0">
                <a:latin typeface="Times New Roman" panose="02020603050405020304" pitchFamily="18" charset="0"/>
              </a:rPr>
              <a:t>)</a:t>
            </a:r>
            <a:r>
              <a:rPr kumimoji="1" lang="zh-CN" altLang="en-US" dirty="0">
                <a:latin typeface="Times New Roman" panose="02020603050405020304" pitchFamily="18" charset="0"/>
              </a:rPr>
              <a:t>，存在非负函数 </a:t>
            </a:r>
            <a:r>
              <a:rPr kumimoji="1" lang="en-US" altLang="zh-CN" i="1" dirty="0">
                <a:latin typeface="Times New Roman" panose="02020603050405020304" pitchFamily="18" charset="0"/>
              </a:rPr>
              <a:t>f</a:t>
            </a:r>
            <a:r>
              <a:rPr kumimoji="1" lang="en-US" altLang="zh-CN" dirty="0">
                <a:latin typeface="Times New Roman" panose="02020603050405020304" pitchFamily="18" charset="0"/>
              </a:rPr>
              <a:t>(</a:t>
            </a:r>
            <a:r>
              <a:rPr kumimoji="1" lang="en-US" altLang="zh-CN" i="1" dirty="0">
                <a:latin typeface="Times New Roman" panose="02020603050405020304" pitchFamily="18" charset="0"/>
              </a:rPr>
              <a:t>x</a:t>
            </a:r>
            <a:r>
              <a:rPr kumimoji="1" lang="en-US" altLang="zh-CN" dirty="0">
                <a:latin typeface="Times New Roman" panose="02020603050405020304" pitchFamily="18" charset="0"/>
              </a:rPr>
              <a:t>) </a:t>
            </a:r>
            <a:r>
              <a:rPr kumimoji="1" lang="zh-CN" altLang="en-US" dirty="0">
                <a:latin typeface="Times New Roman" panose="02020603050405020304" pitchFamily="18" charset="0"/>
              </a:rPr>
              <a:t>使对于任一实数 </a:t>
            </a:r>
            <a:r>
              <a:rPr kumimoji="1" lang="en-US" altLang="zh-CN" i="1" dirty="0">
                <a:latin typeface="Times New Roman" panose="02020603050405020304" pitchFamily="18" charset="0"/>
              </a:rPr>
              <a:t>x</a:t>
            </a:r>
            <a:r>
              <a:rPr kumimoji="1" lang="zh-CN" altLang="en-US" dirty="0">
                <a:latin typeface="Times New Roman" panose="02020603050405020304" pitchFamily="18" charset="0"/>
              </a:rPr>
              <a:t>，有</a:t>
            </a:r>
          </a:p>
          <a:p>
            <a:pPr>
              <a:lnSpc>
                <a:spcPct val="150000"/>
              </a:lnSpc>
              <a:spcBef>
                <a:spcPts val="0"/>
              </a:spcBef>
              <a:spcAft>
                <a:spcPts val="0"/>
              </a:spcAft>
            </a:pPr>
            <a:endParaRPr kumimoji="1" lang="zh-CN" altLang="en-US" dirty="0">
              <a:latin typeface="Times New Roman" panose="02020603050405020304" pitchFamily="18" charset="0"/>
            </a:endParaRPr>
          </a:p>
          <a:p>
            <a:pPr>
              <a:lnSpc>
                <a:spcPct val="150000"/>
              </a:lnSpc>
              <a:spcBef>
                <a:spcPts val="0"/>
              </a:spcBef>
              <a:spcAft>
                <a:spcPts val="0"/>
              </a:spcAft>
            </a:pPr>
            <a:endParaRPr kumimoji="1" lang="zh-CN" altLang="en-US" dirty="0">
              <a:latin typeface="Times New Roman" panose="02020603050405020304" pitchFamily="18" charset="0"/>
            </a:endParaRPr>
          </a:p>
          <a:p>
            <a:pPr>
              <a:lnSpc>
                <a:spcPct val="150000"/>
              </a:lnSpc>
              <a:spcBef>
                <a:spcPts val="0"/>
              </a:spcBef>
              <a:spcAft>
                <a:spcPts val="0"/>
              </a:spcAft>
            </a:pPr>
            <a:r>
              <a:rPr kumimoji="1" lang="zh-CN" altLang="en-US" dirty="0">
                <a:latin typeface="Times New Roman" panose="02020603050405020304" pitchFamily="18" charset="0"/>
              </a:rPr>
              <a:t>       则称 </a:t>
            </a:r>
            <a:r>
              <a:rPr kumimoji="1" lang="en-US" altLang="zh-CN" i="1" dirty="0">
                <a:latin typeface="Times New Roman" panose="02020603050405020304" pitchFamily="18" charset="0"/>
              </a:rPr>
              <a:t>X </a:t>
            </a:r>
            <a:r>
              <a:rPr kumimoji="1" lang="zh-CN" altLang="en-US" dirty="0">
                <a:latin typeface="Times New Roman" panose="02020603050405020304" pitchFamily="18" charset="0"/>
              </a:rPr>
              <a:t>为连续型随机变量。函数 </a:t>
            </a:r>
            <a:r>
              <a:rPr kumimoji="1" lang="en-US" altLang="zh-CN" i="1" dirty="0">
                <a:latin typeface="Times New Roman" panose="02020603050405020304" pitchFamily="18" charset="0"/>
              </a:rPr>
              <a:t>f </a:t>
            </a:r>
            <a:r>
              <a:rPr kumimoji="1" lang="en-US" altLang="zh-CN" dirty="0">
                <a:latin typeface="Times New Roman" panose="02020603050405020304" pitchFamily="18" charset="0"/>
              </a:rPr>
              <a:t>(</a:t>
            </a:r>
            <a:r>
              <a:rPr kumimoji="1" lang="en-US" altLang="zh-CN" i="1" dirty="0">
                <a:latin typeface="Times New Roman" panose="02020603050405020304" pitchFamily="18" charset="0"/>
              </a:rPr>
              <a:t>x</a:t>
            </a:r>
            <a:r>
              <a:rPr kumimoji="1" lang="en-US" altLang="zh-CN" dirty="0">
                <a:latin typeface="Times New Roman" panose="02020603050405020304" pitchFamily="18" charset="0"/>
              </a:rPr>
              <a:t>) </a:t>
            </a:r>
            <a:r>
              <a:rPr kumimoji="1" lang="zh-CN" altLang="en-US" dirty="0">
                <a:latin typeface="Times New Roman" panose="02020603050405020304" pitchFamily="18" charset="0"/>
              </a:rPr>
              <a:t>称为随机变量 </a:t>
            </a:r>
            <a:r>
              <a:rPr kumimoji="1" lang="en-US" altLang="zh-CN" i="1" dirty="0">
                <a:latin typeface="Times New Roman" panose="02020603050405020304" pitchFamily="18" charset="0"/>
              </a:rPr>
              <a:t>X </a:t>
            </a:r>
            <a:r>
              <a:rPr kumimoji="1" lang="zh-CN" altLang="en-US" dirty="0">
                <a:latin typeface="Times New Roman" panose="02020603050405020304" pitchFamily="18" charset="0"/>
              </a:rPr>
              <a:t>的</a:t>
            </a:r>
            <a:r>
              <a:rPr kumimoji="1" lang="zh-CN" altLang="en-US" dirty="0">
                <a:solidFill>
                  <a:srgbClr val="FFFF00"/>
                </a:solidFill>
                <a:latin typeface="Times New Roman" panose="02020603050405020304" pitchFamily="18" charset="0"/>
              </a:rPr>
              <a:t>概率密度函数。</a:t>
            </a:r>
            <a:endParaRPr kumimoji="1" lang="zh-CN" altLang="en-US"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9932F0D-5C6E-4C22-B5B5-637B050D8D5D}"/>
                  </a:ext>
                </a:extLst>
              </p:cNvPr>
              <p:cNvSpPr txBox="1"/>
              <p:nvPr/>
            </p:nvSpPr>
            <p:spPr>
              <a:xfrm>
                <a:off x="2555776" y="2892347"/>
                <a:ext cx="2922980" cy="9293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nary>
                        <m:naryPr>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m:t>
                          </m:r>
                        </m:sub>
                        <m:sup>
                          <m:r>
                            <a:rPr lang="en-US" altLang="zh-CN" b="1" i="1" smtClean="0">
                              <a:latin typeface="Cambria Math" panose="02040503050406030204" pitchFamily="18" charset="0"/>
                            </a:rPr>
                            <m:t>𝒙</m:t>
                          </m:r>
                        </m:sup>
                        <m:e>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𝒅𝒕</m:t>
                          </m:r>
                        </m:e>
                      </m:nary>
                    </m:oMath>
                  </m:oMathPara>
                </a14:m>
                <a:endParaRPr lang="zh-CN" altLang="en-US" dirty="0"/>
              </a:p>
            </p:txBody>
          </p:sp>
        </mc:Choice>
        <mc:Fallback xmlns="">
          <p:sp>
            <p:nvSpPr>
              <p:cNvPr id="5" name="文本框 4">
                <a:extLst>
                  <a:ext uri="{FF2B5EF4-FFF2-40B4-BE49-F238E27FC236}">
                    <a16:creationId xmlns:a16="http://schemas.microsoft.com/office/drawing/2014/main" id="{19932F0D-5C6E-4C22-B5B5-637B050D8D5D}"/>
                  </a:ext>
                </a:extLst>
              </p:cNvPr>
              <p:cNvSpPr txBox="1">
                <a:spLocks noRot="1" noChangeAspect="1" noMove="1" noResize="1" noEditPoints="1" noAdjustHandles="1" noChangeArrowheads="1" noChangeShapeType="1" noTextEdit="1"/>
              </p:cNvSpPr>
              <p:nvPr/>
            </p:nvSpPr>
            <p:spPr>
              <a:xfrm>
                <a:off x="2555776" y="2892347"/>
                <a:ext cx="2922980" cy="929357"/>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23"/>
                                        </p:tgtEl>
                                        <p:attrNameLst>
                                          <p:attrName>style.visibility</p:attrName>
                                        </p:attrNameLst>
                                      </p:cBhvr>
                                      <p:to>
                                        <p:strVal val="visible"/>
                                      </p:to>
                                    </p:set>
                                    <p:anim calcmode="lin" valueType="num">
                                      <p:cBhvr additive="base">
                                        <p:cTn id="7" dur="500" fill="hold"/>
                                        <p:tgtEl>
                                          <p:spTgt spid="81923"/>
                                        </p:tgtEl>
                                        <p:attrNameLst>
                                          <p:attrName>ppt_x</p:attrName>
                                        </p:attrNameLst>
                                      </p:cBhvr>
                                      <p:tavLst>
                                        <p:tav tm="0">
                                          <p:val>
                                            <p:strVal val="1+#ppt_w/2"/>
                                          </p:val>
                                        </p:tav>
                                        <p:tav tm="100000">
                                          <p:val>
                                            <p:strVal val="#ppt_x"/>
                                          </p:val>
                                        </p:tav>
                                      </p:tavLst>
                                    </p:anim>
                                    <p:anim calcmode="lin" valueType="num">
                                      <p:cBhvr additive="base">
                                        <p:cTn id="8" dur="500" fill="hold"/>
                                        <p:tgtEl>
                                          <p:spTgt spid="81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B5543E2-1684-4CA3-9A1B-EDD89691FBDC}"/>
              </a:ext>
            </a:extLst>
          </p:cNvPr>
          <p:cNvSpPr>
            <a:spLocks noGrp="1" noChangeArrowheads="1"/>
          </p:cNvSpPr>
          <p:nvPr>
            <p:ph type="title"/>
          </p:nvPr>
        </p:nvSpPr>
        <p:spPr>
          <a:xfrm>
            <a:off x="-34461" y="221641"/>
            <a:ext cx="8229600" cy="712812"/>
          </a:xfrm>
        </p:spPr>
        <p:txBody>
          <a:bodyPr/>
          <a:lstStyle/>
          <a:p>
            <a:pPr algn="l"/>
            <a:r>
              <a:rPr lang="zh-CN" altLang="en-US" sz="3600" b="1" dirty="0">
                <a:solidFill>
                  <a:schemeClr val="tx1"/>
                </a:solidFill>
              </a:rPr>
              <a:t>几个常用的连续型分布</a:t>
            </a:r>
          </a:p>
        </p:txBody>
      </p:sp>
      <p:sp>
        <p:nvSpPr>
          <p:cNvPr id="49155" name="Rectangle 3">
            <a:extLst>
              <a:ext uri="{FF2B5EF4-FFF2-40B4-BE49-F238E27FC236}">
                <a16:creationId xmlns:a16="http://schemas.microsoft.com/office/drawing/2014/main" id="{4AD23222-5EA7-4CE5-88A5-5C439A81AD87}"/>
              </a:ext>
            </a:extLst>
          </p:cNvPr>
          <p:cNvSpPr>
            <a:spLocks noGrp="1" noChangeArrowheads="1"/>
          </p:cNvSpPr>
          <p:nvPr>
            <p:ph idx="1"/>
          </p:nvPr>
        </p:nvSpPr>
        <p:spPr>
          <a:xfrm>
            <a:off x="457200" y="916016"/>
            <a:ext cx="8229600" cy="5486400"/>
          </a:xfrm>
        </p:spPr>
        <p:txBody>
          <a:bodyPr/>
          <a:lstStyle/>
          <a:p>
            <a:pPr>
              <a:lnSpc>
                <a:spcPct val="125000"/>
              </a:lnSpc>
            </a:pPr>
            <a:r>
              <a:rPr lang="zh-CN" altLang="en-US" sz="2800" b="1" dirty="0"/>
              <a:t>正态分布</a:t>
            </a:r>
          </a:p>
          <a:p>
            <a:pPr>
              <a:lnSpc>
                <a:spcPct val="125000"/>
              </a:lnSpc>
            </a:pPr>
            <a:r>
              <a:rPr lang="zh-CN" altLang="en-US" sz="2800" b="1" dirty="0"/>
              <a:t>均匀分布</a:t>
            </a:r>
          </a:p>
          <a:p>
            <a:pPr>
              <a:lnSpc>
                <a:spcPct val="125000"/>
              </a:lnSpc>
            </a:pPr>
            <a:r>
              <a:rPr lang="zh-CN" altLang="en-US" sz="2800" b="1" dirty="0"/>
              <a:t>指数分布</a:t>
            </a:r>
          </a:p>
          <a:p>
            <a:pPr>
              <a:lnSpc>
                <a:spcPct val="125000"/>
              </a:lnSpc>
            </a:pPr>
            <a:r>
              <a:rPr lang="zh-CN" altLang="en-US" sz="2800" b="1" dirty="0"/>
              <a:t>对数正态分布</a:t>
            </a:r>
          </a:p>
          <a:p>
            <a:pPr>
              <a:lnSpc>
                <a:spcPct val="125000"/>
              </a:lnSpc>
            </a:pPr>
            <a:r>
              <a:rPr lang="zh-CN" altLang="en-US" sz="2800" b="1" dirty="0"/>
              <a:t>柯西分布</a:t>
            </a:r>
          </a:p>
          <a:p>
            <a:pPr>
              <a:lnSpc>
                <a:spcPct val="125000"/>
              </a:lnSpc>
            </a:pPr>
            <a:r>
              <a:rPr lang="en-US" altLang="zh-CN" sz="2800" b="1" dirty="0">
                <a:latin typeface="Times New Roman" panose="02020603050405020304" pitchFamily="18" charset="0"/>
              </a:rPr>
              <a:t>Gamma</a:t>
            </a:r>
            <a:r>
              <a:rPr lang="zh-CN" altLang="en-US" sz="2800" b="1" dirty="0"/>
              <a:t>分布</a:t>
            </a:r>
          </a:p>
          <a:p>
            <a:pPr>
              <a:lnSpc>
                <a:spcPct val="125000"/>
              </a:lnSpc>
            </a:pPr>
            <a:r>
              <a:rPr lang="zh-CN" altLang="en-US" sz="2800" b="1" dirty="0"/>
              <a:t>瑞利分布</a:t>
            </a:r>
          </a:p>
          <a:p>
            <a:pPr>
              <a:lnSpc>
                <a:spcPct val="125000"/>
              </a:lnSpc>
            </a:pPr>
            <a:r>
              <a:rPr lang="zh-CN" altLang="en-US" sz="2800" b="1" dirty="0"/>
              <a:t>韦伯分布</a:t>
            </a:r>
          </a:p>
          <a:p>
            <a:pPr>
              <a:lnSpc>
                <a:spcPct val="125000"/>
              </a:lnSpc>
            </a:pPr>
            <a:r>
              <a:rPr lang="zh-CN" altLang="en-US" sz="2800" b="1" dirty="0"/>
              <a:t>三角形分布</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a:extLst>
              <a:ext uri="{FF2B5EF4-FFF2-40B4-BE49-F238E27FC236}">
                <a16:creationId xmlns:a16="http://schemas.microsoft.com/office/drawing/2014/main" id="{EE9AF146-8AF7-4590-8F70-4E11E4DDDD23}"/>
              </a:ext>
            </a:extLst>
          </p:cNvPr>
          <p:cNvSpPr>
            <a:spLocks noGrp="1" noChangeArrowheads="1"/>
          </p:cNvSpPr>
          <p:nvPr>
            <p:ph type="title"/>
          </p:nvPr>
        </p:nvSpPr>
        <p:spPr>
          <a:xfrm>
            <a:off x="242156" y="156574"/>
            <a:ext cx="8229600" cy="735087"/>
          </a:xfrm>
        </p:spPr>
        <p:txBody>
          <a:bodyPr anchor="b"/>
          <a:lstStyle/>
          <a:p>
            <a:pPr algn="l"/>
            <a:r>
              <a:rPr lang="en-US" altLang="zh-CN" sz="3200" b="1" dirty="0">
                <a:solidFill>
                  <a:schemeClr val="tx1"/>
                </a:solidFill>
              </a:rPr>
              <a:t>1.</a:t>
            </a:r>
            <a:r>
              <a:rPr lang="zh-CN" altLang="en-US" sz="3200" b="1" dirty="0">
                <a:solidFill>
                  <a:schemeClr val="tx1"/>
                </a:solidFill>
              </a:rPr>
              <a:t>正态分布 </a:t>
            </a:r>
            <a:r>
              <a:rPr lang="en-US" altLang="zh-CN" sz="3200" b="1" dirty="0">
                <a:solidFill>
                  <a:schemeClr val="tx1"/>
                </a:solidFill>
                <a:latin typeface="Times New Roman" panose="02020603050405020304" pitchFamily="18" charset="0"/>
              </a:rPr>
              <a:t>(Normal distribution)</a:t>
            </a:r>
            <a:r>
              <a:rPr lang="en-US" altLang="zh-CN" sz="3200" b="1" dirty="0">
                <a:solidFill>
                  <a:schemeClr val="tx1"/>
                </a:solidFill>
              </a:rPr>
              <a:t> </a:t>
            </a:r>
          </a:p>
        </p:txBody>
      </p:sp>
      <p:sp>
        <p:nvSpPr>
          <p:cNvPr id="50185" name="Rectangle 8">
            <a:extLst>
              <a:ext uri="{FF2B5EF4-FFF2-40B4-BE49-F238E27FC236}">
                <a16:creationId xmlns:a16="http://schemas.microsoft.com/office/drawing/2014/main" id="{324D606E-8D9F-41D3-BFA4-0420D80C2CDB}"/>
              </a:ext>
            </a:extLst>
          </p:cNvPr>
          <p:cNvSpPr>
            <a:spLocks noGrp="1" noChangeArrowheads="1"/>
          </p:cNvSpPr>
          <p:nvPr>
            <p:ph idx="1"/>
          </p:nvPr>
        </p:nvSpPr>
        <p:spPr>
          <a:xfrm>
            <a:off x="242156" y="1150812"/>
            <a:ext cx="8659688" cy="1311796"/>
          </a:xfrm>
          <a:noFill/>
        </p:spPr>
        <p:txBody>
          <a:bodyPr/>
          <a:lstStyle/>
          <a:p>
            <a:pPr marL="1071563" indent="-1071563">
              <a:lnSpc>
                <a:spcPct val="150000"/>
              </a:lnSpc>
              <a:spcBef>
                <a:spcPts val="0"/>
              </a:spcBef>
              <a:buFontTx/>
              <a:buNone/>
            </a:pPr>
            <a:r>
              <a:rPr lang="zh-CN" altLang="en-US" sz="2800" b="1" dirty="0">
                <a:solidFill>
                  <a:srgbClr val="E313ED"/>
                </a:solidFill>
              </a:rPr>
              <a:t>应用：</a:t>
            </a:r>
            <a:r>
              <a:rPr lang="zh-CN" altLang="en-US" sz="2800" b="1" dirty="0"/>
              <a:t>由许多微小的独立随机因素影响的变量属于正态分布。在自然现象中，大量随机变量都服从或近似服从正态分布。 </a:t>
            </a:r>
          </a:p>
        </p:txBody>
      </p:sp>
      <p:sp>
        <p:nvSpPr>
          <p:cNvPr id="50181" name="AutoShape 4" descr="ZNARE]1L5G8$S5&quot;G388M4">
            <a:extLst>
              <a:ext uri="{FF2B5EF4-FFF2-40B4-BE49-F238E27FC236}">
                <a16:creationId xmlns:a16="http://schemas.microsoft.com/office/drawing/2014/main" id="{568C47DA-DD53-4ED4-A317-6E6480D15BB9}"/>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p:sp>
        <p:nvSpPr>
          <p:cNvPr id="50182" name="AutoShape 5" descr="ZNARE]1L5G8$S5&quot;G388M4">
            <a:extLst>
              <a:ext uri="{FF2B5EF4-FFF2-40B4-BE49-F238E27FC236}">
                <a16:creationId xmlns:a16="http://schemas.microsoft.com/office/drawing/2014/main" id="{9E80CD2E-AD30-4E08-AC25-6262B5CE1F0E}"/>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p:sp>
        <p:nvSpPr>
          <p:cNvPr id="50183" name="AutoShape 6" descr="ZNARE]1L5G8$S5&quot;G388M4">
            <a:extLst>
              <a:ext uri="{FF2B5EF4-FFF2-40B4-BE49-F238E27FC236}">
                <a16:creationId xmlns:a16="http://schemas.microsoft.com/office/drawing/2014/main" id="{51D312F8-D4DB-49AD-A497-481E49F98B50}"/>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p:pic>
        <p:nvPicPr>
          <p:cNvPr id="50184" name="Picture 7" descr="ZNARE]1L5G8$S5%22G388M4">
            <a:extLst>
              <a:ext uri="{FF2B5EF4-FFF2-40B4-BE49-F238E27FC236}">
                <a16:creationId xmlns:a16="http://schemas.microsoft.com/office/drawing/2014/main" id="{A9B1CB7E-B794-48D8-9B06-860741EF40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284984"/>
            <a:ext cx="4104456" cy="2653136"/>
          </a:xfrm>
          <a:prstGeom prst="rect">
            <a:avLst/>
          </a:prstGeom>
          <a:solidFill>
            <a:schemeClr val="bg1"/>
          </a:solid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3">
            <a:extLst>
              <a:ext uri="{FF2B5EF4-FFF2-40B4-BE49-F238E27FC236}">
                <a16:creationId xmlns:a16="http://schemas.microsoft.com/office/drawing/2014/main" id="{13319A92-9E21-41F4-8055-DAEF0FF5747F}"/>
              </a:ext>
            </a:extLst>
          </p:cNvPr>
          <p:cNvSpPr txBox="1">
            <a:spLocks noChangeArrowheads="1"/>
          </p:cNvSpPr>
          <p:nvPr/>
        </p:nvSpPr>
        <p:spPr bwMode="auto">
          <a:xfrm>
            <a:off x="323528" y="638175"/>
            <a:ext cx="8712968" cy="433387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ts val="0"/>
              </a:spcBef>
              <a:spcAft>
                <a:spcPts val="0"/>
              </a:spcAft>
            </a:pPr>
            <a:r>
              <a:rPr kumimoji="1" lang="zh-CN" altLang="en-US" dirty="0">
                <a:latin typeface="宋体" panose="02010600030101010101" pitchFamily="2" charset="-122"/>
              </a:rPr>
              <a:t>设连续型随机变量</a:t>
            </a:r>
            <a:r>
              <a:rPr kumimoji="1" lang="en-US" altLang="zh-CN" i="1" dirty="0">
                <a:latin typeface="Times New Roman" panose="02020603050405020304" pitchFamily="18" charset="0"/>
              </a:rPr>
              <a:t>X</a:t>
            </a:r>
            <a:r>
              <a:rPr kumimoji="1" lang="zh-CN" altLang="en-US" dirty="0">
                <a:latin typeface="宋体" panose="02010600030101010101" pitchFamily="2" charset="-122"/>
              </a:rPr>
              <a:t>的概率密度为</a:t>
            </a:r>
            <a:r>
              <a:rPr kumimoji="1" lang="en-US" altLang="zh-CN" dirty="0">
                <a:latin typeface="宋体" panose="02010600030101010101" pitchFamily="2" charset="-122"/>
              </a:rPr>
              <a:t>:</a:t>
            </a:r>
          </a:p>
          <a:p>
            <a:pPr>
              <a:lnSpc>
                <a:spcPct val="150000"/>
              </a:lnSpc>
              <a:spcBef>
                <a:spcPts val="0"/>
              </a:spcBef>
              <a:spcAft>
                <a:spcPts val="0"/>
              </a:spcAft>
            </a:pPr>
            <a:endParaRPr kumimoji="1" lang="en-US" altLang="zh-CN" dirty="0">
              <a:latin typeface="宋体" panose="02010600030101010101" pitchFamily="2" charset="-122"/>
            </a:endParaRPr>
          </a:p>
          <a:p>
            <a:pPr>
              <a:lnSpc>
                <a:spcPct val="150000"/>
              </a:lnSpc>
              <a:spcBef>
                <a:spcPts val="0"/>
              </a:spcBef>
              <a:spcAft>
                <a:spcPts val="0"/>
              </a:spcAft>
            </a:pPr>
            <a:r>
              <a:rPr kumimoji="1" lang="en-US" altLang="zh-CN" dirty="0">
                <a:latin typeface="宋体" panose="02010600030101010101" pitchFamily="2" charset="-122"/>
              </a:rPr>
              <a:t>    </a:t>
            </a:r>
          </a:p>
          <a:p>
            <a:pPr>
              <a:lnSpc>
                <a:spcPct val="150000"/>
              </a:lnSpc>
              <a:spcBef>
                <a:spcPts val="0"/>
              </a:spcBef>
              <a:spcAft>
                <a:spcPts val="0"/>
              </a:spcAft>
            </a:pPr>
            <a:r>
              <a:rPr kumimoji="1" lang="zh-CN" altLang="en-US" dirty="0">
                <a:latin typeface="宋体" panose="02010600030101010101" pitchFamily="2" charset="-122"/>
              </a:rPr>
              <a:t>    其中：</a:t>
            </a:r>
            <a:r>
              <a:rPr kumimoji="1" lang="zh-CN" altLang="en-US" i="1" dirty="0">
                <a:latin typeface="宋体" panose="02010600030101010101" pitchFamily="2" charset="-122"/>
                <a:sym typeface="Symbol" panose="05050102010706020507" pitchFamily="18" charset="2"/>
              </a:rPr>
              <a:t> </a:t>
            </a:r>
            <a:r>
              <a:rPr kumimoji="1" lang="en-US" altLang="zh-CN" dirty="0">
                <a:latin typeface="宋体" panose="02010600030101010101" pitchFamily="2" charset="-122"/>
                <a:sym typeface="Symbol" panose="05050102010706020507" pitchFamily="18" charset="2"/>
              </a:rPr>
              <a:t>,</a:t>
            </a:r>
            <a:r>
              <a:rPr kumimoji="1" lang="en-US" altLang="zh-CN" i="1" dirty="0">
                <a:latin typeface="宋体" panose="02010600030101010101" pitchFamily="2" charset="-122"/>
                <a:sym typeface="Symbol" panose="05050102010706020507" pitchFamily="18" charset="2"/>
              </a:rPr>
              <a:t> </a:t>
            </a:r>
            <a:r>
              <a:rPr kumimoji="1" lang="en-US" altLang="zh-CN" dirty="0">
                <a:latin typeface="宋体" panose="02010600030101010101" pitchFamily="2" charset="-122"/>
                <a:sym typeface="Symbol" panose="05050102010706020507" pitchFamily="18" charset="2"/>
              </a:rPr>
              <a:t>(</a:t>
            </a:r>
            <a:r>
              <a:rPr kumimoji="1" lang="en-US" altLang="zh-CN" i="1" dirty="0">
                <a:latin typeface="宋体" panose="02010600030101010101" pitchFamily="2" charset="-122"/>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&gt;</a:t>
            </a:r>
            <a:r>
              <a:rPr kumimoji="1" lang="en-US" altLang="zh-CN" dirty="0">
                <a:latin typeface="宋体" panose="02010600030101010101" pitchFamily="2" charset="-122"/>
                <a:sym typeface="Symbol" panose="05050102010706020507" pitchFamily="18" charset="2"/>
              </a:rPr>
              <a:t>0)</a:t>
            </a:r>
            <a:r>
              <a:rPr kumimoji="1" lang="zh-CN" altLang="en-US" dirty="0">
                <a:latin typeface="宋体" panose="02010600030101010101" pitchFamily="2" charset="-122"/>
                <a:sym typeface="Symbol" panose="05050102010706020507" pitchFamily="18" charset="2"/>
              </a:rPr>
              <a:t>为常数，则称</a:t>
            </a:r>
            <a:r>
              <a:rPr kumimoji="1" lang="en-US" altLang="zh-CN" i="1" dirty="0">
                <a:latin typeface="Times New Roman" panose="02020603050405020304" pitchFamily="18" charset="0"/>
                <a:sym typeface="Symbol" panose="05050102010706020507" pitchFamily="18" charset="2"/>
              </a:rPr>
              <a:t>X</a:t>
            </a:r>
            <a:r>
              <a:rPr kumimoji="1" lang="zh-CN" altLang="en-US" dirty="0">
                <a:latin typeface="宋体" panose="02010600030101010101" pitchFamily="2" charset="-122"/>
                <a:sym typeface="Symbol" panose="05050102010706020507" pitchFamily="18" charset="2"/>
              </a:rPr>
              <a:t>服从参数为</a:t>
            </a:r>
            <a:r>
              <a:rPr kumimoji="1" lang="zh-CN" altLang="en-US" i="1" dirty="0">
                <a:latin typeface="宋体" panose="02010600030101010101" pitchFamily="2" charset="-122"/>
                <a:sym typeface="Symbol" panose="05050102010706020507" pitchFamily="18" charset="2"/>
              </a:rPr>
              <a:t></a:t>
            </a:r>
            <a:r>
              <a:rPr kumimoji="1" lang="en-US" altLang="zh-CN" dirty="0">
                <a:latin typeface="宋体" panose="02010600030101010101" pitchFamily="2" charset="-122"/>
                <a:sym typeface="Symbol" panose="05050102010706020507" pitchFamily="18" charset="2"/>
              </a:rPr>
              <a:t>,</a:t>
            </a:r>
            <a:r>
              <a:rPr kumimoji="1" lang="en-US" altLang="zh-CN" i="1" dirty="0">
                <a:latin typeface="宋体" panose="02010600030101010101" pitchFamily="2" charset="-122"/>
                <a:sym typeface="Symbol" panose="05050102010706020507" pitchFamily="18" charset="2"/>
              </a:rPr>
              <a:t> </a:t>
            </a:r>
            <a:r>
              <a:rPr kumimoji="1" lang="zh-CN" altLang="en-US" dirty="0">
                <a:latin typeface="宋体" panose="02010600030101010101" pitchFamily="2" charset="-122"/>
                <a:sym typeface="Symbol" panose="05050102010706020507" pitchFamily="18" charset="2"/>
              </a:rPr>
              <a:t>的正态分布或高斯</a:t>
            </a:r>
            <a:r>
              <a:rPr kumimoji="1" lang="en-US" altLang="zh-CN" dirty="0">
                <a:latin typeface="Times New Roman" panose="02020603050405020304" pitchFamily="18" charset="0"/>
                <a:sym typeface="Symbol" panose="05050102010706020507" pitchFamily="18" charset="2"/>
              </a:rPr>
              <a:t>(Gauss)</a:t>
            </a:r>
            <a:r>
              <a:rPr kumimoji="1" lang="zh-CN" altLang="en-US" dirty="0">
                <a:latin typeface="宋体" panose="02010600030101010101" pitchFamily="2" charset="-122"/>
                <a:sym typeface="Symbol" panose="05050102010706020507" pitchFamily="18" charset="2"/>
              </a:rPr>
              <a:t>分布。记为：</a:t>
            </a:r>
            <a:r>
              <a:rPr kumimoji="1" lang="en-US" altLang="zh-CN" i="1" dirty="0">
                <a:latin typeface="Times New Roman" panose="02020603050405020304" pitchFamily="18" charset="0"/>
                <a:sym typeface="Symbol" panose="05050102010706020507" pitchFamily="18" charset="2"/>
              </a:rPr>
              <a:t>X </a:t>
            </a:r>
            <a:r>
              <a:rPr kumimoji="1" lang="en-US" altLang="zh-CN" dirty="0">
                <a:latin typeface="宋体" panose="02010600030101010101" pitchFamily="2" charset="-122"/>
                <a:sym typeface="Symbol" panose="05050102010706020507" pitchFamily="18" charset="2"/>
              </a:rPr>
              <a:t> </a:t>
            </a:r>
            <a:r>
              <a:rPr kumimoji="1" lang="en-US" altLang="zh-CN" i="1" dirty="0">
                <a:latin typeface="Times New Roman" panose="02020603050405020304" pitchFamily="18" charset="0"/>
                <a:sym typeface="Symbol" panose="05050102010706020507" pitchFamily="18" charset="2"/>
              </a:rPr>
              <a:t>N</a:t>
            </a:r>
            <a:r>
              <a:rPr kumimoji="1" lang="en-US" altLang="zh-CN" dirty="0">
                <a:latin typeface="宋体" panose="02010600030101010101" pitchFamily="2" charset="-122"/>
                <a:sym typeface="Symbol" panose="05050102010706020507" pitchFamily="18" charset="2"/>
              </a:rPr>
              <a:t>(</a:t>
            </a:r>
            <a:r>
              <a:rPr kumimoji="1" lang="en-US" altLang="zh-CN" i="1" dirty="0">
                <a:latin typeface="宋体" panose="02010600030101010101" pitchFamily="2" charset="-122"/>
                <a:sym typeface="Symbol" panose="05050102010706020507" pitchFamily="18" charset="2"/>
              </a:rPr>
              <a:t></a:t>
            </a:r>
            <a:r>
              <a:rPr kumimoji="1" lang="en-US" altLang="zh-CN" dirty="0">
                <a:latin typeface="宋体" panose="02010600030101010101" pitchFamily="2" charset="-122"/>
                <a:sym typeface="Symbol" panose="05050102010706020507" pitchFamily="18" charset="2"/>
              </a:rPr>
              <a:t>,</a:t>
            </a:r>
            <a:r>
              <a:rPr kumimoji="1" lang="en-US" altLang="zh-CN" i="1" dirty="0">
                <a:latin typeface="宋体" panose="02010600030101010101" pitchFamily="2" charset="-122"/>
                <a:sym typeface="Symbol" panose="05050102010706020507" pitchFamily="18" charset="2"/>
              </a:rPr>
              <a:t></a:t>
            </a:r>
            <a:r>
              <a:rPr kumimoji="1" lang="en-US" altLang="zh-CN" baseline="30000" dirty="0">
                <a:latin typeface="宋体" panose="02010600030101010101" pitchFamily="2" charset="-122"/>
                <a:sym typeface="Symbol" panose="05050102010706020507" pitchFamily="18" charset="2"/>
              </a:rPr>
              <a:t>2</a:t>
            </a:r>
            <a:r>
              <a:rPr kumimoji="1" lang="en-US" altLang="zh-CN" dirty="0">
                <a:latin typeface="宋体" panose="02010600030101010101" pitchFamily="2" charset="-122"/>
                <a:sym typeface="Symbol" panose="05050102010706020507" pitchFamily="18" charset="2"/>
              </a:rPr>
              <a:t>)</a:t>
            </a:r>
            <a:r>
              <a:rPr kumimoji="1" lang="zh-CN" altLang="en-US" dirty="0">
                <a:latin typeface="宋体" panose="02010600030101010101" pitchFamily="2" charset="-122"/>
                <a:sym typeface="Symbol" panose="05050102010706020507" pitchFamily="18" charset="2"/>
              </a:rPr>
              <a:t>。</a:t>
            </a:r>
            <a:r>
              <a:rPr kumimoji="1" lang="zh-CN" altLang="en-US" dirty="0">
                <a:latin typeface="宋体" panose="02010600030101010101" pitchFamily="2" charset="-122"/>
              </a:rPr>
              <a:t>相应的分布函数为：</a:t>
            </a:r>
          </a:p>
          <a:p>
            <a:pPr>
              <a:lnSpc>
                <a:spcPct val="150000"/>
              </a:lnSpc>
              <a:spcBef>
                <a:spcPts val="0"/>
              </a:spcBef>
              <a:spcAft>
                <a:spcPts val="0"/>
              </a:spcAft>
            </a:pPr>
            <a:endParaRPr kumimoji="1" lang="zh-CN" altLang="en-US" baseline="30000" dirty="0">
              <a:latin typeface="宋体" panose="02010600030101010101" pitchFamily="2" charset="-122"/>
              <a:sym typeface="Symbol" panose="05050102010706020507" pitchFamily="18" charset="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CC6F2FE-ACB9-4C6F-A5C0-10760196BB41}"/>
                  </a:ext>
                </a:extLst>
              </p:cNvPr>
              <p:cNvSpPr txBox="1"/>
              <p:nvPr/>
            </p:nvSpPr>
            <p:spPr>
              <a:xfrm>
                <a:off x="1835696" y="4625358"/>
                <a:ext cx="4440446" cy="10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ad>
                            <m:radPr>
                              <m:degHide m:val="on"/>
                              <m:ctrlPr>
                                <a:rPr lang="en-US" altLang="zh-CN" b="1" i="1" smtClean="0">
                                  <a:latin typeface="Cambria Math" panose="02040503050406030204" pitchFamily="18" charset="0"/>
                                </a:rPr>
                              </m:ctrlPr>
                            </m:radPr>
                            <m:deg/>
                            <m:e>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e>
                          </m:rad>
                          <m:r>
                            <a:rPr lang="zh-CN" altLang="en-US" b="1" i="1" smtClean="0">
                              <a:latin typeface="Cambria Math" panose="02040503050406030204" pitchFamily="18" charset="0"/>
                            </a:rPr>
                            <m:t>𝝈</m:t>
                          </m:r>
                        </m:den>
                      </m:f>
                      <m:nary>
                        <m:naryPr>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m:t>
                          </m:r>
                        </m:sub>
                        <m:sup>
                          <m:r>
                            <a:rPr lang="en-US" altLang="zh-CN" b="1" i="1" smtClean="0">
                              <a:latin typeface="Cambria Math" panose="02040503050406030204" pitchFamily="18" charset="0"/>
                            </a:rPr>
                            <m:t>𝒙</m:t>
                          </m:r>
                        </m:sup>
                        <m:e>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zh-CN" altLang="en-US" b="1" i="1" smtClean="0">
                                              <a:latin typeface="Cambria Math" panose="02040503050406030204" pitchFamily="18" charset="0"/>
                                            </a:rPr>
                                            <m:t>𝝁</m:t>
                                          </m:r>
                                        </m:e>
                                      </m:d>
                                    </m:e>
                                    <m:sup>
                                      <m:r>
                                        <a:rPr lang="en-US" altLang="zh-CN" b="1" i="1" smtClean="0">
                                          <a:latin typeface="Cambria Math" panose="02040503050406030204" pitchFamily="18" charset="0"/>
                                        </a:rPr>
                                        <m:t>𝟐</m:t>
                                      </m:r>
                                    </m:sup>
                                  </m:sSup>
                                </m:num>
                                <m:den>
                                  <m:r>
                                    <a:rPr lang="en-US" altLang="zh-CN" b="1" i="1" smtClean="0">
                                      <a:latin typeface="Cambria Math" panose="02040503050406030204" pitchFamily="18" charset="0"/>
                                    </a:rPr>
                                    <m:t>𝟐</m:t>
                                  </m:r>
                                  <m:sSup>
                                    <m:sSupPr>
                                      <m:ctrlPr>
                                        <a:rPr lang="en-US" altLang="zh-CN" b="1" i="1" smtClean="0">
                                          <a:latin typeface="Cambria Math" panose="02040503050406030204" pitchFamily="18" charset="0"/>
                                        </a:rPr>
                                      </m:ctrlPr>
                                    </m:sSupPr>
                                    <m:e>
                                      <m:r>
                                        <a:rPr lang="zh-CN" altLang="en-US" b="1" i="1" smtClean="0">
                                          <a:latin typeface="Cambria Math" panose="02040503050406030204" pitchFamily="18" charset="0"/>
                                        </a:rPr>
                                        <m:t>𝝈</m:t>
                                      </m:r>
                                    </m:e>
                                    <m:sup>
                                      <m:r>
                                        <a:rPr lang="en-US" altLang="zh-CN" b="1" i="1" smtClean="0">
                                          <a:latin typeface="Cambria Math" panose="02040503050406030204" pitchFamily="18" charset="0"/>
                                        </a:rPr>
                                        <m:t>𝟐</m:t>
                                      </m:r>
                                    </m:sup>
                                  </m:sSup>
                                </m:den>
                              </m:f>
                              <m:r>
                                <a:rPr lang="en-US" altLang="zh-CN" b="1" i="1" smtClean="0">
                                  <a:latin typeface="Cambria Math" panose="02040503050406030204" pitchFamily="18" charset="0"/>
                                </a:rPr>
                                <m:t>𝒅𝒕</m:t>
                              </m:r>
                            </m:sup>
                          </m:sSup>
                        </m:e>
                      </m:nary>
                    </m:oMath>
                  </m:oMathPara>
                </a14:m>
                <a:endParaRPr lang="zh-CN" altLang="en-US" dirty="0"/>
              </a:p>
            </p:txBody>
          </p:sp>
        </mc:Choice>
        <mc:Fallback xmlns="">
          <p:sp>
            <p:nvSpPr>
              <p:cNvPr id="4" name="文本框 3">
                <a:extLst>
                  <a:ext uri="{FF2B5EF4-FFF2-40B4-BE49-F238E27FC236}">
                    <a16:creationId xmlns:a16="http://schemas.microsoft.com/office/drawing/2014/main" id="{7CC6F2FE-ACB9-4C6F-A5C0-10760196BB41}"/>
                  </a:ext>
                </a:extLst>
              </p:cNvPr>
              <p:cNvSpPr txBox="1">
                <a:spLocks noRot="1" noChangeAspect="1" noMove="1" noResize="1" noEditPoints="1" noAdjustHandles="1" noChangeArrowheads="1" noChangeShapeType="1" noTextEdit="1"/>
              </p:cNvSpPr>
              <p:nvPr/>
            </p:nvSpPr>
            <p:spPr>
              <a:xfrm>
                <a:off x="1835696" y="4625358"/>
                <a:ext cx="4440446" cy="100534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5A27995-E1C4-4ABA-B9A7-62C61253CEC9}"/>
                  </a:ext>
                </a:extLst>
              </p:cNvPr>
              <p:cNvSpPr txBox="1"/>
              <p:nvPr/>
            </p:nvSpPr>
            <p:spPr>
              <a:xfrm>
                <a:off x="1470319" y="1484784"/>
                <a:ext cx="6419385" cy="9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ad>
                            <m:radPr>
                              <m:degHide m:val="on"/>
                              <m:ctrlPr>
                                <a:rPr lang="en-US" altLang="zh-CN" b="1" i="1" smtClean="0">
                                  <a:latin typeface="Cambria Math" panose="02040503050406030204" pitchFamily="18" charset="0"/>
                                </a:rPr>
                              </m:ctrlPr>
                            </m:radPr>
                            <m:deg/>
                            <m:e>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e>
                          </m:rad>
                          <m:r>
                            <a:rPr lang="zh-CN" altLang="en-US" b="1" i="1" smtClean="0">
                              <a:latin typeface="Cambria Math" panose="02040503050406030204" pitchFamily="18" charset="0"/>
                            </a:rPr>
                            <m:t>𝝈</m:t>
                          </m:r>
                        </m:den>
                      </m:f>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zh-CN" altLang="en-US" b="1" i="1" smtClean="0">
                                          <a:latin typeface="Cambria Math" panose="02040503050406030204" pitchFamily="18" charset="0"/>
                                        </a:rPr>
                                        <m:t>𝝁</m:t>
                                      </m:r>
                                    </m:e>
                                  </m:d>
                                </m:e>
                                <m:sup>
                                  <m:r>
                                    <a:rPr lang="en-US" altLang="zh-CN" b="1" i="1" smtClean="0">
                                      <a:latin typeface="Cambria Math" panose="02040503050406030204" pitchFamily="18" charset="0"/>
                                    </a:rPr>
                                    <m:t>𝟐</m:t>
                                  </m:r>
                                </m:sup>
                              </m:sSup>
                            </m:num>
                            <m:den>
                              <m:r>
                                <a:rPr lang="en-US" altLang="zh-CN" b="1" i="1" smtClean="0">
                                  <a:latin typeface="Cambria Math" panose="02040503050406030204" pitchFamily="18" charset="0"/>
                                </a:rPr>
                                <m:t>𝟐</m:t>
                              </m:r>
                              <m:sSup>
                                <m:sSupPr>
                                  <m:ctrlPr>
                                    <a:rPr lang="en-US" altLang="zh-CN" b="1" i="1" smtClean="0">
                                      <a:latin typeface="Cambria Math" panose="02040503050406030204" pitchFamily="18" charset="0"/>
                                    </a:rPr>
                                  </m:ctrlPr>
                                </m:sSupPr>
                                <m:e>
                                  <m:r>
                                    <a:rPr lang="zh-CN" altLang="en-US" b="1" i="1" smtClean="0">
                                      <a:latin typeface="Cambria Math" panose="02040503050406030204" pitchFamily="18" charset="0"/>
                                    </a:rPr>
                                    <m:t>𝝈</m:t>
                                  </m:r>
                                </m:e>
                                <m:sup>
                                  <m:r>
                                    <a:rPr lang="en-US" altLang="zh-CN" b="1" i="1" smtClean="0">
                                      <a:latin typeface="Cambria Math" panose="02040503050406030204" pitchFamily="18" charset="0"/>
                                    </a:rPr>
                                    <m:t>𝟐</m:t>
                                  </m:r>
                                </m:sup>
                              </m:sSup>
                            </m:den>
                          </m:f>
                        </m:sup>
                      </m:sSup>
                      <m:r>
                        <a:rPr lang="en-US" altLang="zh-CN" b="1" i="1" smtClean="0">
                          <a:latin typeface="Cambria Math" panose="02040503050406030204" pitchFamily="18" charset="0"/>
                        </a:rPr>
                        <m:t>,   −</m:t>
                      </m:r>
                      <m:r>
                        <a:rPr lang="en-US" altLang="zh-CN" b="1" i="1" smtClean="0">
                          <a:latin typeface="Cambria Math" panose="02040503050406030204" pitchFamily="18" charset="0"/>
                          <a:ea typeface="Cambria Math" panose="02040503050406030204" pitchFamily="18" charset="0"/>
                        </a:rPr>
                        <m:t>∞&lt;</m:t>
                      </m:r>
                      <m:r>
                        <a:rPr lang="en-US" altLang="zh-CN" b="1" i="1" smtClean="0">
                          <a:latin typeface="Cambria Math" panose="02040503050406030204" pitchFamily="18" charset="0"/>
                          <a:ea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&lt;∞</m:t>
                      </m:r>
                    </m:oMath>
                  </m:oMathPara>
                </a14:m>
                <a:endParaRPr lang="zh-CN" altLang="en-US" dirty="0"/>
              </a:p>
            </p:txBody>
          </p:sp>
        </mc:Choice>
        <mc:Fallback xmlns="">
          <p:sp>
            <p:nvSpPr>
              <p:cNvPr id="5" name="文本框 4">
                <a:extLst>
                  <a:ext uri="{FF2B5EF4-FFF2-40B4-BE49-F238E27FC236}">
                    <a16:creationId xmlns:a16="http://schemas.microsoft.com/office/drawing/2014/main" id="{C5A27995-E1C4-4ABA-B9A7-62C61253CEC9}"/>
                  </a:ext>
                </a:extLst>
              </p:cNvPr>
              <p:cNvSpPr txBox="1">
                <a:spLocks noRot="1" noChangeAspect="1" noMove="1" noResize="1" noEditPoints="1" noAdjustHandles="1" noChangeArrowheads="1" noChangeShapeType="1" noTextEdit="1"/>
              </p:cNvSpPr>
              <p:nvPr/>
            </p:nvSpPr>
            <p:spPr>
              <a:xfrm>
                <a:off x="1470319" y="1484784"/>
                <a:ext cx="6419385" cy="989182"/>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1+#ppt_w/2"/>
                                          </p:val>
                                        </p:tav>
                                        <p:tav tm="100000">
                                          <p:val>
                                            <p:strVal val="#ppt_x"/>
                                          </p:val>
                                        </p:tav>
                                      </p:tavLst>
                                    </p:anim>
                                    <p:anim calcmode="lin" valueType="num">
                                      <p:cBhvr additive="base">
                                        <p:cTn id="8"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a:extLst>
              <a:ext uri="{FF2B5EF4-FFF2-40B4-BE49-F238E27FC236}">
                <a16:creationId xmlns:a16="http://schemas.microsoft.com/office/drawing/2014/main" id="{691F0709-B576-42AE-A523-41DAD0FF32D9}"/>
              </a:ext>
            </a:extLst>
          </p:cNvPr>
          <p:cNvSpPr txBox="1">
            <a:spLocks noChangeArrowheads="1"/>
          </p:cNvSpPr>
          <p:nvPr/>
        </p:nvSpPr>
        <p:spPr bwMode="auto">
          <a:xfrm>
            <a:off x="27693" y="360033"/>
            <a:ext cx="3124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200" dirty="0">
                <a:latin typeface="Times New Roman" panose="02020603050405020304" pitchFamily="18" charset="0"/>
              </a:rPr>
              <a:t>标准正态分布</a:t>
            </a:r>
          </a:p>
        </p:txBody>
      </p:sp>
      <p:sp>
        <p:nvSpPr>
          <p:cNvPr id="62467" name="Text Box 3">
            <a:extLst>
              <a:ext uri="{FF2B5EF4-FFF2-40B4-BE49-F238E27FC236}">
                <a16:creationId xmlns:a16="http://schemas.microsoft.com/office/drawing/2014/main" id="{17F306B6-BFDA-4FE2-AB8A-850E5593308D}"/>
              </a:ext>
            </a:extLst>
          </p:cNvPr>
          <p:cNvSpPr txBox="1">
            <a:spLocks noChangeArrowheads="1"/>
          </p:cNvSpPr>
          <p:nvPr/>
        </p:nvSpPr>
        <p:spPr bwMode="auto">
          <a:xfrm>
            <a:off x="458787" y="1155701"/>
            <a:ext cx="7847013" cy="370325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ts val="0"/>
              </a:spcBef>
              <a:spcAft>
                <a:spcPts val="0"/>
              </a:spcAft>
            </a:pPr>
            <a:r>
              <a:rPr kumimoji="1" lang="zh-CN" altLang="en-US" dirty="0">
                <a:latin typeface="Times New Roman" panose="02020603050405020304" pitchFamily="18" charset="0"/>
              </a:rPr>
              <a:t>　当</a:t>
            </a:r>
            <a:r>
              <a:rPr kumimoji="1" lang="zh-CN" altLang="en-US" i="1"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=0</a:t>
            </a:r>
            <a:r>
              <a:rPr kumimoji="1" lang="zh-CN" altLang="en-US" dirty="0">
                <a:latin typeface="Times New Roman" panose="02020603050405020304" pitchFamily="18" charset="0"/>
                <a:sym typeface="Symbol" panose="05050102010706020507" pitchFamily="18" charset="2"/>
              </a:rPr>
              <a:t>，</a:t>
            </a:r>
            <a:r>
              <a:rPr kumimoji="1" lang="zh-CN" altLang="en-US" i="1"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=1</a:t>
            </a:r>
            <a:r>
              <a:rPr kumimoji="1" lang="zh-CN" altLang="en-US" dirty="0">
                <a:latin typeface="Times New Roman" panose="02020603050405020304" pitchFamily="18" charset="0"/>
                <a:sym typeface="Symbol" panose="05050102010706020507" pitchFamily="18" charset="2"/>
              </a:rPr>
              <a:t>时称</a:t>
            </a:r>
            <a:r>
              <a:rPr kumimoji="1" lang="en-US" altLang="zh-CN" i="1" dirty="0">
                <a:latin typeface="Times New Roman" panose="02020603050405020304" pitchFamily="18" charset="0"/>
                <a:sym typeface="Symbol" panose="05050102010706020507" pitchFamily="18" charset="2"/>
              </a:rPr>
              <a:t>X</a:t>
            </a:r>
            <a:r>
              <a:rPr kumimoji="1" lang="zh-CN" altLang="en-US" dirty="0">
                <a:latin typeface="Times New Roman" panose="02020603050405020304" pitchFamily="18" charset="0"/>
                <a:sym typeface="Symbol" panose="05050102010706020507" pitchFamily="18" charset="2"/>
              </a:rPr>
              <a:t>服从标准正态分布，记为</a:t>
            </a:r>
            <a:r>
              <a:rPr kumimoji="1" lang="en-US" altLang="zh-CN" i="1" dirty="0">
                <a:latin typeface="Times New Roman" panose="02020603050405020304" pitchFamily="18" charset="0"/>
                <a:sym typeface="Symbol" panose="05050102010706020507" pitchFamily="18" charset="2"/>
              </a:rPr>
              <a:t>X N</a:t>
            </a:r>
            <a:r>
              <a:rPr kumimoji="1" lang="en-US" altLang="zh-CN" dirty="0">
                <a:latin typeface="Times New Roman" panose="02020603050405020304" pitchFamily="18" charset="0"/>
                <a:sym typeface="Symbol" panose="05050102010706020507" pitchFamily="18" charset="2"/>
              </a:rPr>
              <a:t>(0,1)</a:t>
            </a:r>
            <a:r>
              <a:rPr kumimoji="1" lang="zh-CN" altLang="en-US" dirty="0">
                <a:latin typeface="Times New Roman" panose="02020603050405020304" pitchFamily="18" charset="0"/>
                <a:sym typeface="Symbol" panose="05050102010706020507" pitchFamily="18" charset="2"/>
              </a:rPr>
              <a:t>。其概率密度和分布函数分别为：</a:t>
            </a:r>
          </a:p>
          <a:p>
            <a:pPr>
              <a:lnSpc>
                <a:spcPct val="150000"/>
              </a:lnSpc>
              <a:spcBef>
                <a:spcPts val="0"/>
              </a:spcBef>
              <a:spcAft>
                <a:spcPts val="0"/>
              </a:spcAft>
            </a:pPr>
            <a:endParaRPr kumimoji="1" lang="zh-CN" altLang="en-US" dirty="0">
              <a:latin typeface="Times New Roman" panose="02020603050405020304" pitchFamily="18" charset="0"/>
              <a:sym typeface="Symbol" panose="05050102010706020507" pitchFamily="18" charset="2"/>
            </a:endParaRPr>
          </a:p>
          <a:p>
            <a:pPr>
              <a:lnSpc>
                <a:spcPct val="150000"/>
              </a:lnSpc>
              <a:spcBef>
                <a:spcPts val="0"/>
              </a:spcBef>
              <a:spcAft>
                <a:spcPts val="0"/>
              </a:spcAft>
            </a:pPr>
            <a:endParaRPr kumimoji="1" lang="zh-CN" altLang="en-US" dirty="0">
              <a:latin typeface="Times New Roman" panose="02020603050405020304" pitchFamily="18" charset="0"/>
              <a:sym typeface="Symbol" panose="05050102010706020507" pitchFamily="18" charset="2"/>
            </a:endParaRPr>
          </a:p>
          <a:p>
            <a:pPr>
              <a:lnSpc>
                <a:spcPct val="150000"/>
              </a:lnSpc>
              <a:spcBef>
                <a:spcPts val="0"/>
              </a:spcBef>
              <a:spcAft>
                <a:spcPts val="0"/>
              </a:spcAft>
            </a:pPr>
            <a:endParaRPr kumimoji="1" lang="zh-CN" altLang="en-US" dirty="0">
              <a:latin typeface="Times New Roman" panose="02020603050405020304" pitchFamily="18" charset="0"/>
              <a:sym typeface="Symbol" panose="05050102010706020507" pitchFamily="18" charset="2"/>
            </a:endParaRPr>
          </a:p>
          <a:p>
            <a:pPr>
              <a:lnSpc>
                <a:spcPct val="150000"/>
              </a:lnSpc>
              <a:spcBef>
                <a:spcPts val="0"/>
              </a:spcBef>
              <a:spcAft>
                <a:spcPts val="0"/>
              </a:spcAft>
            </a:pPr>
            <a:endParaRPr kumimoji="1" lang="en-US" altLang="zh-CN" baseline="30000" dirty="0">
              <a:latin typeface="Times New Roman" panose="02020603050405020304" pitchFamily="18" charset="0"/>
              <a:sym typeface="Symbol" panose="05050102010706020507" pitchFamily="18" charset="2"/>
            </a:endParaRPr>
          </a:p>
        </p:txBody>
      </p:sp>
      <p:sp>
        <p:nvSpPr>
          <p:cNvPr id="62469" name="Text Box 5">
            <a:extLst>
              <a:ext uri="{FF2B5EF4-FFF2-40B4-BE49-F238E27FC236}">
                <a16:creationId xmlns:a16="http://schemas.microsoft.com/office/drawing/2014/main" id="{7246CF72-F1C1-4B87-A116-1622A0252297}"/>
              </a:ext>
            </a:extLst>
          </p:cNvPr>
          <p:cNvSpPr txBox="1">
            <a:spLocks noChangeArrowheads="1"/>
          </p:cNvSpPr>
          <p:nvPr/>
        </p:nvSpPr>
        <p:spPr bwMode="auto">
          <a:xfrm>
            <a:off x="500063" y="4735330"/>
            <a:ext cx="7543800" cy="113823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5000"/>
              </a:spcBef>
              <a:spcAft>
                <a:spcPct val="20000"/>
              </a:spcAft>
            </a:pPr>
            <a:r>
              <a:rPr kumimoji="1" lang="zh-CN" altLang="en-US" dirty="0">
                <a:latin typeface="Times New Roman" panose="02020603050405020304" pitchFamily="18" charset="0"/>
              </a:rPr>
              <a:t>　显然 </a:t>
            </a:r>
            <a:r>
              <a:rPr kumimoji="1" lang="zh-CN" altLang="en-US" i="1"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a:t>
            </a:r>
            <a:r>
              <a:rPr kumimoji="1" lang="en-US" altLang="zh-CN" i="1" dirty="0">
                <a:latin typeface="Times New Roman" panose="02020603050405020304" pitchFamily="18" charset="0"/>
                <a:sym typeface="Symbol" panose="05050102010706020507" pitchFamily="18" charset="2"/>
              </a:rPr>
              <a:t>x</a:t>
            </a:r>
            <a:r>
              <a:rPr kumimoji="1" lang="en-US" altLang="zh-CN" dirty="0">
                <a:latin typeface="Times New Roman" panose="02020603050405020304" pitchFamily="18" charset="0"/>
                <a:sym typeface="Symbol" panose="05050102010706020507" pitchFamily="18" charset="2"/>
              </a:rPr>
              <a:t>) = 1- </a:t>
            </a:r>
            <a:r>
              <a:rPr kumimoji="1" lang="en-US" altLang="zh-CN" i="1"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a:t>
            </a:r>
            <a:r>
              <a:rPr kumimoji="1" lang="en-US" altLang="zh-CN" i="1" dirty="0">
                <a:latin typeface="Times New Roman" panose="02020603050405020304" pitchFamily="18" charset="0"/>
                <a:sym typeface="Symbol" panose="05050102010706020507" pitchFamily="18" charset="2"/>
              </a:rPr>
              <a:t>x</a:t>
            </a:r>
            <a:r>
              <a:rPr kumimoji="1" lang="en-US" altLang="zh-CN" dirty="0">
                <a:latin typeface="Times New Roman" panose="02020603050405020304" pitchFamily="18" charset="0"/>
                <a:sym typeface="Symbol" panose="05050102010706020507" pitchFamily="18" charset="2"/>
              </a:rPr>
              <a:t>)</a:t>
            </a:r>
          </a:p>
          <a:p>
            <a:pPr>
              <a:spcBef>
                <a:spcPct val="25000"/>
              </a:spcBef>
              <a:spcAft>
                <a:spcPct val="20000"/>
              </a:spcAft>
            </a:pPr>
            <a:r>
              <a:rPr kumimoji="1" lang="zh-CN" altLang="en-US" dirty="0">
                <a:latin typeface="Times New Roman" panose="02020603050405020304" pitchFamily="18" charset="0"/>
                <a:sym typeface="Symbol" panose="05050102010706020507" pitchFamily="18" charset="2"/>
              </a:rPr>
              <a:t>另外，有</a:t>
            </a:r>
            <a:r>
              <a:rPr kumimoji="1" lang="zh-CN" altLang="en-US" i="1" dirty="0">
                <a:latin typeface="Times New Roman" panose="02020603050405020304" pitchFamily="18" charset="0"/>
                <a:sym typeface="Symbol" panose="05050102010706020507" pitchFamily="18" charset="2"/>
              </a:rPr>
              <a:t> </a:t>
            </a:r>
            <a:r>
              <a:rPr kumimoji="1" lang="en-US" altLang="zh-CN" dirty="0">
                <a:latin typeface="Times New Roman" panose="02020603050405020304" pitchFamily="18" charset="0"/>
                <a:sym typeface="Symbol" panose="05050102010706020507" pitchFamily="18" charset="2"/>
              </a:rPr>
              <a:t>(</a:t>
            </a:r>
            <a:r>
              <a:rPr kumimoji="1" lang="en-US" altLang="zh-CN" i="1" dirty="0">
                <a:latin typeface="Times New Roman" panose="02020603050405020304" pitchFamily="18" charset="0"/>
                <a:sym typeface="Symbol" panose="05050102010706020507" pitchFamily="18" charset="2"/>
              </a:rPr>
              <a:t>x</a:t>
            </a:r>
            <a:r>
              <a:rPr kumimoji="1" lang="en-US" altLang="zh-CN" dirty="0">
                <a:latin typeface="Times New Roman" panose="02020603050405020304" pitchFamily="18" charset="0"/>
                <a:sym typeface="Symbol" panose="05050102010706020507" pitchFamily="18" charset="2"/>
              </a:rPr>
              <a:t>) </a:t>
            </a:r>
            <a:r>
              <a:rPr kumimoji="1" lang="zh-CN" altLang="en-US" dirty="0">
                <a:latin typeface="Times New Roman" panose="02020603050405020304" pitchFamily="18" charset="0"/>
                <a:sym typeface="Symbol" panose="05050102010706020507" pitchFamily="18" charset="2"/>
              </a:rPr>
              <a:t>的函数表可查。</a:t>
            </a:r>
            <a:endParaRPr kumimoji="1" lang="zh-CN" altLang="en-US" dirty="0">
              <a:latin typeface="Times New Roman" panose="02020603050405020304" pitchFamily="18" charset="0"/>
            </a:endParaRPr>
          </a:p>
        </p:txBody>
      </p:sp>
      <p:pic>
        <p:nvPicPr>
          <p:cNvPr id="62470" name="Picture 6">
            <a:extLst>
              <a:ext uri="{FF2B5EF4-FFF2-40B4-BE49-F238E27FC236}">
                <a16:creationId xmlns:a16="http://schemas.microsoft.com/office/drawing/2014/main" id="{242752F2-2509-4B40-9C13-A085D93EDE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6335" y="2613538"/>
            <a:ext cx="3563937"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F96F32F-7F9E-4BFA-819A-FF6A9F2271B9}"/>
                  </a:ext>
                </a:extLst>
              </p:cNvPr>
              <p:cNvSpPr txBox="1"/>
              <p:nvPr/>
            </p:nvSpPr>
            <p:spPr>
              <a:xfrm>
                <a:off x="1755773" y="2535309"/>
                <a:ext cx="2792239" cy="944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𝝋</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ad>
                            <m:radPr>
                              <m:degHide m:val="on"/>
                              <m:ctrlPr>
                                <a:rPr lang="en-US" altLang="zh-CN" b="1" i="1" smtClean="0">
                                  <a:latin typeface="Cambria Math" panose="02040503050406030204" pitchFamily="18" charset="0"/>
                                </a:rPr>
                              </m:ctrlPr>
                            </m:radPr>
                            <m:deg/>
                            <m:e>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e>
                          </m:rad>
                        </m:den>
                      </m:f>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𝒙</m:t>
                                  </m:r>
                                </m:e>
                                <m:sup>
                                  <m:r>
                                    <a:rPr lang="en-US" altLang="zh-CN" b="1" i="1" smtClean="0">
                                      <a:latin typeface="Cambria Math" panose="02040503050406030204" pitchFamily="18" charset="0"/>
                                    </a:rPr>
                                    <m:t>𝟐</m:t>
                                  </m:r>
                                </m:sup>
                              </m:sSup>
                            </m:num>
                            <m:den>
                              <m:r>
                                <a:rPr lang="en-US" altLang="zh-CN" b="1" i="1" smtClean="0">
                                  <a:latin typeface="Cambria Math" panose="02040503050406030204" pitchFamily="18" charset="0"/>
                                </a:rPr>
                                <m:t>𝟐</m:t>
                              </m:r>
                            </m:den>
                          </m:f>
                        </m:sup>
                      </m:sSup>
                    </m:oMath>
                  </m:oMathPara>
                </a14:m>
                <a:endParaRPr lang="zh-CN" altLang="en-US" dirty="0"/>
              </a:p>
            </p:txBody>
          </p:sp>
        </mc:Choice>
        <mc:Fallback xmlns="">
          <p:sp>
            <p:nvSpPr>
              <p:cNvPr id="9" name="文本框 8">
                <a:extLst>
                  <a:ext uri="{FF2B5EF4-FFF2-40B4-BE49-F238E27FC236}">
                    <a16:creationId xmlns:a16="http://schemas.microsoft.com/office/drawing/2014/main" id="{0F96F32F-7F9E-4BFA-819A-FF6A9F2271B9}"/>
                  </a:ext>
                </a:extLst>
              </p:cNvPr>
              <p:cNvSpPr txBox="1">
                <a:spLocks noRot="1" noChangeAspect="1" noMove="1" noResize="1" noEditPoints="1" noAdjustHandles="1" noChangeArrowheads="1" noChangeShapeType="1" noTextEdit="1"/>
              </p:cNvSpPr>
              <p:nvPr/>
            </p:nvSpPr>
            <p:spPr>
              <a:xfrm>
                <a:off x="1755773" y="2535309"/>
                <a:ext cx="2792239" cy="94404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7338033-53A7-406B-BEC0-DA504BACB51F}"/>
                  </a:ext>
                </a:extLst>
              </p:cNvPr>
              <p:cNvSpPr txBox="1"/>
              <p:nvPr/>
            </p:nvSpPr>
            <p:spPr>
              <a:xfrm>
                <a:off x="1580484" y="3629464"/>
                <a:ext cx="3684214" cy="960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b="1" i="1" smtClean="0">
                          <a:latin typeface="Cambria Math" panose="02040503050406030204" pitchFamily="18" charset="0"/>
                        </a:rPr>
                        <m:t>𝝓</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ad>
                            <m:radPr>
                              <m:degHide m:val="on"/>
                              <m:ctrlPr>
                                <a:rPr lang="en-US" altLang="zh-CN" b="1" i="1" smtClean="0">
                                  <a:latin typeface="Cambria Math" panose="02040503050406030204" pitchFamily="18" charset="0"/>
                                </a:rPr>
                              </m:ctrlPr>
                            </m:radPr>
                            <m:deg/>
                            <m:e>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e>
                          </m:rad>
                        </m:den>
                      </m:f>
                      <m:nary>
                        <m:naryPr>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m:t>
                          </m:r>
                        </m:sub>
                        <m:sup>
                          <m:r>
                            <a:rPr lang="en-US" altLang="zh-CN" b="1" i="1" smtClean="0">
                              <a:latin typeface="Cambria Math" panose="02040503050406030204" pitchFamily="18" charset="0"/>
                            </a:rPr>
                            <m:t>𝒙</m:t>
                          </m:r>
                        </m:sup>
                        <m:e>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𝒕</m:t>
                                      </m:r>
                                    </m:e>
                                    <m:sup>
                                      <m:r>
                                        <a:rPr lang="en-US" altLang="zh-CN" b="1" i="1" smtClean="0">
                                          <a:latin typeface="Cambria Math" panose="02040503050406030204" pitchFamily="18" charset="0"/>
                                        </a:rPr>
                                        <m:t>𝟐</m:t>
                                      </m:r>
                                    </m:sup>
                                  </m:sSup>
                                </m:num>
                                <m:den>
                                  <m:r>
                                    <a:rPr lang="en-US" altLang="zh-CN" b="1" i="1" smtClean="0">
                                      <a:latin typeface="Cambria Math" panose="02040503050406030204" pitchFamily="18" charset="0"/>
                                    </a:rPr>
                                    <m:t>𝟐</m:t>
                                  </m:r>
                                </m:den>
                              </m:f>
                              <m:r>
                                <a:rPr lang="en-US" altLang="zh-CN" b="1" i="1" smtClean="0">
                                  <a:latin typeface="Cambria Math" panose="02040503050406030204" pitchFamily="18" charset="0"/>
                                </a:rPr>
                                <m:t>𝒅𝒕</m:t>
                              </m:r>
                            </m:sup>
                          </m:sSup>
                        </m:e>
                      </m:nary>
                    </m:oMath>
                  </m:oMathPara>
                </a14:m>
                <a:endParaRPr lang="zh-CN" altLang="en-US" dirty="0"/>
              </a:p>
            </p:txBody>
          </p:sp>
        </mc:Choice>
        <mc:Fallback xmlns="">
          <p:sp>
            <p:nvSpPr>
              <p:cNvPr id="10" name="文本框 9">
                <a:extLst>
                  <a:ext uri="{FF2B5EF4-FFF2-40B4-BE49-F238E27FC236}">
                    <a16:creationId xmlns:a16="http://schemas.microsoft.com/office/drawing/2014/main" id="{27338033-53A7-406B-BEC0-DA504BACB51F}"/>
                  </a:ext>
                </a:extLst>
              </p:cNvPr>
              <p:cNvSpPr txBox="1">
                <a:spLocks noRot="1" noChangeAspect="1" noMove="1" noResize="1" noEditPoints="1" noAdjustHandles="1" noChangeArrowheads="1" noChangeShapeType="1" noTextEdit="1"/>
              </p:cNvSpPr>
              <p:nvPr/>
            </p:nvSpPr>
            <p:spPr>
              <a:xfrm>
                <a:off x="1580484" y="3629464"/>
                <a:ext cx="3684214" cy="960199"/>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anim calcmode="lin" valueType="num">
                                      <p:cBhvr additive="base">
                                        <p:cTn id="7" dur="500" fill="hold"/>
                                        <p:tgtEl>
                                          <p:spTgt spid="62467"/>
                                        </p:tgtEl>
                                        <p:attrNameLst>
                                          <p:attrName>ppt_x</p:attrName>
                                        </p:attrNameLst>
                                      </p:cBhvr>
                                      <p:tavLst>
                                        <p:tav tm="0">
                                          <p:val>
                                            <p:strVal val="1+#ppt_w/2"/>
                                          </p:val>
                                        </p:tav>
                                        <p:tav tm="100000">
                                          <p:val>
                                            <p:strVal val="#ppt_x"/>
                                          </p:val>
                                        </p:tav>
                                      </p:tavLst>
                                    </p:anim>
                                    <p:anim calcmode="lin" valueType="num">
                                      <p:cBhvr additive="base">
                                        <p:cTn id="8" dur="500" fill="hold"/>
                                        <p:tgtEl>
                                          <p:spTgt spid="624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2469"/>
                                        </p:tgtEl>
                                        <p:attrNameLst>
                                          <p:attrName>style.visibility</p:attrName>
                                        </p:attrNameLst>
                                      </p:cBhvr>
                                      <p:to>
                                        <p:strVal val="visible"/>
                                      </p:to>
                                    </p:set>
                                    <p:anim calcmode="lin" valueType="num">
                                      <p:cBhvr additive="base">
                                        <p:cTn id="13" dur="500" fill="hold"/>
                                        <p:tgtEl>
                                          <p:spTgt spid="62469"/>
                                        </p:tgtEl>
                                        <p:attrNameLst>
                                          <p:attrName>ppt_x</p:attrName>
                                        </p:attrNameLst>
                                      </p:cBhvr>
                                      <p:tavLst>
                                        <p:tav tm="0">
                                          <p:val>
                                            <p:strVal val="1+#ppt_w/2"/>
                                          </p:val>
                                        </p:tav>
                                        <p:tav tm="100000">
                                          <p:val>
                                            <p:strVal val="#ppt_x"/>
                                          </p:val>
                                        </p:tav>
                                      </p:tavLst>
                                    </p:anim>
                                    <p:anim calcmode="lin" valueType="num">
                                      <p:cBhvr additive="base">
                                        <p:cTn id="14" dur="500" fill="hold"/>
                                        <p:tgtEl>
                                          <p:spTgt spid="62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p:bldP spid="6246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a:extLst>
              <a:ext uri="{FF2B5EF4-FFF2-40B4-BE49-F238E27FC236}">
                <a16:creationId xmlns:a16="http://schemas.microsoft.com/office/drawing/2014/main" id="{E7EE9CD1-C30C-4D38-9E1E-DF7109EF1A9E}"/>
              </a:ext>
            </a:extLst>
          </p:cNvPr>
          <p:cNvSpPr>
            <a:spLocks noGrp="1" noChangeArrowheads="1"/>
          </p:cNvSpPr>
          <p:nvPr>
            <p:ph type="title"/>
          </p:nvPr>
        </p:nvSpPr>
        <p:spPr>
          <a:xfrm>
            <a:off x="179512" y="512179"/>
            <a:ext cx="8229600" cy="699878"/>
          </a:xfrm>
        </p:spPr>
        <p:txBody>
          <a:bodyPr anchor="b"/>
          <a:lstStyle/>
          <a:p>
            <a:pPr algn="l"/>
            <a:r>
              <a:rPr lang="en-US" altLang="zh-CN" sz="3600" b="1" dirty="0">
                <a:solidFill>
                  <a:schemeClr val="tx1"/>
                </a:solidFill>
                <a:latin typeface="Times New Roman" panose="02020603050405020304" pitchFamily="18" charset="0"/>
              </a:rPr>
              <a:t>2. </a:t>
            </a:r>
            <a:r>
              <a:rPr lang="zh-CN" altLang="en-US" sz="3600" b="1" dirty="0">
                <a:solidFill>
                  <a:schemeClr val="tx1"/>
                </a:solidFill>
                <a:latin typeface="Times New Roman" panose="02020603050405020304" pitchFamily="18" charset="0"/>
              </a:rPr>
              <a:t>均匀分布</a:t>
            </a:r>
            <a:r>
              <a:rPr lang="en-US" altLang="zh-CN" sz="3600" b="1" dirty="0">
                <a:solidFill>
                  <a:schemeClr val="tx1"/>
                </a:solidFill>
                <a:latin typeface="Times New Roman" panose="02020603050405020304" pitchFamily="18" charset="0"/>
              </a:rPr>
              <a:t>(Uniform distribution) </a:t>
            </a:r>
          </a:p>
        </p:txBody>
      </p:sp>
      <p:sp>
        <p:nvSpPr>
          <p:cNvPr id="51205" name="Rectangle 3">
            <a:extLst>
              <a:ext uri="{FF2B5EF4-FFF2-40B4-BE49-F238E27FC236}">
                <a16:creationId xmlns:a16="http://schemas.microsoft.com/office/drawing/2014/main" id="{9D0A3927-0A3E-4449-ABD3-16DB37733D43}"/>
              </a:ext>
            </a:extLst>
          </p:cNvPr>
          <p:cNvSpPr>
            <a:spLocks noGrp="1" noChangeArrowheads="1"/>
          </p:cNvSpPr>
          <p:nvPr>
            <p:ph idx="1"/>
          </p:nvPr>
        </p:nvSpPr>
        <p:spPr>
          <a:xfrm>
            <a:off x="457200" y="1309813"/>
            <a:ext cx="8229600" cy="4495800"/>
          </a:xfrm>
        </p:spPr>
        <p:txBody>
          <a:bodyPr/>
          <a:lstStyle/>
          <a:p>
            <a:pPr marL="20638" indent="-20638">
              <a:lnSpc>
                <a:spcPct val="150000"/>
              </a:lnSpc>
              <a:spcBef>
                <a:spcPts val="0"/>
              </a:spcBef>
              <a:buFontTx/>
              <a:buNone/>
            </a:pPr>
            <a:r>
              <a:rPr lang="zh-CN" altLang="en-US" sz="2400" b="1" dirty="0">
                <a:solidFill>
                  <a:srgbClr val="E313ED"/>
                </a:solidFill>
              </a:rPr>
              <a:t>应用：</a:t>
            </a:r>
            <a:r>
              <a:rPr lang="zh-CN" altLang="en-US" sz="2400" b="1" dirty="0"/>
              <a:t>当无法区分随机变量取不同值的可能性有何不同时，可以假定随机变量服从区间上的均匀分布。</a:t>
            </a:r>
            <a:endParaRPr lang="en-US" altLang="zh-CN" sz="2400" b="1" dirty="0"/>
          </a:p>
          <a:p>
            <a:pPr marL="20638" indent="-20638">
              <a:lnSpc>
                <a:spcPct val="150000"/>
              </a:lnSpc>
              <a:spcBef>
                <a:spcPts val="0"/>
              </a:spcBef>
              <a:buFontTx/>
              <a:buNone/>
            </a:pPr>
            <a:endParaRPr lang="en-US" altLang="zh-CN" sz="2400" b="1" dirty="0"/>
          </a:p>
          <a:p>
            <a:pPr marL="20638" indent="-20638">
              <a:lnSpc>
                <a:spcPct val="150000"/>
              </a:lnSpc>
              <a:spcBef>
                <a:spcPts val="0"/>
              </a:spcBef>
              <a:buFontTx/>
              <a:buNone/>
            </a:pPr>
            <a:r>
              <a:rPr lang="zh-CN" altLang="en-US" sz="2400" b="1" dirty="0"/>
              <a:t>概率密度函数为：</a:t>
            </a:r>
            <a:endParaRPr lang="en-US" altLang="zh-CN" sz="2400" b="1" dirty="0"/>
          </a:p>
          <a:p>
            <a:pPr marL="20638" indent="-20638">
              <a:lnSpc>
                <a:spcPct val="150000"/>
              </a:lnSpc>
              <a:spcBef>
                <a:spcPts val="0"/>
              </a:spcBef>
              <a:buFontTx/>
              <a:buNone/>
            </a:pPr>
            <a:endParaRPr lang="en-US" altLang="zh-CN" sz="2400" b="1" dirty="0"/>
          </a:p>
          <a:p>
            <a:pPr marL="20638" indent="-20638">
              <a:lnSpc>
                <a:spcPct val="150000"/>
              </a:lnSpc>
              <a:spcBef>
                <a:spcPts val="0"/>
              </a:spcBef>
              <a:buFontTx/>
              <a:buNone/>
            </a:pPr>
            <a:endParaRPr lang="en-US" altLang="zh-CN" sz="2400" b="1" dirty="0"/>
          </a:p>
          <a:p>
            <a:pPr marL="20638" indent="-20638">
              <a:lnSpc>
                <a:spcPct val="150000"/>
              </a:lnSpc>
              <a:spcBef>
                <a:spcPts val="0"/>
              </a:spcBef>
              <a:buFontTx/>
              <a:buNone/>
            </a:pPr>
            <a:r>
              <a:rPr lang="zh-CN" altLang="en-US" sz="2400" b="1" dirty="0"/>
              <a:t>分布函数为： </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B839705-68CA-4C3A-A040-1D98A7A64044}"/>
                  </a:ext>
                </a:extLst>
              </p:cNvPr>
              <p:cNvSpPr txBox="1"/>
              <p:nvPr/>
            </p:nvSpPr>
            <p:spPr>
              <a:xfrm>
                <a:off x="2852384" y="2600696"/>
                <a:ext cx="4784002" cy="1375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den>
                              </m:f>
                              <m:r>
                                <a:rPr lang="en-US" altLang="zh-CN" b="1" i="1" smtClean="0">
                                  <a:latin typeface="Cambria Math" panose="02040503050406030204" pitchFamily="18" charset="0"/>
                                </a:rPr>
                                <m:t>,  </m:t>
                              </m:r>
                              <m:r>
                                <a:rPr lang="en-US" altLang="zh-CN" b="1" i="1" smtClean="0">
                                  <a:latin typeface="Cambria Math" panose="02040503050406030204" pitchFamily="18" charset="0"/>
                                </a:rPr>
                                <m:t>𝒂</m:t>
                              </m:r>
                              <m:r>
                                <a:rPr lang="en-US" altLang="zh-CN" b="1" i="1" smtClean="0">
                                  <a:latin typeface="Cambria Math" panose="02040503050406030204" pitchFamily="18" charset="0"/>
                                </a:rPr>
                                <m:t>&lt;</m:t>
                              </m:r>
                              <m:r>
                                <a:rPr lang="en-US" altLang="zh-CN" b="1" i="1" smtClean="0">
                                  <a:latin typeface="Cambria Math" panose="02040503050406030204" pitchFamily="18" charset="0"/>
                                </a:rPr>
                                <m:t>𝒙</m:t>
                              </m:r>
                              <m:r>
                                <a:rPr lang="en-US" altLang="zh-CN" b="1" i="1" smtClean="0">
                                  <a:latin typeface="Cambria Math" panose="02040503050406030204" pitchFamily="18" charset="0"/>
                                </a:rPr>
                                <m:t>&lt;</m:t>
                              </m:r>
                              <m:r>
                                <a:rPr lang="en-US" altLang="zh-CN" b="1" i="1" smtClean="0">
                                  <a:latin typeface="Cambria Math" panose="02040503050406030204" pitchFamily="18" charset="0"/>
                                </a:rPr>
                                <m:t>𝒃</m:t>
                              </m:r>
                            </m:e>
                            <m:e>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zh-CN" altLang="en-US" i="1">
                                  <a:latin typeface="Cambria Math" panose="02040503050406030204" pitchFamily="18" charset="0"/>
                                </a:rPr>
                                <m:t>，</m:t>
                              </m:r>
                              <m:r>
                                <a:rPr lang="en-US" altLang="zh-CN" b="1" i="1" smtClean="0">
                                  <a:latin typeface="Cambria Math" panose="02040503050406030204" pitchFamily="18" charset="0"/>
                                </a:rPr>
                                <m:t>                 </m:t>
                              </m:r>
                              <m:r>
                                <a:rPr lang="en-US" altLang="zh-CN" b="1" i="1" smtClean="0">
                                  <a:latin typeface="Cambria Math" panose="02040503050406030204" pitchFamily="18" charset="0"/>
                                </a:rPr>
                                <m:t>𝒐𝒕𝒉𝒆𝒓𝒔</m:t>
                              </m:r>
                            </m:e>
                          </m:eqArr>
                        </m:e>
                      </m:d>
                    </m:oMath>
                  </m:oMathPara>
                </a14:m>
                <a:endParaRPr lang="zh-CN" altLang="en-US" dirty="0"/>
              </a:p>
            </p:txBody>
          </p:sp>
        </mc:Choice>
        <mc:Fallback xmlns="">
          <p:sp>
            <p:nvSpPr>
              <p:cNvPr id="2" name="文本框 1">
                <a:extLst>
                  <a:ext uri="{FF2B5EF4-FFF2-40B4-BE49-F238E27FC236}">
                    <a16:creationId xmlns:a16="http://schemas.microsoft.com/office/drawing/2014/main" id="{2B839705-68CA-4C3A-A040-1D98A7A64044}"/>
                  </a:ext>
                </a:extLst>
              </p:cNvPr>
              <p:cNvSpPr txBox="1">
                <a:spLocks noRot="1" noChangeAspect="1" noMove="1" noResize="1" noEditPoints="1" noAdjustHandles="1" noChangeArrowheads="1" noChangeShapeType="1" noTextEdit="1"/>
              </p:cNvSpPr>
              <p:nvPr/>
            </p:nvSpPr>
            <p:spPr>
              <a:xfrm>
                <a:off x="2852384" y="2600696"/>
                <a:ext cx="4784002" cy="137563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53AC5EF-ED99-487D-887F-2E7E43B5C30E}"/>
                  </a:ext>
                </a:extLst>
              </p:cNvPr>
              <p:cNvSpPr txBox="1"/>
              <p:nvPr/>
            </p:nvSpPr>
            <p:spPr>
              <a:xfrm>
                <a:off x="2814102" y="4166502"/>
                <a:ext cx="5872698" cy="16371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rPr>
                                <m:t>&lt;</m:t>
                              </m:r>
                              <m:r>
                                <a:rPr lang="en-US" altLang="zh-CN" b="1" i="1" smtClean="0">
                                  <a:latin typeface="Cambria Math" panose="02040503050406030204" pitchFamily="18" charset="0"/>
                                </a:rPr>
                                <m:t>𝒂</m:t>
                              </m:r>
                            </m:e>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num>
                                <m:den>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den>
                              </m:f>
                              <m:r>
                                <a:rPr lang="en-US" altLang="zh-CN" b="1" i="1" smtClean="0">
                                  <a:latin typeface="Cambria Math" panose="02040503050406030204" pitchFamily="18" charset="0"/>
                                </a:rPr>
                                <m:t>,               </m:t>
                              </m:r>
                              <m:r>
                                <a:rPr lang="en-US" altLang="zh-CN" b="1" i="1" smtClean="0">
                                  <a:latin typeface="Cambria Math" panose="02040503050406030204" pitchFamily="18" charset="0"/>
                                </a:rPr>
                                <m:t>𝒂</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&lt;</m:t>
                              </m:r>
                              <m:r>
                                <a:rPr lang="en-US" altLang="zh-CN" b="1" i="1" smtClean="0">
                                  <a:latin typeface="Cambria Math" panose="02040503050406030204" pitchFamily="18" charset="0"/>
                                  <a:ea typeface="Cambria Math" panose="02040503050406030204" pitchFamily="18" charset="0"/>
                                </a:rPr>
                                <m:t>𝒃</m:t>
                              </m:r>
                            </m:e>
                            <m:e>
                              <m:r>
                                <a:rPr lang="en-US" altLang="zh-CN" b="1" i="1" smtClean="0">
                                  <a:latin typeface="Cambria Math" panose="02040503050406030204" pitchFamily="18" charset="0"/>
                                </a:rPr>
                                <m:t>𝟏</m:t>
                              </m:r>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𝒃</m:t>
                              </m:r>
                            </m:e>
                          </m:eqArr>
                        </m:e>
                      </m:d>
                    </m:oMath>
                  </m:oMathPara>
                </a14:m>
                <a:endParaRPr lang="zh-CN" altLang="en-US" dirty="0"/>
              </a:p>
            </p:txBody>
          </p:sp>
        </mc:Choice>
        <mc:Fallback xmlns="">
          <p:sp>
            <p:nvSpPr>
              <p:cNvPr id="11" name="文本框 10">
                <a:extLst>
                  <a:ext uri="{FF2B5EF4-FFF2-40B4-BE49-F238E27FC236}">
                    <a16:creationId xmlns:a16="http://schemas.microsoft.com/office/drawing/2014/main" id="{753AC5EF-ED99-487D-887F-2E7E43B5C30E}"/>
                  </a:ext>
                </a:extLst>
              </p:cNvPr>
              <p:cNvSpPr txBox="1">
                <a:spLocks noRot="1" noChangeAspect="1" noMove="1" noResize="1" noEditPoints="1" noAdjustHandles="1" noChangeArrowheads="1" noChangeShapeType="1" noTextEdit="1"/>
              </p:cNvSpPr>
              <p:nvPr/>
            </p:nvSpPr>
            <p:spPr>
              <a:xfrm>
                <a:off x="2814102" y="4166502"/>
                <a:ext cx="5872698" cy="1637115"/>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a:extLst>
              <a:ext uri="{FF2B5EF4-FFF2-40B4-BE49-F238E27FC236}">
                <a16:creationId xmlns:a16="http://schemas.microsoft.com/office/drawing/2014/main" id="{5D396A6D-69C8-4617-AE6D-2D762391FDBA}"/>
              </a:ext>
            </a:extLst>
          </p:cNvPr>
          <p:cNvSpPr>
            <a:spLocks noGrp="1" noChangeArrowheads="1"/>
          </p:cNvSpPr>
          <p:nvPr>
            <p:ph type="title"/>
          </p:nvPr>
        </p:nvSpPr>
        <p:spPr>
          <a:xfrm>
            <a:off x="107504" y="344451"/>
            <a:ext cx="8229600" cy="750912"/>
          </a:xfrm>
        </p:spPr>
        <p:txBody>
          <a:bodyPr anchor="b"/>
          <a:lstStyle/>
          <a:p>
            <a:pPr algn="l"/>
            <a:r>
              <a:rPr lang="en-US" altLang="zh-CN" sz="3600" b="1" dirty="0">
                <a:solidFill>
                  <a:schemeClr val="tx1"/>
                </a:solidFill>
                <a:latin typeface="Times New Roman" panose="02020603050405020304" pitchFamily="18" charset="0"/>
                <a:cs typeface="Times New Roman" panose="02020603050405020304" pitchFamily="18" charset="0"/>
              </a:rPr>
              <a:t>3. </a:t>
            </a:r>
            <a:r>
              <a:rPr lang="zh-CN" altLang="en-US" sz="3600" b="1" dirty="0">
                <a:solidFill>
                  <a:schemeClr val="tx1"/>
                </a:solidFill>
                <a:latin typeface="Times New Roman" panose="02020603050405020304" pitchFamily="18" charset="0"/>
                <a:cs typeface="Times New Roman" panose="02020603050405020304" pitchFamily="18" charset="0"/>
              </a:rPr>
              <a:t>指数分布</a:t>
            </a:r>
            <a:r>
              <a:rPr lang="en-US" altLang="zh-CN" sz="3600" b="1" dirty="0">
                <a:solidFill>
                  <a:schemeClr val="tx1"/>
                </a:solidFill>
                <a:latin typeface="Times New Roman" panose="02020603050405020304" pitchFamily="18" charset="0"/>
                <a:cs typeface="Times New Roman" panose="02020603050405020304" pitchFamily="18" charset="0"/>
              </a:rPr>
              <a:t>(Exponential distribution) </a:t>
            </a:r>
          </a:p>
        </p:txBody>
      </p:sp>
      <p:sp>
        <p:nvSpPr>
          <p:cNvPr id="52229" name="Rectangle 3">
            <a:extLst>
              <a:ext uri="{FF2B5EF4-FFF2-40B4-BE49-F238E27FC236}">
                <a16:creationId xmlns:a16="http://schemas.microsoft.com/office/drawing/2014/main" id="{4503C167-375E-4F29-89B2-FA9187B7A048}"/>
              </a:ext>
            </a:extLst>
          </p:cNvPr>
          <p:cNvSpPr>
            <a:spLocks noGrp="1" noChangeArrowheads="1"/>
          </p:cNvSpPr>
          <p:nvPr>
            <p:ph idx="1"/>
          </p:nvPr>
        </p:nvSpPr>
        <p:spPr>
          <a:xfrm>
            <a:off x="385762" y="1412776"/>
            <a:ext cx="8229600" cy="4495800"/>
          </a:xfrm>
        </p:spPr>
        <p:txBody>
          <a:bodyPr/>
          <a:lstStyle/>
          <a:p>
            <a:pPr marL="20638" indent="-20638">
              <a:lnSpc>
                <a:spcPct val="150000"/>
              </a:lnSpc>
              <a:spcBef>
                <a:spcPts val="0"/>
              </a:spcBef>
              <a:buFontTx/>
              <a:buNone/>
            </a:pPr>
            <a:r>
              <a:rPr lang="zh-CN" altLang="en-US" sz="2800" b="1" dirty="0">
                <a:solidFill>
                  <a:srgbClr val="E313ED"/>
                </a:solidFill>
                <a:latin typeface="宋体" panose="02010600030101010101" pitchFamily="2" charset="-122"/>
              </a:rPr>
              <a:t>应用：</a:t>
            </a:r>
            <a:r>
              <a:rPr lang="zh-CN" altLang="en-US" sz="2800" b="1" dirty="0">
                <a:latin typeface="宋体" panose="02010600030101010101" pitchFamily="2" charset="-122"/>
              </a:rPr>
              <a:t>描述独立事件发生的时间间隔。自然界中有很多种“寿命”可以用指数分布来描述，如电子元件的寿命、动物的寿命、电话的通话时间、服务系统的服务时间等。</a:t>
            </a:r>
            <a:endParaRPr lang="en-US" altLang="zh-CN" sz="2800" b="1" dirty="0">
              <a:latin typeface="宋体" panose="02010600030101010101" pitchFamily="2" charset="-122"/>
            </a:endParaRPr>
          </a:p>
          <a:p>
            <a:pPr marL="20638" indent="-20638">
              <a:lnSpc>
                <a:spcPct val="150000"/>
              </a:lnSpc>
              <a:spcBef>
                <a:spcPts val="0"/>
              </a:spcBef>
              <a:buFontTx/>
              <a:buNone/>
            </a:pPr>
            <a:r>
              <a:rPr lang="zh-CN" altLang="en-US" sz="2800" b="1" dirty="0">
                <a:latin typeface="宋体" panose="02010600030101010101" pitchFamily="2" charset="-122"/>
              </a:rPr>
              <a:t>概率密度函数为：</a:t>
            </a:r>
            <a:endParaRPr lang="en-US" altLang="zh-CN" sz="2800" b="1" dirty="0">
              <a:latin typeface="宋体" panose="02010600030101010101" pitchFamily="2" charset="-122"/>
            </a:endParaRPr>
          </a:p>
          <a:p>
            <a:pPr marL="20638" indent="-20638">
              <a:lnSpc>
                <a:spcPct val="150000"/>
              </a:lnSpc>
              <a:spcBef>
                <a:spcPts val="0"/>
              </a:spcBef>
              <a:buFontTx/>
              <a:buNone/>
            </a:pPr>
            <a:endParaRPr lang="en-US" altLang="zh-CN" sz="2800" b="1" dirty="0">
              <a:latin typeface="宋体" panose="02010600030101010101" pitchFamily="2" charset="-122"/>
            </a:endParaRPr>
          </a:p>
          <a:p>
            <a:pPr marL="20638" indent="-20638">
              <a:lnSpc>
                <a:spcPct val="150000"/>
              </a:lnSpc>
              <a:spcBef>
                <a:spcPts val="0"/>
              </a:spcBef>
              <a:buFontTx/>
              <a:buNone/>
            </a:pPr>
            <a:r>
              <a:rPr lang="zh-CN" altLang="en-US" sz="2800" b="1" dirty="0">
                <a:latin typeface="宋体" panose="02010600030101010101" pitchFamily="2" charset="-122"/>
              </a:rPr>
              <a:t>分布函数为： </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6A188B0-F5DA-47C3-B98C-99AC8DCC4D90}"/>
                  </a:ext>
                </a:extLst>
              </p:cNvPr>
              <p:cNvSpPr txBox="1"/>
              <p:nvPr/>
            </p:nvSpPr>
            <p:spPr>
              <a:xfrm>
                <a:off x="3062142" y="3878618"/>
                <a:ext cx="5177315" cy="9611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zh-CN" altLang="en-US" b="1" i="1" smtClean="0">
                              <a:latin typeface="Cambria Math" panose="02040503050406030204" pitchFamily="18" charset="0"/>
                            </a:rPr>
                            <m:t>𝝀</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r>
                                <a:rPr lang="zh-CN" altLang="en-US" b="1" i="1" smtClean="0">
                                  <a:latin typeface="Cambria Math" panose="02040503050406030204" pitchFamily="18" charset="0"/>
                                </a:rPr>
                                <m:t>𝝀</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r>
                                    <a:rPr lang="zh-CN" altLang="en-US" b="1" i="1" smtClean="0">
                                      <a:latin typeface="Cambria Math" panose="02040503050406030204" pitchFamily="18" charset="0"/>
                                    </a:rPr>
                                    <m:t>𝝀</m:t>
                                  </m:r>
                                  <m:r>
                                    <a:rPr lang="en-US" altLang="zh-CN" b="1" i="1" smtClean="0">
                                      <a:latin typeface="Cambria Math" panose="02040503050406030204" pitchFamily="18" charset="0"/>
                                    </a:rPr>
                                    <m:t>𝒙</m:t>
                                  </m:r>
                                </m:sup>
                              </m:sSup>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𝟎</m:t>
                              </m:r>
                            </m:e>
                            <m:e>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rPr>
                                <m:t>&lt;</m:t>
                              </m:r>
                              <m:r>
                                <a:rPr lang="en-US" altLang="zh-CN" b="1" i="1" smtClean="0">
                                  <a:latin typeface="Cambria Math" panose="02040503050406030204" pitchFamily="18" charset="0"/>
                                </a:rPr>
                                <m:t>𝟎</m:t>
                              </m:r>
                            </m:e>
                          </m:eqArr>
                        </m:e>
                      </m:d>
                    </m:oMath>
                  </m:oMathPara>
                </a14:m>
                <a:endParaRPr lang="zh-CN" altLang="en-US" dirty="0"/>
              </a:p>
            </p:txBody>
          </p:sp>
        </mc:Choice>
        <mc:Fallback xmlns="">
          <p:sp>
            <p:nvSpPr>
              <p:cNvPr id="2" name="文本框 1">
                <a:extLst>
                  <a:ext uri="{FF2B5EF4-FFF2-40B4-BE49-F238E27FC236}">
                    <a16:creationId xmlns:a16="http://schemas.microsoft.com/office/drawing/2014/main" id="{D6A188B0-F5DA-47C3-B98C-99AC8DCC4D90}"/>
                  </a:ext>
                </a:extLst>
              </p:cNvPr>
              <p:cNvSpPr txBox="1">
                <a:spLocks noRot="1" noChangeAspect="1" noMove="1" noResize="1" noEditPoints="1" noAdjustHandles="1" noChangeArrowheads="1" noChangeShapeType="1" noTextEdit="1"/>
              </p:cNvSpPr>
              <p:nvPr/>
            </p:nvSpPr>
            <p:spPr>
              <a:xfrm>
                <a:off x="3062142" y="3878618"/>
                <a:ext cx="5177315" cy="96116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5BA251D-FF2F-4AB8-8E76-DCBB3566C9D5}"/>
                  </a:ext>
                </a:extLst>
              </p:cNvPr>
              <p:cNvSpPr txBox="1"/>
              <p:nvPr/>
            </p:nvSpPr>
            <p:spPr>
              <a:xfrm>
                <a:off x="2955703" y="5157192"/>
                <a:ext cx="5390194" cy="9611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zh-CN" altLang="en-US" b="1" i="1" smtClean="0">
                              <a:latin typeface="Cambria Math" panose="02040503050406030204" pitchFamily="18" charset="0"/>
                            </a:rPr>
                            <m:t>𝝀</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r>
                                    <a:rPr lang="zh-CN" altLang="en-US" b="1" i="1" smtClean="0">
                                      <a:latin typeface="Cambria Math" panose="02040503050406030204" pitchFamily="18" charset="0"/>
                                    </a:rPr>
                                    <m:t>𝝀</m:t>
                                  </m:r>
                                  <m:r>
                                    <a:rPr lang="en-US" altLang="zh-CN" b="1" i="1" smtClean="0">
                                      <a:latin typeface="Cambria Math" panose="02040503050406030204" pitchFamily="18" charset="0"/>
                                    </a:rPr>
                                    <m:t>𝒙</m:t>
                                  </m:r>
                                </m:sup>
                              </m:sSup>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𝟎</m:t>
                              </m:r>
                            </m:e>
                            <m:e>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rPr>
                                <m:t>&lt;</m:t>
                              </m:r>
                              <m:r>
                                <a:rPr lang="en-US" altLang="zh-CN" b="1" i="1" smtClean="0">
                                  <a:latin typeface="Cambria Math" panose="02040503050406030204" pitchFamily="18" charset="0"/>
                                </a:rPr>
                                <m:t>𝟎</m:t>
                              </m:r>
                            </m:e>
                          </m:eqArr>
                        </m:e>
                      </m:d>
                    </m:oMath>
                  </m:oMathPara>
                </a14:m>
                <a:endParaRPr lang="zh-CN" altLang="en-US" dirty="0"/>
              </a:p>
            </p:txBody>
          </p:sp>
        </mc:Choice>
        <mc:Fallback xmlns="">
          <p:sp>
            <p:nvSpPr>
              <p:cNvPr id="11" name="文本框 10">
                <a:extLst>
                  <a:ext uri="{FF2B5EF4-FFF2-40B4-BE49-F238E27FC236}">
                    <a16:creationId xmlns:a16="http://schemas.microsoft.com/office/drawing/2014/main" id="{95BA251D-FF2F-4AB8-8E76-DCBB3566C9D5}"/>
                  </a:ext>
                </a:extLst>
              </p:cNvPr>
              <p:cNvSpPr txBox="1">
                <a:spLocks noRot="1" noChangeAspect="1" noMove="1" noResize="1" noEditPoints="1" noAdjustHandles="1" noChangeArrowheads="1" noChangeShapeType="1" noTextEdit="1"/>
              </p:cNvSpPr>
              <p:nvPr/>
            </p:nvSpPr>
            <p:spPr>
              <a:xfrm>
                <a:off x="2955703" y="5157192"/>
                <a:ext cx="5390194" cy="961161"/>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3175D64A-5308-460B-A320-E6A860F060DE}"/>
              </a:ext>
            </a:extLst>
          </p:cNvPr>
          <p:cNvSpPr>
            <a:spLocks noGrp="1" noChangeArrowheads="1"/>
          </p:cNvSpPr>
          <p:nvPr>
            <p:ph idx="1"/>
          </p:nvPr>
        </p:nvSpPr>
        <p:spPr>
          <a:xfrm>
            <a:off x="313531" y="404664"/>
            <a:ext cx="8229600" cy="4495800"/>
          </a:xfrm>
        </p:spPr>
        <p:txBody>
          <a:bodyPr/>
          <a:lstStyle/>
          <a:p>
            <a:pPr>
              <a:lnSpc>
                <a:spcPct val="150000"/>
              </a:lnSpc>
              <a:spcBef>
                <a:spcPts val="0"/>
              </a:spcBef>
              <a:buFontTx/>
              <a:buNone/>
            </a:pPr>
            <a:r>
              <a:rPr lang="zh-CN" altLang="en-US" sz="3600" b="1" dirty="0">
                <a:latin typeface="Times New Roman" panose="02020603050405020304" pitchFamily="18" charset="0"/>
              </a:rPr>
              <a:t>与泊松过程的关系：</a:t>
            </a:r>
          </a:p>
          <a:p>
            <a:pPr>
              <a:lnSpc>
                <a:spcPct val="150000"/>
              </a:lnSpc>
              <a:spcBef>
                <a:spcPts val="0"/>
              </a:spcBef>
            </a:pPr>
            <a:r>
              <a:rPr lang="zh-CN" altLang="en-US" sz="2800" b="1" dirty="0">
                <a:latin typeface="Times New Roman" panose="02020603050405020304" pitchFamily="18" charset="0"/>
              </a:rPr>
              <a:t>泊松过程中，第</a:t>
            </a:r>
            <a:r>
              <a:rPr lang="en-US" altLang="zh-CN" sz="2800" b="1" i="1" dirty="0">
                <a:latin typeface="Times New Roman" panose="02020603050405020304" pitchFamily="18" charset="0"/>
              </a:rPr>
              <a:t>k</a:t>
            </a:r>
            <a:r>
              <a:rPr lang="zh-CN" altLang="en-US" sz="2800" b="1" dirty="0">
                <a:latin typeface="Times New Roman" panose="02020603050405020304" pitchFamily="18" charset="0"/>
              </a:rPr>
              <a:t>次随机事件与第</a:t>
            </a:r>
            <a:r>
              <a:rPr lang="en-US" altLang="zh-CN" sz="2800" b="1" i="1" dirty="0">
                <a:latin typeface="Times New Roman" panose="02020603050405020304" pitchFamily="18" charset="0"/>
              </a:rPr>
              <a:t>k</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次随机事件出现的时间间隔服从指数分布。这是因为，第</a:t>
            </a:r>
            <a:r>
              <a:rPr lang="en-US" altLang="zh-CN" sz="2800" b="1" i="1" dirty="0">
                <a:latin typeface="Times New Roman" panose="02020603050405020304" pitchFamily="18" charset="0"/>
              </a:rPr>
              <a:t>k</a:t>
            </a:r>
            <a:r>
              <a:rPr lang="zh-CN" altLang="en-US" sz="2800" b="1" dirty="0">
                <a:latin typeface="Times New Roman" panose="02020603050405020304" pitchFamily="18" charset="0"/>
              </a:rPr>
              <a:t>次随机事件之后长度为 </a:t>
            </a:r>
            <a:r>
              <a:rPr lang="en-US" altLang="zh-CN" sz="2800" b="1" i="1" dirty="0">
                <a:latin typeface="Times New Roman" panose="02020603050405020304" pitchFamily="18" charset="0"/>
              </a:rPr>
              <a:t>t </a:t>
            </a:r>
            <a:r>
              <a:rPr lang="zh-CN" altLang="en-US" sz="2800" b="1" dirty="0">
                <a:latin typeface="Times New Roman" panose="02020603050405020304" pitchFamily="18" charset="0"/>
              </a:rPr>
              <a:t>的时间段内，第</a:t>
            </a:r>
            <a:r>
              <a:rPr lang="en-US" altLang="zh-CN" sz="2800" b="1" i="1" dirty="0">
                <a:latin typeface="Times New Roman" panose="02020603050405020304" pitchFamily="18" charset="0"/>
              </a:rPr>
              <a:t>k</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次随机事件出现的概率等于</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减去这个时间段内没有随机事件出现的概率。而根据泊松过程的定义，长度为</a:t>
            </a:r>
            <a:r>
              <a:rPr lang="en-US" altLang="zh-CN" sz="2800" b="1" i="1" dirty="0">
                <a:latin typeface="Times New Roman" panose="02020603050405020304" pitchFamily="18" charset="0"/>
              </a:rPr>
              <a:t>t </a:t>
            </a:r>
            <a:r>
              <a:rPr lang="zh-CN" altLang="en-US" sz="2800" b="1" dirty="0">
                <a:latin typeface="Times New Roman" panose="02020603050405020304" pitchFamily="18" charset="0"/>
              </a:rPr>
              <a:t>的时间段内没有随机事件出现的概率等于：</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B583BD1-6B56-44D9-8BC4-B2B9FC8C26A9}"/>
                  </a:ext>
                </a:extLst>
              </p:cNvPr>
              <p:cNvSpPr txBox="1"/>
              <p:nvPr/>
            </p:nvSpPr>
            <p:spPr>
              <a:xfrm>
                <a:off x="3072800" y="5085184"/>
                <a:ext cx="2711062" cy="882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r>
                                <a:rPr lang="zh-CN" altLang="en-US" b="1" i="1" smtClean="0">
                                  <a:latin typeface="Cambria Math" panose="02040503050406030204" pitchFamily="18" charset="0"/>
                                </a:rPr>
                                <m:t>𝝀</m:t>
                              </m:r>
                              <m:r>
                                <a:rPr lang="en-US" altLang="zh-CN" b="1" i="1" smtClean="0">
                                  <a:latin typeface="Cambria Math" panose="02040503050406030204" pitchFamily="18" charset="0"/>
                                </a:rPr>
                                <m:t>𝒕</m:t>
                              </m:r>
                            </m:sup>
                          </m:sSup>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a:rPr lang="zh-CN" altLang="en-US" i="1" smtClean="0">
                                      <a:latin typeface="Cambria Math" panose="02040503050406030204" pitchFamily="18" charset="0"/>
                                    </a:rPr>
                                    <m:t>𝝀</m:t>
                                  </m:r>
                                  <m:r>
                                    <a:rPr lang="en-US" altLang="zh-CN" b="1" i="1" smtClean="0">
                                      <a:latin typeface="Cambria Math" panose="02040503050406030204" pitchFamily="18" charset="0"/>
                                    </a:rPr>
                                    <m:t>𝒕</m:t>
                                  </m:r>
                                </m:e>
                              </m:d>
                            </m:e>
                            <m:sup>
                              <m:r>
                                <a:rPr lang="en-US" altLang="zh-CN" b="1" i="1" smtClean="0">
                                  <a:latin typeface="Cambria Math" panose="02040503050406030204" pitchFamily="18" charset="0"/>
                                </a:rPr>
                                <m:t>𝟎</m:t>
                              </m:r>
                            </m:sup>
                          </m:sSup>
                        </m:num>
                        <m:den>
                          <m:r>
                            <a:rPr lang="en-US" altLang="zh-CN" b="1" i="1" smtClean="0">
                              <a:latin typeface="Cambria Math" panose="02040503050406030204" pitchFamily="18" charset="0"/>
                            </a:rPr>
                            <m:t>𝟎</m:t>
                          </m:r>
                          <m:r>
                            <a:rPr lang="en-US" altLang="zh-CN" b="1" i="1" smtClean="0">
                              <a:latin typeface="Cambria Math" panose="02040503050406030204" pitchFamily="18" charset="0"/>
                            </a:rPr>
                            <m:t>!</m:t>
                          </m:r>
                        </m:den>
                      </m:f>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r>
                            <a:rPr lang="zh-CN" altLang="en-US" b="1" i="1" smtClean="0">
                              <a:latin typeface="Cambria Math" panose="02040503050406030204" pitchFamily="18" charset="0"/>
                            </a:rPr>
                            <m:t>𝝀</m:t>
                          </m:r>
                          <m:r>
                            <a:rPr lang="en-US" altLang="zh-CN" b="1" i="1" smtClean="0">
                              <a:latin typeface="Cambria Math" panose="02040503050406030204" pitchFamily="18" charset="0"/>
                            </a:rPr>
                            <m:t>𝒕</m:t>
                          </m:r>
                        </m:sup>
                      </m:sSup>
                    </m:oMath>
                  </m:oMathPara>
                </a14:m>
                <a:endParaRPr lang="zh-CN" altLang="en-US" dirty="0"/>
              </a:p>
            </p:txBody>
          </p:sp>
        </mc:Choice>
        <mc:Fallback xmlns="">
          <p:sp>
            <p:nvSpPr>
              <p:cNvPr id="3" name="文本框 2">
                <a:extLst>
                  <a:ext uri="{FF2B5EF4-FFF2-40B4-BE49-F238E27FC236}">
                    <a16:creationId xmlns:a16="http://schemas.microsoft.com/office/drawing/2014/main" id="{8B583BD1-6B56-44D9-8BC4-B2B9FC8C26A9}"/>
                  </a:ext>
                </a:extLst>
              </p:cNvPr>
              <p:cNvSpPr txBox="1">
                <a:spLocks noRot="1" noChangeAspect="1" noMove="1" noResize="1" noEditPoints="1" noAdjustHandles="1" noChangeArrowheads="1" noChangeShapeType="1" noTextEdit="1"/>
              </p:cNvSpPr>
              <p:nvPr/>
            </p:nvSpPr>
            <p:spPr>
              <a:xfrm>
                <a:off x="3072800" y="5085184"/>
                <a:ext cx="2711062" cy="882870"/>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562">
                                            <p:txEl>
                                              <p:pRg st="0" end="0"/>
                                            </p:txEl>
                                          </p:spTgt>
                                        </p:tgtEl>
                                        <p:attrNameLst>
                                          <p:attrName>style.visibility</p:attrName>
                                        </p:attrNameLst>
                                      </p:cBhvr>
                                      <p:to>
                                        <p:strVal val="visible"/>
                                      </p:to>
                                    </p:set>
                                    <p:animEffect transition="in" filter="wipe(left)">
                                      <p:cBhvr>
                                        <p:cTn id="7" dur="500"/>
                                        <p:tgtEl>
                                          <p:spTgt spid="665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562">
                                            <p:txEl>
                                              <p:pRg st="1" end="1"/>
                                            </p:txEl>
                                          </p:spTgt>
                                        </p:tgtEl>
                                        <p:attrNameLst>
                                          <p:attrName>style.visibility</p:attrName>
                                        </p:attrNameLst>
                                      </p:cBhvr>
                                      <p:to>
                                        <p:strVal val="visible"/>
                                      </p:to>
                                    </p:set>
                                    <p:animEffect transition="in" filter="wipe(left)">
                                      <p:cBhvr>
                                        <p:cTn id="12" dur="500"/>
                                        <p:tgtEl>
                                          <p:spTgt spid="665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A393D6B-F8B1-4723-A846-B9E502D6AF98}"/>
              </a:ext>
            </a:extLst>
          </p:cNvPr>
          <p:cNvSpPr>
            <a:spLocks noGrp="1" noChangeArrowheads="1"/>
          </p:cNvSpPr>
          <p:nvPr>
            <p:ph type="body" sz="half" idx="4294967295"/>
          </p:nvPr>
        </p:nvSpPr>
        <p:spPr>
          <a:xfrm>
            <a:off x="0" y="1052513"/>
            <a:ext cx="8604448" cy="4248150"/>
          </a:xfrm>
        </p:spPr>
        <p:txBody>
          <a:bodyPr/>
          <a:lstStyle/>
          <a:p>
            <a:pPr marL="0" indent="357188">
              <a:lnSpc>
                <a:spcPct val="150000"/>
              </a:lnSpc>
              <a:spcBef>
                <a:spcPts val="0"/>
              </a:spcBef>
              <a:buFontTx/>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所以第 </a:t>
            </a:r>
            <a:r>
              <a:rPr lang="en-US" altLang="zh-CN" sz="2800" b="1" i="1" dirty="0">
                <a:latin typeface="Times New Roman" panose="02020603050405020304" pitchFamily="18" charset="0"/>
              </a:rPr>
              <a:t>k </a:t>
            </a:r>
            <a:r>
              <a:rPr lang="zh-CN" altLang="en-US" sz="2800" b="1" dirty="0">
                <a:latin typeface="Times New Roman" panose="02020603050405020304" pitchFamily="18" charset="0"/>
              </a:rPr>
              <a:t>次随机事件之后长度为 </a:t>
            </a:r>
            <a:r>
              <a:rPr lang="en-US" altLang="zh-CN" sz="2800" b="1" i="1" dirty="0">
                <a:latin typeface="Times New Roman" panose="02020603050405020304" pitchFamily="18" charset="0"/>
              </a:rPr>
              <a:t>t </a:t>
            </a:r>
            <a:r>
              <a:rPr lang="zh-CN" altLang="en-US" sz="2800" b="1" dirty="0">
                <a:latin typeface="Times New Roman" panose="02020603050405020304" pitchFamily="18" charset="0"/>
              </a:rPr>
              <a:t>的时间段内，第</a:t>
            </a:r>
            <a:r>
              <a:rPr lang="en-US" altLang="zh-CN" sz="2800" b="1" i="1" dirty="0">
                <a:latin typeface="Times New Roman" panose="02020603050405020304" pitchFamily="18" charset="0"/>
              </a:rPr>
              <a:t>k</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次随机事件出现的概率等于：</a:t>
            </a:r>
          </a:p>
          <a:p>
            <a:pPr marL="0" indent="357188">
              <a:buFontTx/>
              <a:buNone/>
            </a:pPr>
            <a:endParaRPr lang="zh-CN" altLang="en-US" sz="2800" b="1" dirty="0">
              <a:latin typeface="Times New Roman" panose="02020603050405020304" pitchFamily="18" charset="0"/>
            </a:endParaRPr>
          </a:p>
          <a:p>
            <a:pPr marL="0" indent="357188">
              <a:buFontTx/>
              <a:buNone/>
            </a:pPr>
            <a:endParaRPr lang="zh-CN" altLang="en-US" sz="2800" b="1" dirty="0">
              <a:latin typeface="Times New Roman" panose="02020603050405020304" pitchFamily="18" charset="0"/>
            </a:endParaRPr>
          </a:p>
          <a:p>
            <a:pPr marL="0" indent="357188">
              <a:lnSpc>
                <a:spcPct val="150000"/>
              </a:lnSpc>
              <a:spcBef>
                <a:spcPts val="0"/>
              </a:spcBef>
              <a:buFontTx/>
              <a:buNone/>
            </a:pPr>
            <a:r>
              <a:rPr lang="zh-CN" altLang="en-US" sz="2800" b="1" dirty="0">
                <a:latin typeface="Times New Roman" panose="02020603050405020304" pitchFamily="18" charset="0"/>
              </a:rPr>
              <a:t>    这是指数的分布函数。这还表明了泊松过程的无记忆性。</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1D83C46-7BE4-4D84-927D-42F6035F416A}"/>
                  </a:ext>
                </a:extLst>
              </p:cNvPr>
              <p:cNvSpPr txBox="1"/>
              <p:nvPr/>
            </p:nvSpPr>
            <p:spPr>
              <a:xfrm>
                <a:off x="3779912" y="2952648"/>
                <a:ext cx="1402307" cy="4478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𝟏</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r>
                            <a:rPr lang="zh-CN" altLang="en-US" b="1" i="1" smtClean="0">
                              <a:latin typeface="Cambria Math" panose="02040503050406030204" pitchFamily="18" charset="0"/>
                            </a:rPr>
                            <m:t>𝝀</m:t>
                          </m:r>
                          <m:r>
                            <a:rPr lang="en-US" altLang="zh-CN" b="1" i="1" smtClean="0">
                              <a:latin typeface="Cambria Math" panose="02040503050406030204" pitchFamily="18" charset="0"/>
                            </a:rPr>
                            <m:t>𝒕</m:t>
                          </m:r>
                        </m:sup>
                      </m:sSup>
                    </m:oMath>
                  </m:oMathPara>
                </a14:m>
                <a:endParaRPr lang="zh-CN" altLang="en-US" dirty="0"/>
              </a:p>
            </p:txBody>
          </p:sp>
        </mc:Choice>
        <mc:Fallback xmlns="">
          <p:sp>
            <p:nvSpPr>
              <p:cNvPr id="3" name="文本框 2">
                <a:extLst>
                  <a:ext uri="{FF2B5EF4-FFF2-40B4-BE49-F238E27FC236}">
                    <a16:creationId xmlns:a16="http://schemas.microsoft.com/office/drawing/2014/main" id="{41D83C46-7BE4-4D84-927D-42F6035F416A}"/>
                  </a:ext>
                </a:extLst>
              </p:cNvPr>
              <p:cNvSpPr txBox="1">
                <a:spLocks noRot="1" noChangeAspect="1" noMove="1" noResize="1" noEditPoints="1" noAdjustHandles="1" noChangeArrowheads="1" noChangeShapeType="1" noTextEdit="1"/>
              </p:cNvSpPr>
              <p:nvPr/>
            </p:nvSpPr>
            <p:spPr>
              <a:xfrm>
                <a:off x="3779912" y="2952648"/>
                <a:ext cx="1402307" cy="447880"/>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Effect transition="in" filter="wipe(left)">
                                      <p:cBhvr>
                                        <p:cTn id="7" dur="500"/>
                                        <p:tgtEl>
                                          <p:spTgt spid="675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86">
                                            <p:txEl>
                                              <p:pRg st="3" end="3"/>
                                            </p:txEl>
                                          </p:spTgt>
                                        </p:tgtEl>
                                        <p:attrNameLst>
                                          <p:attrName>style.visibility</p:attrName>
                                        </p:attrNameLst>
                                      </p:cBhvr>
                                      <p:to>
                                        <p:strVal val="visible"/>
                                      </p:to>
                                    </p:set>
                                    <p:animEffect transition="in" filter="wipe(left)">
                                      <p:cBhvr>
                                        <p:cTn id="12" dur="500"/>
                                        <p:tgtEl>
                                          <p:spTgt spid="675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a:extLst>
              <a:ext uri="{FF2B5EF4-FFF2-40B4-BE49-F238E27FC236}">
                <a16:creationId xmlns:a16="http://schemas.microsoft.com/office/drawing/2014/main" id="{A38CF04F-7E6D-40F5-86E8-F45003D70E5C}"/>
              </a:ext>
            </a:extLst>
          </p:cNvPr>
          <p:cNvSpPr>
            <a:spLocks noGrp="1" noChangeArrowheads="1"/>
          </p:cNvSpPr>
          <p:nvPr>
            <p:ph type="title"/>
          </p:nvPr>
        </p:nvSpPr>
        <p:spPr>
          <a:xfrm>
            <a:off x="239713" y="294481"/>
            <a:ext cx="8229600" cy="611188"/>
          </a:xfrm>
        </p:spPr>
        <p:txBody>
          <a:bodyPr anchor="b"/>
          <a:lstStyle/>
          <a:p>
            <a:pPr algn="l"/>
            <a:r>
              <a:rPr lang="en-US" altLang="zh-CN" sz="3600" b="1" dirty="0">
                <a:solidFill>
                  <a:schemeClr val="tx1"/>
                </a:solidFill>
              </a:rPr>
              <a:t>4. </a:t>
            </a:r>
            <a:r>
              <a:rPr lang="zh-CN" altLang="en-US" sz="3600" b="1" dirty="0">
                <a:solidFill>
                  <a:schemeClr val="tx1"/>
                </a:solidFill>
              </a:rPr>
              <a:t>对数正态分布</a:t>
            </a:r>
          </a:p>
        </p:txBody>
      </p:sp>
      <p:sp>
        <p:nvSpPr>
          <p:cNvPr id="53253" name="Rectangle 3">
            <a:extLst>
              <a:ext uri="{FF2B5EF4-FFF2-40B4-BE49-F238E27FC236}">
                <a16:creationId xmlns:a16="http://schemas.microsoft.com/office/drawing/2014/main" id="{F624EB20-BAA8-4440-9A83-D8187A54F97C}"/>
              </a:ext>
            </a:extLst>
          </p:cNvPr>
          <p:cNvSpPr>
            <a:spLocks noGrp="1" noChangeArrowheads="1"/>
          </p:cNvSpPr>
          <p:nvPr>
            <p:ph idx="1"/>
          </p:nvPr>
        </p:nvSpPr>
        <p:spPr>
          <a:xfrm>
            <a:off x="457199" y="1036432"/>
            <a:ext cx="8229600" cy="4785133"/>
          </a:xfrm>
        </p:spPr>
        <p:txBody>
          <a:bodyPr/>
          <a:lstStyle/>
          <a:p>
            <a:pPr marL="1071563" indent="-1071563">
              <a:lnSpc>
                <a:spcPct val="150000"/>
              </a:lnSpc>
              <a:spcBef>
                <a:spcPts val="0"/>
              </a:spcBef>
              <a:buFontTx/>
              <a:buNone/>
            </a:pPr>
            <a:r>
              <a:rPr lang="zh-CN" altLang="en-US" sz="2800" b="1" dirty="0">
                <a:solidFill>
                  <a:srgbClr val="E313ED"/>
                </a:solidFill>
                <a:latin typeface="宋体" panose="02010600030101010101" pitchFamily="2" charset="-122"/>
              </a:rPr>
              <a:t>背景：</a:t>
            </a:r>
            <a:r>
              <a:rPr lang="zh-CN" altLang="en-US" sz="2800" b="1" dirty="0"/>
              <a:t>真实世界的很多分布是不对称的。比如财富的分布，富人的有钱程度远远超出穷人的贫穷程度，即财富分布曲线有右侧的长尾。</a:t>
            </a:r>
            <a:endParaRPr lang="en-US" altLang="zh-CN" sz="2800" b="1" dirty="0"/>
          </a:p>
          <a:p>
            <a:pPr marL="1071563" indent="-1071563">
              <a:lnSpc>
                <a:spcPct val="150000"/>
              </a:lnSpc>
              <a:spcBef>
                <a:spcPts val="0"/>
              </a:spcBef>
              <a:buFontTx/>
              <a:buNone/>
            </a:pPr>
            <a:r>
              <a:rPr lang="zh-CN" altLang="en-US" sz="2800" b="1" dirty="0">
                <a:latin typeface="宋体" panose="02010600030101010101" pitchFamily="2" charset="-122"/>
              </a:rPr>
              <a:t>概率密度函数为：</a:t>
            </a:r>
            <a:endParaRPr lang="en-US" altLang="zh-CN" sz="2800" b="1" dirty="0">
              <a:latin typeface="宋体" panose="02010600030101010101" pitchFamily="2" charset="-122"/>
            </a:endParaRPr>
          </a:p>
          <a:p>
            <a:pPr marL="1071563" indent="-1071563">
              <a:lnSpc>
                <a:spcPct val="150000"/>
              </a:lnSpc>
              <a:spcBef>
                <a:spcPts val="0"/>
              </a:spcBef>
              <a:buFontTx/>
              <a:buNone/>
            </a:pPr>
            <a:endParaRPr lang="en-US" altLang="zh-CN" sz="2800" b="1" dirty="0">
              <a:latin typeface="宋体" panose="02010600030101010101" pitchFamily="2" charset="-122"/>
            </a:endParaRPr>
          </a:p>
          <a:p>
            <a:pPr marL="1071563" indent="-1071563">
              <a:lnSpc>
                <a:spcPct val="150000"/>
              </a:lnSpc>
              <a:spcBef>
                <a:spcPts val="0"/>
              </a:spcBef>
              <a:buFontTx/>
              <a:buNone/>
            </a:pPr>
            <a:r>
              <a:rPr lang="zh-CN" altLang="en-US" sz="2800" b="1" dirty="0">
                <a:latin typeface="宋体" panose="02010600030101010101" pitchFamily="2" charset="-122"/>
              </a:rPr>
              <a:t>分布函数为：</a:t>
            </a:r>
            <a:endParaRPr lang="en-US" altLang="zh-CN" sz="2800" b="1" dirty="0">
              <a:solidFill>
                <a:srgbClr val="E313ED"/>
              </a:solidFill>
              <a:latin typeface="宋体" panose="02010600030101010101" pitchFamily="2"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A6F781C-42D5-48C2-BE43-CBA1456CB0FA}"/>
                  </a:ext>
                </a:extLst>
              </p:cNvPr>
              <p:cNvSpPr txBox="1"/>
              <p:nvPr/>
            </p:nvSpPr>
            <p:spPr>
              <a:xfrm>
                <a:off x="1163602" y="3454961"/>
                <a:ext cx="4072653" cy="9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𝒙</m:t>
                          </m:r>
                          <m:r>
                            <a:rPr lang="zh-CN" altLang="en-US" b="1" i="1" smtClean="0">
                              <a:latin typeface="Cambria Math" panose="02040503050406030204" pitchFamily="18" charset="0"/>
                            </a:rPr>
                            <m:t>𝝈</m:t>
                          </m:r>
                          <m:rad>
                            <m:radPr>
                              <m:degHide m:val="on"/>
                              <m:ctrlPr>
                                <a:rPr lang="en-US" altLang="zh-CN" b="1" i="1" smtClean="0">
                                  <a:latin typeface="Cambria Math" panose="02040503050406030204" pitchFamily="18" charset="0"/>
                                </a:rPr>
                              </m:ctrlPr>
                            </m:radPr>
                            <m:deg/>
                            <m:e>
                              <m:r>
                                <a:rPr lang="en-US" altLang="zh-CN" b="1" i="1" smtClean="0">
                                  <a:latin typeface="Cambria Math" panose="02040503050406030204" pitchFamily="18" charset="0"/>
                                </a:rPr>
                                <m:t>𝟐</m:t>
                              </m:r>
                              <m:r>
                                <a:rPr lang="zh-CN" altLang="en-US" b="1" i="1" smtClean="0">
                                  <a:latin typeface="Cambria Math" panose="02040503050406030204" pitchFamily="18" charset="0"/>
                                </a:rPr>
                                <m:t>𝝅</m:t>
                              </m:r>
                            </m:e>
                          </m:rad>
                        </m:den>
                      </m:f>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𝒍𝒏𝒙</m:t>
                                      </m:r>
                                      <m:r>
                                        <a:rPr lang="en-US" altLang="zh-CN" b="1" i="1" smtClean="0">
                                          <a:latin typeface="Cambria Math" panose="02040503050406030204" pitchFamily="18" charset="0"/>
                                        </a:rPr>
                                        <m:t>−</m:t>
                                      </m:r>
                                      <m:r>
                                        <a:rPr lang="zh-CN" altLang="en-US" b="1" i="1" smtClean="0">
                                          <a:latin typeface="Cambria Math" panose="02040503050406030204" pitchFamily="18" charset="0"/>
                                        </a:rPr>
                                        <m:t>𝝁</m:t>
                                      </m:r>
                                    </m:e>
                                  </m:d>
                                </m:e>
                                <m:sup>
                                  <m:r>
                                    <a:rPr lang="en-US" altLang="zh-CN" b="1" i="1" smtClean="0">
                                      <a:latin typeface="Cambria Math" panose="02040503050406030204" pitchFamily="18" charset="0"/>
                                    </a:rPr>
                                    <m:t>𝟐</m:t>
                                  </m:r>
                                </m:sup>
                              </m:sSup>
                            </m:num>
                            <m:den>
                              <m:r>
                                <a:rPr lang="en-US" altLang="zh-CN" b="1" i="1" smtClean="0">
                                  <a:latin typeface="Cambria Math" panose="02040503050406030204" pitchFamily="18" charset="0"/>
                                </a:rPr>
                                <m:t>𝟐</m:t>
                              </m:r>
                              <m:sSup>
                                <m:sSupPr>
                                  <m:ctrlPr>
                                    <a:rPr lang="en-US" altLang="zh-CN" b="1" i="1" smtClean="0">
                                      <a:latin typeface="Cambria Math" panose="02040503050406030204" pitchFamily="18" charset="0"/>
                                    </a:rPr>
                                  </m:ctrlPr>
                                </m:sSupPr>
                                <m:e>
                                  <m:r>
                                    <a:rPr lang="zh-CN" altLang="en-US" b="1" i="1" smtClean="0">
                                      <a:latin typeface="Cambria Math" panose="02040503050406030204" pitchFamily="18" charset="0"/>
                                    </a:rPr>
                                    <m:t>𝝈</m:t>
                                  </m:r>
                                </m:e>
                                <m:sup>
                                  <m:r>
                                    <a:rPr lang="en-US" altLang="zh-CN" b="1" i="1" smtClean="0">
                                      <a:latin typeface="Cambria Math" panose="02040503050406030204" pitchFamily="18" charset="0"/>
                                    </a:rPr>
                                    <m:t>𝟐</m:t>
                                  </m:r>
                                </m:sup>
                              </m:sSup>
                            </m:den>
                          </m:f>
                        </m:sup>
                      </m:sSup>
                    </m:oMath>
                  </m:oMathPara>
                </a14:m>
                <a:endParaRPr lang="zh-CN" altLang="en-US" dirty="0"/>
              </a:p>
            </p:txBody>
          </p:sp>
        </mc:Choice>
        <mc:Fallback xmlns="">
          <p:sp>
            <p:nvSpPr>
              <p:cNvPr id="11" name="文本框 10">
                <a:extLst>
                  <a:ext uri="{FF2B5EF4-FFF2-40B4-BE49-F238E27FC236}">
                    <a16:creationId xmlns:a16="http://schemas.microsoft.com/office/drawing/2014/main" id="{1A6F781C-42D5-48C2-BE43-CBA1456CB0FA}"/>
                  </a:ext>
                </a:extLst>
              </p:cNvPr>
              <p:cNvSpPr txBox="1">
                <a:spLocks noRot="1" noChangeAspect="1" noMove="1" noResize="1" noEditPoints="1" noAdjustHandles="1" noChangeArrowheads="1" noChangeShapeType="1" noTextEdit="1"/>
              </p:cNvSpPr>
              <p:nvPr/>
            </p:nvSpPr>
            <p:spPr>
              <a:xfrm>
                <a:off x="1163602" y="3454961"/>
                <a:ext cx="4072653" cy="98918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EB6EB13-16F5-4FCB-9019-C1E4F6A567EE}"/>
                  </a:ext>
                </a:extLst>
              </p:cNvPr>
              <p:cNvSpPr txBox="1"/>
              <p:nvPr/>
            </p:nvSpPr>
            <p:spPr>
              <a:xfrm>
                <a:off x="1187875" y="4834003"/>
                <a:ext cx="4371389" cy="958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r>
                        <a:rPr lang="en-US" altLang="zh-CN" b="1" i="1" smtClean="0">
                          <a:latin typeface="Cambria Math" panose="02040503050406030204" pitchFamily="18" charset="0"/>
                        </a:rPr>
                        <m:t>𝒆𝒓𝒇</m:t>
                      </m:r>
                      <m:d>
                        <m:dPr>
                          <m:begChr m:val="["/>
                          <m:endChr m:val="]"/>
                          <m:ctrlPr>
                            <a:rPr lang="en-US" altLang="zh-CN" b="1" i="1" smtClean="0">
                              <a:latin typeface="Cambria Math" panose="02040503050406030204" pitchFamily="18" charset="0"/>
                            </a:rPr>
                          </m:ctrlPr>
                        </m:d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𝒍𝒏𝒙</m:t>
                              </m:r>
                              <m:r>
                                <a:rPr lang="en-US" altLang="zh-CN" b="1" i="1" smtClean="0">
                                  <a:latin typeface="Cambria Math" panose="02040503050406030204" pitchFamily="18" charset="0"/>
                                </a:rPr>
                                <m:t>−</m:t>
                              </m:r>
                              <m:r>
                                <a:rPr lang="zh-CN" altLang="en-US" b="1" i="1" smtClean="0">
                                  <a:latin typeface="Cambria Math" panose="02040503050406030204" pitchFamily="18" charset="0"/>
                                </a:rPr>
                                <m:t>𝝁</m:t>
                              </m:r>
                            </m:num>
                            <m:den>
                              <m:r>
                                <a:rPr lang="zh-CN" altLang="en-US" b="1" i="1" smtClean="0">
                                  <a:latin typeface="Cambria Math" panose="02040503050406030204" pitchFamily="18" charset="0"/>
                                </a:rPr>
                                <m:t>𝝈</m:t>
                              </m:r>
                              <m:rad>
                                <m:radPr>
                                  <m:degHide m:val="on"/>
                                  <m:ctrlPr>
                                    <a:rPr lang="zh-CN" altLang="en-US" b="1" i="1" smtClean="0">
                                      <a:latin typeface="Cambria Math" panose="02040503050406030204" pitchFamily="18" charset="0"/>
                                    </a:rPr>
                                  </m:ctrlPr>
                                </m:radPr>
                                <m:deg/>
                                <m:e>
                                  <m:r>
                                    <a:rPr lang="en-US" altLang="zh-CN" b="1" i="1" smtClean="0">
                                      <a:latin typeface="Cambria Math" panose="02040503050406030204" pitchFamily="18" charset="0"/>
                                    </a:rPr>
                                    <m:t>𝟐</m:t>
                                  </m:r>
                                </m:e>
                              </m:rad>
                            </m:den>
                          </m:f>
                        </m:e>
                      </m:d>
                    </m:oMath>
                  </m:oMathPara>
                </a14:m>
                <a:endParaRPr lang="zh-CN" altLang="en-US" dirty="0"/>
              </a:p>
            </p:txBody>
          </p:sp>
        </mc:Choice>
        <mc:Fallback xmlns="">
          <p:sp>
            <p:nvSpPr>
              <p:cNvPr id="2" name="文本框 1">
                <a:extLst>
                  <a:ext uri="{FF2B5EF4-FFF2-40B4-BE49-F238E27FC236}">
                    <a16:creationId xmlns:a16="http://schemas.microsoft.com/office/drawing/2014/main" id="{CEB6EB13-16F5-4FCB-9019-C1E4F6A567EE}"/>
                  </a:ext>
                </a:extLst>
              </p:cNvPr>
              <p:cNvSpPr txBox="1">
                <a:spLocks noRot="1" noChangeAspect="1" noMove="1" noResize="1" noEditPoints="1" noAdjustHandles="1" noChangeArrowheads="1" noChangeShapeType="1" noTextEdit="1"/>
              </p:cNvSpPr>
              <p:nvPr/>
            </p:nvSpPr>
            <p:spPr>
              <a:xfrm>
                <a:off x="1187875" y="4834003"/>
                <a:ext cx="4371389" cy="958852"/>
              </a:xfrm>
              <a:prstGeom prst="rect">
                <a:avLst/>
              </a:prstGeom>
              <a:blipFill>
                <a:blip r:embed="rId3"/>
                <a:stretch>
                  <a:fillRect/>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4F85B02-C061-4185-A7CA-C1F9B850B38D}"/>
              </a:ext>
            </a:extLst>
          </p:cNvPr>
          <p:cNvPicPr>
            <a:picLocks noChangeAspect="1"/>
          </p:cNvPicPr>
          <p:nvPr/>
        </p:nvPicPr>
        <p:blipFill>
          <a:blip r:embed="rId4"/>
          <a:stretch>
            <a:fillRect/>
          </a:stretch>
        </p:blipFill>
        <p:spPr>
          <a:xfrm>
            <a:off x="5582773" y="3004322"/>
            <a:ext cx="3429000" cy="21812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a:extLst>
              <a:ext uri="{FF2B5EF4-FFF2-40B4-BE49-F238E27FC236}">
                <a16:creationId xmlns:a16="http://schemas.microsoft.com/office/drawing/2014/main" id="{A0B62B19-3258-4A93-9770-8E7D52BB350F}"/>
              </a:ext>
            </a:extLst>
          </p:cNvPr>
          <p:cNvSpPr>
            <a:spLocks noGrp="1" noChangeArrowheads="1"/>
          </p:cNvSpPr>
          <p:nvPr>
            <p:ph type="title"/>
          </p:nvPr>
        </p:nvSpPr>
        <p:spPr>
          <a:xfrm>
            <a:off x="107504" y="339105"/>
            <a:ext cx="8229600" cy="638795"/>
          </a:xfrm>
        </p:spPr>
        <p:txBody>
          <a:bodyPr anchor="b"/>
          <a:lstStyle/>
          <a:p>
            <a:pPr algn="l"/>
            <a:r>
              <a:rPr lang="en-US" altLang="zh-CN" sz="3600" b="1" dirty="0">
                <a:solidFill>
                  <a:schemeClr val="tx1"/>
                </a:solidFill>
                <a:latin typeface="Times New Roman" panose="02020603050405020304" pitchFamily="18" charset="0"/>
              </a:rPr>
              <a:t>5. </a:t>
            </a:r>
            <a:r>
              <a:rPr lang="zh-CN" altLang="en-US" sz="3600" b="1" dirty="0">
                <a:solidFill>
                  <a:schemeClr val="tx1"/>
                </a:solidFill>
                <a:latin typeface="Times New Roman" panose="02020603050405020304" pitchFamily="18" charset="0"/>
              </a:rPr>
              <a:t>柯西分布</a:t>
            </a:r>
            <a:r>
              <a:rPr lang="en-US" altLang="zh-CN" sz="3600" b="1" dirty="0">
                <a:solidFill>
                  <a:schemeClr val="tx1"/>
                </a:solidFill>
                <a:latin typeface="Times New Roman" panose="02020603050405020304" pitchFamily="18" charset="0"/>
              </a:rPr>
              <a:t>(Cauchy distribution) </a:t>
            </a:r>
          </a:p>
        </p:txBody>
      </p:sp>
      <p:sp>
        <p:nvSpPr>
          <p:cNvPr id="54277" name="Rectangle 3">
            <a:extLst>
              <a:ext uri="{FF2B5EF4-FFF2-40B4-BE49-F238E27FC236}">
                <a16:creationId xmlns:a16="http://schemas.microsoft.com/office/drawing/2014/main" id="{51A05E33-82F1-4BAE-BF68-1F92C470EDC2}"/>
              </a:ext>
            </a:extLst>
          </p:cNvPr>
          <p:cNvSpPr>
            <a:spLocks noGrp="1" noChangeArrowheads="1"/>
          </p:cNvSpPr>
          <p:nvPr>
            <p:ph idx="1"/>
          </p:nvPr>
        </p:nvSpPr>
        <p:spPr>
          <a:xfrm>
            <a:off x="241760" y="1181100"/>
            <a:ext cx="8229600" cy="4495800"/>
          </a:xfrm>
        </p:spPr>
        <p:txBody>
          <a:bodyPr/>
          <a:lstStyle/>
          <a:p>
            <a:pPr marL="20638" indent="-20638">
              <a:lnSpc>
                <a:spcPct val="150000"/>
              </a:lnSpc>
              <a:spcBef>
                <a:spcPts val="0"/>
              </a:spcBef>
              <a:buFontTx/>
              <a:buNone/>
            </a:pPr>
            <a:r>
              <a:rPr lang="zh-CN" altLang="en-US" sz="2800" b="1" dirty="0">
                <a:solidFill>
                  <a:srgbClr val="E313ED"/>
                </a:solidFill>
              </a:rPr>
              <a:t>应用：</a:t>
            </a:r>
            <a:r>
              <a:rPr lang="zh-CN" altLang="en-US" sz="2800" b="1" dirty="0"/>
              <a:t>物理学中描述共振微分方程的解，描述被共振或者其他机制加宽的谱线形状。</a:t>
            </a:r>
            <a:endParaRPr lang="en-US" altLang="zh-CN" sz="2800" b="1" dirty="0"/>
          </a:p>
          <a:p>
            <a:pPr marL="1071563" indent="-1071563">
              <a:lnSpc>
                <a:spcPct val="150000"/>
              </a:lnSpc>
              <a:spcBef>
                <a:spcPts val="0"/>
              </a:spcBef>
              <a:buFontTx/>
              <a:buNone/>
            </a:pPr>
            <a:r>
              <a:rPr lang="zh-CN" altLang="en-US" sz="2800" b="1" dirty="0">
                <a:latin typeface="宋体" panose="02010600030101010101" pitchFamily="2" charset="-122"/>
              </a:rPr>
              <a:t>概率密度函数为：</a:t>
            </a:r>
            <a:endParaRPr lang="en-US" altLang="zh-CN" sz="2800" b="1" dirty="0">
              <a:latin typeface="宋体" panose="02010600030101010101" pitchFamily="2" charset="-122"/>
            </a:endParaRPr>
          </a:p>
          <a:p>
            <a:pPr marL="1071563" indent="-1071563">
              <a:lnSpc>
                <a:spcPct val="150000"/>
              </a:lnSpc>
              <a:spcBef>
                <a:spcPts val="0"/>
              </a:spcBef>
              <a:buFontTx/>
              <a:buNone/>
            </a:pPr>
            <a:endParaRPr lang="en-US" altLang="zh-CN" sz="2800" b="1" dirty="0">
              <a:latin typeface="宋体" panose="02010600030101010101" pitchFamily="2" charset="-122"/>
            </a:endParaRPr>
          </a:p>
          <a:p>
            <a:pPr marL="1071563" indent="-1071563">
              <a:lnSpc>
                <a:spcPct val="150000"/>
              </a:lnSpc>
              <a:spcBef>
                <a:spcPts val="0"/>
              </a:spcBef>
              <a:buFontTx/>
              <a:buNone/>
            </a:pPr>
            <a:r>
              <a:rPr lang="zh-CN" altLang="en-US" sz="2800" b="1" dirty="0">
                <a:latin typeface="宋体" panose="02010600030101010101" pitchFamily="2" charset="-122"/>
              </a:rPr>
              <a:t>分布函数为：</a:t>
            </a:r>
            <a:endParaRPr lang="en-US" altLang="zh-CN" sz="2800" b="1" dirty="0">
              <a:solidFill>
                <a:srgbClr val="E313ED"/>
              </a:solidFill>
              <a:latin typeface="宋体" panose="02010600030101010101" pitchFamily="2" charset="-122"/>
            </a:endParaRPr>
          </a:p>
          <a:p>
            <a:pPr marL="20638" indent="-20638">
              <a:lnSpc>
                <a:spcPct val="150000"/>
              </a:lnSpc>
              <a:spcBef>
                <a:spcPts val="0"/>
              </a:spcBef>
              <a:buFontTx/>
              <a:buNone/>
            </a:pPr>
            <a:endParaRPr lang="zh-CN" altLang="en-US" sz="2800" b="1"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B6D3C7C8-C564-4320-8DFC-914965EFB527}"/>
                  </a:ext>
                </a:extLst>
              </p:cNvPr>
              <p:cNvSpPr txBox="1"/>
              <p:nvPr/>
            </p:nvSpPr>
            <p:spPr>
              <a:xfrm>
                <a:off x="3290071" y="2744400"/>
                <a:ext cx="4253729" cy="14273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zh-CN" altLang="en-US" b="1" i="1" smtClean="0">
                              <a:latin typeface="Cambria Math" panose="02040503050406030204" pitchFamily="18" charset="0"/>
                            </a:rPr>
                            <m:t>𝝅𝜸</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𝒙</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𝟎</m:t>
                                              </m:r>
                                            </m:sub>
                                          </m:sSub>
                                        </m:num>
                                        <m:den>
                                          <m:r>
                                            <a:rPr lang="zh-CN" altLang="en-US" b="1" i="1" smtClean="0">
                                              <a:latin typeface="Cambria Math" panose="02040503050406030204" pitchFamily="18" charset="0"/>
                                            </a:rPr>
                                            <m:t>𝜸</m:t>
                                          </m:r>
                                        </m:den>
                                      </m:f>
                                    </m:e>
                                  </m:d>
                                </m:e>
                                <m:sup>
                                  <m:r>
                                    <a:rPr lang="en-US" altLang="zh-CN" b="1" i="1" smtClean="0">
                                      <a:latin typeface="Cambria Math" panose="02040503050406030204" pitchFamily="18" charset="0"/>
                                    </a:rPr>
                                    <m:t>𝟐</m:t>
                                  </m:r>
                                </m:sup>
                              </m:sSup>
                            </m:e>
                          </m:d>
                        </m:den>
                      </m:f>
                    </m:oMath>
                  </m:oMathPara>
                </a14:m>
                <a:endParaRPr lang="zh-CN" altLang="en-US" dirty="0"/>
              </a:p>
            </p:txBody>
          </p:sp>
        </mc:Choice>
        <mc:Fallback xmlns="">
          <p:sp>
            <p:nvSpPr>
              <p:cNvPr id="10" name="文本框 9">
                <a:extLst>
                  <a:ext uri="{FF2B5EF4-FFF2-40B4-BE49-F238E27FC236}">
                    <a16:creationId xmlns:a16="http://schemas.microsoft.com/office/drawing/2014/main" id="{B6D3C7C8-C564-4320-8DFC-914965EFB527}"/>
                  </a:ext>
                </a:extLst>
              </p:cNvPr>
              <p:cNvSpPr txBox="1">
                <a:spLocks noRot="1" noChangeAspect="1" noMove="1" noResize="1" noEditPoints="1" noAdjustHandles="1" noChangeArrowheads="1" noChangeShapeType="1" noTextEdit="1"/>
              </p:cNvSpPr>
              <p:nvPr/>
            </p:nvSpPr>
            <p:spPr>
              <a:xfrm>
                <a:off x="3290071" y="2744400"/>
                <a:ext cx="4253729" cy="142737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E7208C8-429D-4205-B01F-9777F5FD4A7E}"/>
                  </a:ext>
                </a:extLst>
              </p:cNvPr>
              <p:cNvSpPr txBox="1"/>
              <p:nvPr/>
            </p:nvSpPr>
            <p:spPr>
              <a:xfrm>
                <a:off x="3274514" y="4708750"/>
                <a:ext cx="5051704" cy="9681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zh-CN" altLang="en-US" b="1" i="1" smtClean="0">
                              <a:latin typeface="Cambria Math" panose="02040503050406030204" pitchFamily="18" charset="0"/>
                            </a:rPr>
                            <m:t>𝝅</m:t>
                          </m:r>
                        </m:den>
                      </m:f>
                      <m:r>
                        <a:rPr lang="en-US" altLang="zh-CN" b="1" i="1" smtClean="0">
                          <a:latin typeface="Cambria Math" panose="02040503050406030204" pitchFamily="18" charset="0"/>
                        </a:rPr>
                        <m:t>𝒂𝒓𝒄𝒕𝒂𝒏</m:t>
                      </m:r>
                      <m:d>
                        <m:dPr>
                          <m:ctrlPr>
                            <a:rPr lang="en-US" altLang="zh-CN" b="1" i="1" smtClean="0">
                              <a:latin typeface="Cambria Math" panose="02040503050406030204" pitchFamily="18" charset="0"/>
                            </a:rPr>
                          </m:ctrlPr>
                        </m:d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𝒙</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𝟎</m:t>
                                  </m:r>
                                </m:sub>
                              </m:sSub>
                            </m:num>
                            <m:den>
                              <m:r>
                                <a:rPr lang="zh-CN" altLang="en-US" b="1" i="1" smtClean="0">
                                  <a:latin typeface="Cambria Math" panose="02040503050406030204" pitchFamily="18" charset="0"/>
                                </a:rPr>
                                <m:t>𝜸</m:t>
                              </m:r>
                            </m:den>
                          </m:f>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oMath>
                  </m:oMathPara>
                </a14:m>
                <a:endParaRPr lang="zh-CN" altLang="en-US" dirty="0"/>
              </a:p>
            </p:txBody>
          </p:sp>
        </mc:Choice>
        <mc:Fallback xmlns="">
          <p:sp>
            <p:nvSpPr>
              <p:cNvPr id="2" name="文本框 1">
                <a:extLst>
                  <a:ext uri="{FF2B5EF4-FFF2-40B4-BE49-F238E27FC236}">
                    <a16:creationId xmlns:a16="http://schemas.microsoft.com/office/drawing/2014/main" id="{AE7208C8-429D-4205-B01F-9777F5FD4A7E}"/>
                  </a:ext>
                </a:extLst>
              </p:cNvPr>
              <p:cNvSpPr txBox="1">
                <a:spLocks noRot="1" noChangeAspect="1" noMove="1" noResize="1" noEditPoints="1" noAdjustHandles="1" noChangeArrowheads="1" noChangeShapeType="1" noTextEdit="1"/>
              </p:cNvSpPr>
              <p:nvPr/>
            </p:nvSpPr>
            <p:spPr>
              <a:xfrm>
                <a:off x="3274514" y="4708750"/>
                <a:ext cx="5051704" cy="968150"/>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a:extLst>
              <a:ext uri="{FF2B5EF4-FFF2-40B4-BE49-F238E27FC236}">
                <a16:creationId xmlns:a16="http://schemas.microsoft.com/office/drawing/2014/main" id="{3051C5F4-66B5-442D-BAD4-8B805AA8EBFC}"/>
              </a:ext>
            </a:extLst>
          </p:cNvPr>
          <p:cNvSpPr txBox="1">
            <a:spLocks noChangeArrowheads="1"/>
          </p:cNvSpPr>
          <p:nvPr/>
        </p:nvSpPr>
        <p:spPr bwMode="auto">
          <a:xfrm>
            <a:off x="468313" y="620713"/>
            <a:ext cx="6873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600" dirty="0">
                <a:latin typeface="Times New Roman" panose="02020603050405020304" pitchFamily="18" charset="0"/>
              </a:rPr>
              <a:t>柯西分布的特性：</a:t>
            </a:r>
          </a:p>
        </p:txBody>
      </p:sp>
      <p:sp>
        <p:nvSpPr>
          <p:cNvPr id="69635" name="Text Box 3">
            <a:extLst>
              <a:ext uri="{FF2B5EF4-FFF2-40B4-BE49-F238E27FC236}">
                <a16:creationId xmlns:a16="http://schemas.microsoft.com/office/drawing/2014/main" id="{FE2A5B17-20F4-40F2-B313-DB0ACBC990F3}"/>
              </a:ext>
            </a:extLst>
          </p:cNvPr>
          <p:cNvSpPr txBox="1">
            <a:spLocks noChangeArrowheads="1"/>
          </p:cNvSpPr>
          <p:nvPr/>
        </p:nvSpPr>
        <p:spPr bwMode="auto">
          <a:xfrm>
            <a:off x="179512" y="1700808"/>
            <a:ext cx="8424936" cy="268817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en-US" altLang="zh-CN" sz="3200" dirty="0">
                <a:latin typeface="Times New Roman" panose="02020603050405020304" pitchFamily="18" charset="0"/>
              </a:rPr>
              <a:t>1)  </a:t>
            </a:r>
            <a:r>
              <a:rPr kumimoji="1" lang="zh-CN" altLang="en-US" sz="3200" dirty="0">
                <a:latin typeface="Times New Roman" panose="02020603050405020304" pitchFamily="18" charset="0"/>
              </a:rPr>
              <a:t>期望和方差均不存在。</a:t>
            </a:r>
          </a:p>
          <a:p>
            <a:pPr marL="541338" indent="-541338">
              <a:lnSpc>
                <a:spcPct val="150000"/>
              </a:lnSpc>
            </a:pPr>
            <a:r>
              <a:rPr kumimoji="1" lang="zh-CN" altLang="en-US" dirty="0">
                <a:latin typeface="Times New Roman" panose="02020603050405020304" pitchFamily="18" charset="0"/>
              </a:rPr>
              <a:t>              柯西分布概率密度函数的广义积分不是绝对收敛的，所以说柯西分布的数学期望不存在。至于它的方差不存在，也是基于同样的道理。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9635"/>
                                        </p:tgtEl>
                                        <p:attrNameLst>
                                          <p:attrName>style.visibility</p:attrName>
                                        </p:attrNameLst>
                                      </p:cBhvr>
                                      <p:to>
                                        <p:strVal val="visible"/>
                                      </p:to>
                                    </p:set>
                                    <p:anim calcmode="lin" valueType="num">
                                      <p:cBhvr additive="base">
                                        <p:cTn id="7" dur="500" fill="hold"/>
                                        <p:tgtEl>
                                          <p:spTgt spid="69635"/>
                                        </p:tgtEl>
                                        <p:attrNameLst>
                                          <p:attrName>ppt_x</p:attrName>
                                        </p:attrNameLst>
                                      </p:cBhvr>
                                      <p:tavLst>
                                        <p:tav tm="0">
                                          <p:val>
                                            <p:strVal val="1+#ppt_w/2"/>
                                          </p:val>
                                        </p:tav>
                                        <p:tav tm="100000">
                                          <p:val>
                                            <p:strVal val="#ppt_x"/>
                                          </p:val>
                                        </p:tav>
                                      </p:tavLst>
                                    </p:anim>
                                    <p:anim calcmode="lin" valueType="num">
                                      <p:cBhvr additive="base">
                                        <p:cTn id="8" dur="500" fill="hold"/>
                                        <p:tgtEl>
                                          <p:spTgt spid="696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 Box 3">
            <a:extLst>
              <a:ext uri="{FF2B5EF4-FFF2-40B4-BE49-F238E27FC236}">
                <a16:creationId xmlns:a16="http://schemas.microsoft.com/office/drawing/2014/main" id="{321939CB-46AF-46FB-9D81-FB5DC2953EFA}"/>
              </a:ext>
            </a:extLst>
          </p:cNvPr>
          <p:cNvSpPr txBox="1">
            <a:spLocks noChangeArrowheads="1"/>
          </p:cNvSpPr>
          <p:nvPr/>
        </p:nvSpPr>
        <p:spPr bwMode="auto">
          <a:xfrm>
            <a:off x="107504" y="382898"/>
            <a:ext cx="8064500" cy="62671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sz="3200" dirty="0">
                <a:latin typeface="Times New Roman" panose="02020603050405020304" pitchFamily="18" charset="0"/>
              </a:rPr>
              <a:t>2)  </a:t>
            </a:r>
            <a:r>
              <a:rPr kumimoji="1" lang="zh-CN" altLang="en-US" sz="3200" dirty="0">
                <a:latin typeface="Times New Roman" panose="02020603050405020304" pitchFamily="18" charset="0"/>
              </a:rPr>
              <a:t>图形与正态分布相似，亦为钟形。        </a:t>
            </a:r>
            <a:endParaRPr kumimoji="1" lang="zh-CN" altLang="en-US" dirty="0">
              <a:latin typeface="Times New Roman" panose="02020603050405020304" pitchFamily="18" charset="0"/>
            </a:endParaRPr>
          </a:p>
        </p:txBody>
      </p:sp>
      <p:pic>
        <p:nvPicPr>
          <p:cNvPr id="2" name="图片 1">
            <a:extLst>
              <a:ext uri="{FF2B5EF4-FFF2-40B4-BE49-F238E27FC236}">
                <a16:creationId xmlns:a16="http://schemas.microsoft.com/office/drawing/2014/main" id="{18385EC1-E921-4222-A354-038820E3C477}"/>
              </a:ext>
            </a:extLst>
          </p:cNvPr>
          <p:cNvPicPr>
            <a:picLocks noChangeAspect="1"/>
          </p:cNvPicPr>
          <p:nvPr/>
        </p:nvPicPr>
        <p:blipFill>
          <a:blip r:embed="rId2"/>
          <a:stretch>
            <a:fillRect/>
          </a:stretch>
        </p:blipFill>
        <p:spPr>
          <a:xfrm>
            <a:off x="1187624" y="1340768"/>
            <a:ext cx="6464201" cy="445258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0659"/>
                                        </p:tgtEl>
                                        <p:attrNameLst>
                                          <p:attrName>style.visibility</p:attrName>
                                        </p:attrNameLst>
                                      </p:cBhvr>
                                      <p:to>
                                        <p:strVal val="visible"/>
                                      </p:to>
                                    </p:set>
                                    <p:anim calcmode="lin" valueType="num">
                                      <p:cBhvr additive="base">
                                        <p:cTn id="7" dur="500" fill="hold"/>
                                        <p:tgtEl>
                                          <p:spTgt spid="70659"/>
                                        </p:tgtEl>
                                        <p:attrNameLst>
                                          <p:attrName>ppt_x</p:attrName>
                                        </p:attrNameLst>
                                      </p:cBhvr>
                                      <p:tavLst>
                                        <p:tav tm="0">
                                          <p:val>
                                            <p:strVal val="1+#ppt_w/2"/>
                                          </p:val>
                                        </p:tav>
                                        <p:tav tm="100000">
                                          <p:val>
                                            <p:strVal val="#ppt_x"/>
                                          </p:val>
                                        </p:tav>
                                      </p:tavLst>
                                    </p:anim>
                                    <p:anim calcmode="lin" valueType="num">
                                      <p:cBhvr additive="base">
                                        <p:cTn id="8" dur="500" fill="hold"/>
                                        <p:tgtEl>
                                          <p:spTgt spid="706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extLst>
              <a:ext uri="{FF2B5EF4-FFF2-40B4-BE49-F238E27FC236}">
                <a16:creationId xmlns:a16="http://schemas.microsoft.com/office/drawing/2014/main" id="{42B716C8-1BED-478E-BCA4-A2593E8FAC0B}"/>
              </a:ext>
            </a:extLst>
          </p:cNvPr>
          <p:cNvSpPr txBox="1">
            <a:spLocks noChangeArrowheads="1"/>
          </p:cNvSpPr>
          <p:nvPr/>
        </p:nvSpPr>
        <p:spPr bwMode="auto">
          <a:xfrm>
            <a:off x="179512" y="908720"/>
            <a:ext cx="8064500" cy="333450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en-US" altLang="zh-CN" sz="3200" dirty="0">
                <a:latin typeface="Times New Roman" panose="02020603050405020304" pitchFamily="18" charset="0"/>
              </a:rPr>
              <a:t>3) </a:t>
            </a:r>
            <a:r>
              <a:rPr kumimoji="1" lang="zh-CN" altLang="en-US" sz="3200" dirty="0">
                <a:latin typeface="Times New Roman" panose="02020603050405020304" pitchFamily="18" charset="0"/>
              </a:rPr>
              <a:t>与正态分布的关系。</a:t>
            </a:r>
          </a:p>
          <a:p>
            <a:pPr>
              <a:lnSpc>
                <a:spcPct val="150000"/>
              </a:lnSpc>
            </a:pPr>
            <a:endParaRPr kumimoji="1" lang="zh-CN" altLang="en-US" dirty="0">
              <a:latin typeface="Times New Roman" panose="02020603050405020304" pitchFamily="18" charset="0"/>
            </a:endParaRPr>
          </a:p>
          <a:p>
            <a:pPr marL="625475">
              <a:lnSpc>
                <a:spcPct val="150000"/>
              </a:lnSpc>
            </a:pPr>
            <a:r>
              <a:rPr kumimoji="1" lang="zh-CN" altLang="en-US" dirty="0">
                <a:latin typeface="Times New Roman" panose="02020603050405020304" pitchFamily="18" charset="0"/>
              </a:rPr>
              <a:t>        如果 随机变量</a:t>
            </a:r>
            <a:r>
              <a:rPr kumimoji="1" lang="en-US" altLang="zh-CN" i="1" dirty="0">
                <a:latin typeface="Times New Roman" panose="02020603050405020304" pitchFamily="18" charset="0"/>
              </a:rPr>
              <a:t>U</a:t>
            </a:r>
            <a:r>
              <a:rPr kumimoji="1" lang="zh-CN" altLang="en-US" dirty="0">
                <a:latin typeface="Times New Roman" panose="02020603050405020304" pitchFamily="18" charset="0"/>
              </a:rPr>
              <a:t>与</a:t>
            </a:r>
            <a:r>
              <a:rPr kumimoji="1" lang="en-US" altLang="zh-CN" i="1" dirty="0">
                <a:latin typeface="Times New Roman" panose="02020603050405020304" pitchFamily="18" charset="0"/>
              </a:rPr>
              <a:t>V</a:t>
            </a:r>
            <a:r>
              <a:rPr kumimoji="1" lang="zh-CN" altLang="en-US" dirty="0">
                <a:latin typeface="Times New Roman" panose="02020603050405020304" pitchFamily="18" charset="0"/>
              </a:rPr>
              <a:t>是两个服从期望值为 </a:t>
            </a:r>
            <a:r>
              <a:rPr kumimoji="1" lang="en-US" altLang="zh-CN" dirty="0">
                <a:latin typeface="Times New Roman" panose="02020603050405020304" pitchFamily="18" charset="0"/>
              </a:rPr>
              <a:t>0</a:t>
            </a:r>
            <a:r>
              <a:rPr kumimoji="1" lang="zh-CN" altLang="en-US" dirty="0">
                <a:latin typeface="Times New Roman" panose="02020603050405020304" pitchFamily="18" charset="0"/>
              </a:rPr>
              <a:t>、方差为 </a:t>
            </a:r>
            <a:r>
              <a:rPr kumimoji="1" lang="en-US" altLang="zh-CN" dirty="0">
                <a:latin typeface="Times New Roman" panose="02020603050405020304" pitchFamily="18" charset="0"/>
              </a:rPr>
              <a:t>1 </a:t>
            </a:r>
            <a:r>
              <a:rPr kumimoji="1" lang="zh-CN" altLang="en-US" dirty="0">
                <a:latin typeface="Times New Roman" panose="02020603050405020304" pitchFamily="18" charset="0"/>
              </a:rPr>
              <a:t>的独立正态分布，那么比值 </a:t>
            </a:r>
            <a:r>
              <a:rPr kumimoji="1" lang="en-US" altLang="zh-CN" i="1" dirty="0">
                <a:latin typeface="Times New Roman" panose="02020603050405020304" pitchFamily="18" charset="0"/>
              </a:rPr>
              <a:t>U </a:t>
            </a:r>
            <a:r>
              <a:rPr kumimoji="1" lang="en-US" altLang="zh-CN" dirty="0">
                <a:latin typeface="Times New Roman" panose="02020603050405020304" pitchFamily="18" charset="0"/>
              </a:rPr>
              <a:t>/ </a:t>
            </a:r>
            <a:r>
              <a:rPr kumimoji="1" lang="en-US" altLang="zh-CN" i="1" dirty="0">
                <a:latin typeface="Times New Roman" panose="02020603050405020304" pitchFamily="18" charset="0"/>
              </a:rPr>
              <a:t>V</a:t>
            </a:r>
            <a:r>
              <a:rPr kumimoji="1" lang="zh-CN" altLang="en-US" dirty="0">
                <a:latin typeface="Times New Roman" panose="02020603050405020304" pitchFamily="18" charset="0"/>
              </a:rPr>
              <a:t>为柯西分布。</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682"/>
                                        </p:tgtEl>
                                        <p:attrNameLst>
                                          <p:attrName>style.visibility</p:attrName>
                                        </p:attrNameLst>
                                      </p:cBhvr>
                                      <p:to>
                                        <p:strVal val="visible"/>
                                      </p:to>
                                    </p:set>
                                    <p:anim calcmode="lin" valueType="num">
                                      <p:cBhvr additive="base">
                                        <p:cTn id="7" dur="500" fill="hold"/>
                                        <p:tgtEl>
                                          <p:spTgt spid="71682"/>
                                        </p:tgtEl>
                                        <p:attrNameLst>
                                          <p:attrName>ppt_x</p:attrName>
                                        </p:attrNameLst>
                                      </p:cBhvr>
                                      <p:tavLst>
                                        <p:tav tm="0">
                                          <p:val>
                                            <p:strVal val="1+#ppt_w/2"/>
                                          </p:val>
                                        </p:tav>
                                        <p:tav tm="100000">
                                          <p:val>
                                            <p:strVal val="#ppt_x"/>
                                          </p:val>
                                        </p:tav>
                                      </p:tavLst>
                                    </p:anim>
                                    <p:anim calcmode="lin" valueType="num">
                                      <p:cBhvr additive="base">
                                        <p:cTn id="8" dur="500" fill="hold"/>
                                        <p:tgtEl>
                                          <p:spTgt spid="716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a:extLst>
              <a:ext uri="{FF2B5EF4-FFF2-40B4-BE49-F238E27FC236}">
                <a16:creationId xmlns:a16="http://schemas.microsoft.com/office/drawing/2014/main" id="{E42A1EDC-5A6E-4827-8F57-892DD2CCEAD2}"/>
              </a:ext>
            </a:extLst>
          </p:cNvPr>
          <p:cNvSpPr>
            <a:spLocks noGrp="1" noChangeArrowheads="1"/>
          </p:cNvSpPr>
          <p:nvPr>
            <p:ph type="title"/>
          </p:nvPr>
        </p:nvSpPr>
        <p:spPr>
          <a:xfrm>
            <a:off x="179512" y="422359"/>
            <a:ext cx="8229600" cy="609600"/>
          </a:xfrm>
        </p:spPr>
        <p:txBody>
          <a:bodyPr anchor="b"/>
          <a:lstStyle/>
          <a:p>
            <a:pPr algn="l"/>
            <a:r>
              <a:rPr lang="en-US" altLang="zh-CN" sz="3600" b="1" dirty="0">
                <a:solidFill>
                  <a:schemeClr val="tx1"/>
                </a:solidFill>
                <a:latin typeface="Times New Roman" panose="02020603050405020304" pitchFamily="18" charset="0"/>
              </a:rPr>
              <a:t>6. Gamma</a:t>
            </a:r>
            <a:r>
              <a:rPr lang="zh-CN" altLang="en-US" sz="3600" b="1" dirty="0">
                <a:solidFill>
                  <a:schemeClr val="tx1"/>
                </a:solidFill>
                <a:latin typeface="Times New Roman" panose="02020603050405020304" pitchFamily="18" charset="0"/>
              </a:rPr>
              <a:t>分布</a:t>
            </a:r>
          </a:p>
        </p:txBody>
      </p:sp>
      <mc:AlternateContent xmlns:mc="http://schemas.openxmlformats.org/markup-compatibility/2006" xmlns:a14="http://schemas.microsoft.com/office/drawing/2010/main">
        <mc:Choice Requires="a14">
          <p:sp>
            <p:nvSpPr>
              <p:cNvPr id="55301" name="Rectangle 3">
                <a:extLst>
                  <a:ext uri="{FF2B5EF4-FFF2-40B4-BE49-F238E27FC236}">
                    <a16:creationId xmlns:a16="http://schemas.microsoft.com/office/drawing/2014/main" id="{9E028AFB-F628-4310-8507-07016439452E}"/>
                  </a:ext>
                </a:extLst>
              </p:cNvPr>
              <p:cNvSpPr>
                <a:spLocks noGrp="1" noChangeArrowheads="1"/>
              </p:cNvSpPr>
              <p:nvPr>
                <p:ph idx="1"/>
              </p:nvPr>
            </p:nvSpPr>
            <p:spPr>
              <a:xfrm>
                <a:off x="323831" y="1181100"/>
                <a:ext cx="8229600" cy="4495800"/>
              </a:xfrm>
            </p:spPr>
            <p:txBody>
              <a:bodyPr/>
              <a:lstStyle/>
              <a:p>
                <a:pPr marL="0" indent="0">
                  <a:lnSpc>
                    <a:spcPct val="150000"/>
                  </a:lnSpc>
                  <a:spcBef>
                    <a:spcPts val="0"/>
                  </a:spcBef>
                  <a:buFontTx/>
                  <a:buNone/>
                </a:pPr>
                <a:r>
                  <a:rPr lang="zh-CN" altLang="en-US" sz="2800" b="1" dirty="0">
                    <a:solidFill>
                      <a:srgbClr val="E313ED"/>
                    </a:solidFill>
                  </a:rPr>
                  <a:t>定义：</a:t>
                </a:r>
                <a:r>
                  <a:rPr lang="zh-CN" altLang="en-US" sz="2800" b="1" dirty="0"/>
                  <a:t>若干个独立指数分布变量的和的分布</a:t>
                </a:r>
                <a:r>
                  <a:rPr lang="zh-CN" altLang="en-US" sz="2800" b="1" dirty="0">
                    <a:latin typeface="Times New Roman" panose="02020603050405020304" pitchFamily="18" charset="0"/>
                  </a:rPr>
                  <a:t>。参数            </a:t>
                </a:r>
                <a:endParaRPr lang="en-US" altLang="zh-CN" sz="2800" b="1" dirty="0">
                  <a:latin typeface="Times New Roman" panose="02020603050405020304" pitchFamily="18" charset="0"/>
                </a:endParaRPr>
              </a:p>
              <a:p>
                <a:pPr marL="0" indent="0">
                  <a:lnSpc>
                    <a:spcPct val="150000"/>
                  </a:lnSpc>
                  <a:spcBef>
                    <a:spcPts val="0"/>
                  </a:spcBef>
                  <a:buFontTx/>
                  <a:buNone/>
                </a:pPr>
                <a:r>
                  <a:rPr lang="en-US" altLang="zh-CN" sz="2800" b="1" i="1" dirty="0">
                    <a:latin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r</a:t>
                </a:r>
                <a:r>
                  <a:rPr lang="en-US" altLang="zh-CN" sz="2800" b="1" i="1" dirty="0">
                    <a:latin typeface="Times New Roman" panose="02020603050405020304" pitchFamily="18" charset="0"/>
                  </a:rPr>
                  <a:t> </a:t>
                </a:r>
                <a:r>
                  <a:rPr lang="zh-CN" altLang="en-US" sz="2800" b="1" dirty="0">
                    <a:latin typeface="Times New Roman" panose="02020603050405020304" pitchFamily="18" charset="0"/>
                  </a:rPr>
                  <a:t>称为形参，</a:t>
                </a:r>
                <a:r>
                  <a:rPr lang="el-GR" altLang="zh-CN" sz="2800" b="1" i="1" dirty="0">
                    <a:latin typeface="Times New Roman" panose="02020603050405020304" pitchFamily="18" charset="0"/>
                    <a:cs typeface="Times New Roman" panose="02020603050405020304" pitchFamily="18" charset="0"/>
                    <a:sym typeface="Symbol" panose="05050102010706020507" pitchFamily="18" charset="2"/>
                  </a:rPr>
                  <a:t>λ</a:t>
                </a:r>
                <a:r>
                  <a:rPr lang="zh-CN" altLang="en-US" sz="2800" b="1" i="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称为逆尺度参数。</a:t>
                </a:r>
                <a:endParaRPr lang="en-US" altLang="zh-CN" sz="2800" b="1" dirty="0">
                  <a:latin typeface="Times New Roman" panose="02020603050405020304" pitchFamily="18" charset="0"/>
                </a:endParaRPr>
              </a:p>
              <a:p>
                <a:pPr marL="0" indent="0">
                  <a:lnSpc>
                    <a:spcPct val="150000"/>
                  </a:lnSpc>
                  <a:spcBef>
                    <a:spcPts val="0"/>
                  </a:spcBef>
                  <a:buFontTx/>
                  <a:buNone/>
                </a:pPr>
                <a:r>
                  <a:rPr lang="zh-CN" altLang="en-US" sz="2800" b="1" dirty="0">
                    <a:latin typeface="Times New Roman" panose="02020603050405020304" pitchFamily="18" charset="0"/>
                  </a:rPr>
                  <a:t>概率密度函数为：</a:t>
                </a:r>
                <a14:m>
                  <m:oMath xmlns:m="http://schemas.openxmlformats.org/officeDocument/2006/math">
                    <m:r>
                      <a:rPr lang="en-US" altLang="zh-CN" sz="2800" b="1" i="1" smtClean="0">
                        <a:latin typeface="Cambria Math" panose="02040503050406030204" pitchFamily="18" charset="0"/>
                      </a:rPr>
                      <m:t>𝒇</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𝒙</m:t>
                        </m:r>
                      </m:e>
                    </m:d>
                    <m:r>
                      <a:rPr lang="en-US" altLang="zh-CN" sz="2800" b="1" i="1" smtClean="0">
                        <a:latin typeface="Cambria Math" panose="02040503050406030204" pitchFamily="18" charset="0"/>
                      </a:rPr>
                      <m:t>=</m:t>
                    </m:r>
                    <m:f>
                      <m:fPr>
                        <m:ctrlPr>
                          <a:rPr lang="en-US" altLang="zh-CN" sz="2800" b="1" i="1" smtClean="0">
                            <a:latin typeface="Cambria Math" panose="02040503050406030204" pitchFamily="18" charset="0"/>
                          </a:rPr>
                        </m:ctrlPr>
                      </m:fPr>
                      <m:num>
                        <m:sSup>
                          <m:sSupPr>
                            <m:ctrlPr>
                              <a:rPr lang="en-US" altLang="zh-CN" sz="2800" b="1" i="1" smtClean="0">
                                <a:latin typeface="Cambria Math" panose="02040503050406030204" pitchFamily="18" charset="0"/>
                              </a:rPr>
                            </m:ctrlPr>
                          </m:sSupPr>
                          <m:e>
                            <m:r>
                              <a:rPr lang="zh-CN" altLang="en-US" sz="2800" b="1" i="1" smtClean="0">
                                <a:latin typeface="Cambria Math" panose="02040503050406030204" pitchFamily="18" charset="0"/>
                              </a:rPr>
                              <m:t>𝝀</m:t>
                            </m:r>
                          </m:e>
                          <m:sup>
                            <m:r>
                              <a:rPr lang="en-US" altLang="zh-CN" sz="2800" b="1" i="1" smtClean="0">
                                <a:latin typeface="Cambria Math" panose="02040503050406030204" pitchFamily="18" charset="0"/>
                              </a:rPr>
                              <m:t>𝒓</m:t>
                            </m:r>
                          </m:sup>
                        </m:sSup>
                      </m:num>
                      <m:den>
                        <m:r>
                          <a:rPr lang="zh-CN" altLang="en-US" sz="2800" b="1" i="1" smtClean="0">
                            <a:latin typeface="Cambria Math" panose="02040503050406030204" pitchFamily="18" charset="0"/>
                          </a:rPr>
                          <m:t>𝚪</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𝒓</m:t>
                            </m:r>
                          </m:e>
                        </m:d>
                      </m:den>
                    </m:f>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𝒙</m:t>
                        </m:r>
                      </m:e>
                      <m:sup>
                        <m:r>
                          <a:rPr lang="en-US" altLang="zh-CN" sz="2800" b="1" i="1" smtClean="0">
                            <a:latin typeface="Cambria Math" panose="02040503050406030204" pitchFamily="18" charset="0"/>
                          </a:rPr>
                          <m:t>𝒓</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𝒆</m:t>
                        </m:r>
                      </m:e>
                      <m:sup>
                        <m:r>
                          <a:rPr lang="en-US" altLang="zh-CN" sz="2800" b="1" i="1" smtClean="0">
                            <a:latin typeface="Cambria Math" panose="02040503050406030204" pitchFamily="18" charset="0"/>
                          </a:rPr>
                          <m:t>−</m:t>
                        </m:r>
                        <m:r>
                          <a:rPr lang="zh-CN" altLang="en-US" sz="2800" b="1" i="1" smtClean="0">
                            <a:latin typeface="Cambria Math" panose="02040503050406030204" pitchFamily="18" charset="0"/>
                          </a:rPr>
                          <m:t>𝝀</m:t>
                        </m:r>
                        <m:r>
                          <a:rPr lang="en-US" altLang="zh-CN" sz="2800" b="1" i="1" smtClean="0">
                            <a:latin typeface="Cambria Math" panose="02040503050406030204" pitchFamily="18" charset="0"/>
                          </a:rPr>
                          <m:t>𝒙</m:t>
                        </m:r>
                      </m:sup>
                    </m:sSup>
                  </m:oMath>
                </a14:m>
                <a:endParaRPr lang="en-US" altLang="zh-CN" sz="2800" b="1" dirty="0">
                  <a:latin typeface="Times New Roman" panose="02020603050405020304" pitchFamily="18" charset="0"/>
                </a:endParaRPr>
              </a:p>
              <a:p>
                <a:pPr marL="0" indent="0">
                  <a:lnSpc>
                    <a:spcPct val="150000"/>
                  </a:lnSpc>
                  <a:spcBef>
                    <a:spcPts val="0"/>
                  </a:spcBef>
                  <a:buFontTx/>
                  <a:buNone/>
                </a:pPr>
                <a:r>
                  <a:rPr lang="zh-CN" altLang="en-US" sz="2800" b="1" dirty="0">
                    <a:latin typeface="Times New Roman" panose="02020603050405020304" pitchFamily="18" charset="0"/>
                  </a:rPr>
                  <a:t>分布函数为：</a:t>
                </a:r>
                <a14:m>
                  <m:oMath xmlns:m="http://schemas.openxmlformats.org/officeDocument/2006/math">
                    <m:r>
                      <a:rPr lang="en-US" altLang="zh-CN" sz="2800" b="1" i="1" smtClean="0">
                        <a:latin typeface="Cambria Math" panose="02040503050406030204" pitchFamily="18" charset="0"/>
                      </a:rPr>
                      <m:t>𝑭</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𝒙</m:t>
                        </m:r>
                      </m:e>
                    </m:d>
                    <m:r>
                      <a:rPr lang="en-US" altLang="zh-CN" sz="2800" b="1" i="1" smtClean="0">
                        <a:latin typeface="Cambria Math" panose="02040503050406030204" pitchFamily="18" charset="0"/>
                      </a:rPr>
                      <m:t>=</m:t>
                    </m:r>
                    <m:f>
                      <m:fPr>
                        <m:ctrlPr>
                          <a:rPr lang="en-US" altLang="zh-CN" sz="2800" b="1" i="1" smtClean="0">
                            <a:latin typeface="Cambria Math" panose="02040503050406030204" pitchFamily="18" charset="0"/>
                          </a:rPr>
                        </m:ctrlPr>
                      </m:fPr>
                      <m:num>
                        <m:r>
                          <a:rPr lang="zh-CN" altLang="en-US" sz="2800" b="1" i="1" smtClean="0">
                            <a:latin typeface="Cambria Math" panose="02040503050406030204" pitchFamily="18" charset="0"/>
                          </a:rPr>
                          <m:t>𝚪</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𝒓</m:t>
                            </m:r>
                            <m:r>
                              <a:rPr lang="en-US" altLang="zh-CN" sz="2800" b="1" i="1" smtClean="0">
                                <a:latin typeface="Cambria Math" panose="02040503050406030204" pitchFamily="18" charset="0"/>
                              </a:rPr>
                              <m:t>,</m:t>
                            </m:r>
                            <m:r>
                              <a:rPr lang="zh-CN" altLang="en-US" sz="2800" b="1" i="1" smtClean="0">
                                <a:latin typeface="Cambria Math" panose="02040503050406030204" pitchFamily="18" charset="0"/>
                              </a:rPr>
                              <m:t>𝝀</m:t>
                            </m:r>
                            <m:r>
                              <a:rPr lang="en-US" altLang="zh-CN" sz="2800" b="1" i="1" smtClean="0">
                                <a:latin typeface="Cambria Math" panose="02040503050406030204" pitchFamily="18" charset="0"/>
                              </a:rPr>
                              <m:t>𝒙</m:t>
                            </m:r>
                          </m:e>
                        </m:d>
                      </m:num>
                      <m:den>
                        <m:r>
                          <a:rPr lang="zh-CN" altLang="en-US" sz="2800" b="1" i="1" smtClean="0">
                            <a:latin typeface="Cambria Math" panose="02040503050406030204" pitchFamily="18" charset="0"/>
                          </a:rPr>
                          <m:t>𝚪</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𝒓</m:t>
                            </m:r>
                          </m:e>
                        </m:d>
                      </m:den>
                    </m:f>
                  </m:oMath>
                </a14:m>
                <a:endParaRPr lang="zh-CN" altLang="en-US" sz="2800" b="1" dirty="0">
                  <a:latin typeface="Times New Roman" panose="02020603050405020304" pitchFamily="18" charset="0"/>
                </a:endParaRPr>
              </a:p>
            </p:txBody>
          </p:sp>
        </mc:Choice>
        <mc:Fallback xmlns="">
          <p:sp>
            <p:nvSpPr>
              <p:cNvPr id="55301" name="Rectangle 3">
                <a:extLst>
                  <a:ext uri="{FF2B5EF4-FFF2-40B4-BE49-F238E27FC236}">
                    <a16:creationId xmlns:a16="http://schemas.microsoft.com/office/drawing/2014/main" id="{9E028AFB-F628-4310-8507-07016439452E}"/>
                  </a:ext>
                </a:extLst>
              </p:cNvPr>
              <p:cNvSpPr>
                <a:spLocks noGrp="1" noRot="1" noChangeAspect="1" noMove="1" noResize="1" noEditPoints="1" noAdjustHandles="1" noChangeArrowheads="1" noChangeShapeType="1" noTextEdit="1"/>
              </p:cNvSpPr>
              <p:nvPr>
                <p:ph idx="1"/>
              </p:nvPr>
            </p:nvSpPr>
            <p:spPr>
              <a:xfrm>
                <a:off x="323831" y="1181100"/>
                <a:ext cx="8229600" cy="4495800"/>
              </a:xfrm>
              <a:blipFill>
                <a:blip r:embed="rId2"/>
                <a:stretch>
                  <a:fillRect l="-148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347E12C3-AC7B-4683-A24A-E3D7F1E92E50}"/>
              </a:ext>
            </a:extLst>
          </p:cNvPr>
          <p:cNvPicPr>
            <a:picLocks noChangeAspect="1"/>
          </p:cNvPicPr>
          <p:nvPr/>
        </p:nvPicPr>
        <p:blipFill>
          <a:blip r:embed="rId3"/>
          <a:stretch>
            <a:fillRect/>
          </a:stretch>
        </p:blipFill>
        <p:spPr>
          <a:xfrm>
            <a:off x="5939882" y="3423050"/>
            <a:ext cx="2914432" cy="312694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3ED64B17-7C73-4E05-9B48-979463BB48F9}"/>
              </a:ext>
            </a:extLst>
          </p:cNvPr>
          <p:cNvSpPr txBox="1">
            <a:spLocks noChangeArrowheads="1"/>
          </p:cNvSpPr>
          <p:nvPr/>
        </p:nvSpPr>
        <p:spPr bwMode="auto">
          <a:xfrm>
            <a:off x="22726" y="621507"/>
            <a:ext cx="6873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600" dirty="0">
                <a:latin typeface="Times New Roman" panose="02020603050405020304" pitchFamily="18" charset="0"/>
              </a:rPr>
              <a:t>几种特殊的</a:t>
            </a:r>
            <a:r>
              <a:rPr kumimoji="1" lang="en-US" altLang="zh-CN" sz="3600" dirty="0">
                <a:latin typeface="Times New Roman" panose="02020603050405020304" pitchFamily="18" charset="0"/>
              </a:rPr>
              <a:t>Gamma</a:t>
            </a:r>
            <a:r>
              <a:rPr kumimoji="1" lang="zh-CN" altLang="en-US" sz="3600" dirty="0">
                <a:latin typeface="Times New Roman" panose="02020603050405020304" pitchFamily="18" charset="0"/>
              </a:rPr>
              <a:t>分布：</a:t>
            </a:r>
          </a:p>
        </p:txBody>
      </p:sp>
      <p:sp>
        <p:nvSpPr>
          <p:cNvPr id="72707" name="Text Box 3">
            <a:extLst>
              <a:ext uri="{FF2B5EF4-FFF2-40B4-BE49-F238E27FC236}">
                <a16:creationId xmlns:a16="http://schemas.microsoft.com/office/drawing/2014/main" id="{AFAF8784-3451-4165-A3CE-879894F4BDA0}"/>
              </a:ext>
            </a:extLst>
          </p:cNvPr>
          <p:cNvSpPr txBox="1">
            <a:spLocks noChangeArrowheads="1"/>
          </p:cNvSpPr>
          <p:nvPr/>
        </p:nvSpPr>
        <p:spPr bwMode="auto">
          <a:xfrm>
            <a:off x="539750" y="1700213"/>
            <a:ext cx="8064500" cy="62671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sz="3200">
                <a:latin typeface="Times New Roman" panose="02020603050405020304" pitchFamily="18" charset="0"/>
              </a:rPr>
              <a:t>1)  </a:t>
            </a:r>
            <a:r>
              <a:rPr kumimoji="1" lang="zh-CN" altLang="en-US" sz="3200">
                <a:latin typeface="Times New Roman" panose="02020603050405020304" pitchFamily="18" charset="0"/>
              </a:rPr>
              <a:t>指数分布。</a:t>
            </a:r>
            <a:endParaRPr kumimoji="1" lang="zh-CN"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2708" name="Object 4">
                <a:extLst>
                  <a:ext uri="{FF2B5EF4-FFF2-40B4-BE49-F238E27FC236}">
                    <a16:creationId xmlns:a16="http://schemas.microsoft.com/office/drawing/2014/main" id="{1F6EB211-4C2D-4DE7-8D65-11F6842A6368}"/>
                  </a:ext>
                </a:extLst>
              </p:cNvPr>
              <p:cNvSpPr txBox="1">
                <a:spLocks noGrp="1"/>
              </p:cNvSpPr>
              <p:nvPr>
                <p:ph idx="1"/>
              </p:nvPr>
            </p:nvSpPr>
            <p:spPr bwMode="auto">
              <a:xfrm>
                <a:off x="719572" y="2448562"/>
                <a:ext cx="7704856" cy="3833073"/>
              </a:xfrm>
              <a:prstGeom prst="rect">
                <a:avLst/>
              </a:prstGeom>
              <a:noFill/>
              <a:ln>
                <a:noFill/>
              </a:ln>
              <a:effectLst/>
            </p:spPr>
            <p:txBody>
              <a:bodyPr>
                <a:normAutofit/>
              </a:bodyPr>
              <a:lstStyle/>
              <a:p>
                <a:pPr>
                  <a:lnSpc>
                    <a:spcPct val="160000"/>
                  </a:lnSpc>
                  <a:spcBef>
                    <a:spcPts val="0"/>
                  </a:spcBef>
                  <a:buNone/>
                </a:pPr>
                <a14:m>
                  <m:oMathPara xmlns:m="http://schemas.openxmlformats.org/officeDocument/2006/math">
                    <m:oMathParaPr>
                      <m:jc m:val="left"/>
                    </m:oMathParaPr>
                    <m:oMath xmlns:m="http://schemas.openxmlformats.org/officeDocument/2006/math">
                      <m:m>
                        <m:mPr>
                          <m:plcHide m:val="on"/>
                          <m:mcs>
                            <m:mc>
                              <m:mcPr>
                                <m:count m:val="2"/>
                                <m:mcJc m:val="center"/>
                              </m:mcPr>
                            </m:mc>
                          </m:mcs>
                          <m:ctrlPr>
                            <a:rPr lang="zh-CN" altLang="en-US" sz="2800" i="1" smtClean="0">
                              <a:ln>
                                <a:solidFill>
                                  <a:schemeClr val="tx1"/>
                                </a:solidFill>
                              </a:ln>
                              <a:solidFill>
                                <a:schemeClr val="tx1"/>
                              </a:solidFill>
                              <a:latin typeface="Cambria Math" panose="02040503050406030204" pitchFamily="18" charset="0"/>
                            </a:rPr>
                          </m:ctrlPr>
                        </m:mPr>
                        <m:mr>
                          <m:e/>
                          <m:e/>
                        </m:mr>
                      </m:m>
                      <m:r>
                        <a:rPr lang="zh-CN" altLang="en-US" sz="2800" i="1">
                          <a:ln>
                            <a:solidFill>
                              <a:schemeClr val="tx1"/>
                            </a:solidFill>
                          </a:ln>
                          <a:solidFill>
                            <a:schemeClr val="tx1"/>
                          </a:solidFill>
                          <a:latin typeface="Cambria Math" panose="02040503050406030204" pitchFamily="18" charset="0"/>
                        </a:rPr>
                        <m:t>当</m:t>
                      </m:r>
                      <m:r>
                        <a:rPr lang="zh-CN" altLang="en-US" sz="2800" i="1">
                          <a:ln>
                            <a:solidFill>
                              <a:schemeClr val="tx1"/>
                            </a:solidFill>
                          </a:ln>
                          <a:solidFill>
                            <a:schemeClr val="tx1"/>
                          </a:solidFill>
                          <a:latin typeface="Cambria Math" panose="02040503050406030204" pitchFamily="18" charset="0"/>
                        </a:rPr>
                        <m:t>𝑟</m:t>
                      </m:r>
                      <m:r>
                        <a:rPr lang="zh-CN" altLang="en-US" sz="2800" i="1">
                          <a:ln>
                            <a:solidFill>
                              <a:schemeClr val="tx1"/>
                            </a:solidFill>
                          </a:ln>
                          <a:solidFill>
                            <a:schemeClr val="tx1"/>
                          </a:solidFill>
                          <a:latin typeface="Cambria Math" panose="02040503050406030204" pitchFamily="18" charset="0"/>
                        </a:rPr>
                        <m:t>=1</m:t>
                      </m:r>
                      <m:r>
                        <a:rPr lang="zh-CN" altLang="en-US" sz="2800" i="1">
                          <a:ln>
                            <a:solidFill>
                              <a:schemeClr val="tx1"/>
                            </a:solidFill>
                          </a:ln>
                          <a:solidFill>
                            <a:schemeClr val="tx1"/>
                          </a:solidFill>
                          <a:latin typeface="Cambria Math" panose="02040503050406030204" pitchFamily="18" charset="0"/>
                        </a:rPr>
                        <m:t>时</m:t>
                      </m:r>
                      <m:r>
                        <a:rPr lang="zh-CN" altLang="en-US" sz="2800" i="1">
                          <a:ln>
                            <a:solidFill>
                              <a:schemeClr val="tx1"/>
                            </a:solidFill>
                          </a:ln>
                          <a:solidFill>
                            <a:schemeClr val="tx1"/>
                          </a:solidFill>
                          <a:latin typeface="Cambria Math" panose="02040503050406030204" pitchFamily="18" charset="0"/>
                        </a:rPr>
                        <m:t>,</m:t>
                      </m:r>
                      <m:r>
                        <m:rPr>
                          <m:sty m:val="p"/>
                        </m:rPr>
                        <a:rPr lang="zh-CN" altLang="en-US" sz="2800" i="1">
                          <a:ln>
                            <a:solidFill>
                              <a:schemeClr val="tx1"/>
                            </a:solidFill>
                          </a:ln>
                          <a:solidFill>
                            <a:schemeClr val="tx1"/>
                          </a:solidFill>
                          <a:latin typeface="Cambria Math" panose="02040503050406030204" pitchFamily="18" charset="0"/>
                        </a:rPr>
                        <m:t>Γ</m:t>
                      </m:r>
                      <m:r>
                        <a:rPr lang="zh-CN" altLang="en-US" sz="2800" i="1">
                          <a:ln>
                            <a:solidFill>
                              <a:schemeClr val="tx1"/>
                            </a:solidFill>
                          </a:ln>
                          <a:solidFill>
                            <a:schemeClr val="tx1"/>
                          </a:solidFill>
                          <a:latin typeface="Cambria Math" panose="02040503050406030204" pitchFamily="18" charset="0"/>
                        </a:rPr>
                        <m:t>(</m:t>
                      </m:r>
                      <m:r>
                        <a:rPr lang="zh-CN" altLang="en-US" sz="2800" i="1">
                          <a:ln>
                            <a:solidFill>
                              <a:schemeClr val="tx1"/>
                            </a:solidFill>
                          </a:ln>
                          <a:solidFill>
                            <a:schemeClr val="tx1"/>
                          </a:solidFill>
                          <a:latin typeface="Cambria Math" panose="02040503050406030204" pitchFamily="18" charset="0"/>
                        </a:rPr>
                        <m:t>𝑟</m:t>
                      </m:r>
                      <m:r>
                        <a:rPr lang="zh-CN" altLang="en-US" sz="2800" i="1">
                          <a:ln>
                            <a:solidFill>
                              <a:schemeClr val="tx1"/>
                            </a:solidFill>
                          </a:ln>
                          <a:solidFill>
                            <a:schemeClr val="tx1"/>
                          </a:solidFill>
                          <a:latin typeface="Cambria Math" panose="02040503050406030204" pitchFamily="18" charset="0"/>
                        </a:rPr>
                        <m:t>)=</m:t>
                      </m:r>
                      <m:r>
                        <m:rPr>
                          <m:sty m:val="p"/>
                        </m:rPr>
                        <a:rPr lang="zh-CN" altLang="en-US" sz="2800" i="1">
                          <a:ln>
                            <a:solidFill>
                              <a:schemeClr val="tx1"/>
                            </a:solidFill>
                          </a:ln>
                          <a:solidFill>
                            <a:schemeClr val="tx1"/>
                          </a:solidFill>
                          <a:latin typeface="Cambria Math" panose="02040503050406030204" pitchFamily="18" charset="0"/>
                        </a:rPr>
                        <m:t>Γ</m:t>
                      </m:r>
                      <m:r>
                        <a:rPr lang="zh-CN" altLang="en-US" sz="2800" i="1">
                          <a:ln>
                            <a:solidFill>
                              <a:schemeClr val="tx1"/>
                            </a:solidFill>
                          </a:ln>
                          <a:solidFill>
                            <a:schemeClr val="tx1"/>
                          </a:solidFill>
                          <a:latin typeface="Cambria Math" panose="02040503050406030204" pitchFamily="18" charset="0"/>
                        </a:rPr>
                        <m:t>(1)=1,</m:t>
                      </m:r>
                      <m:sSup>
                        <m:sSupPr>
                          <m:ctrlPr>
                            <a:rPr lang="zh-CN" altLang="en-US" sz="2800" i="1">
                              <a:ln>
                                <a:solidFill>
                                  <a:schemeClr val="tx1"/>
                                </a:solidFill>
                              </a:ln>
                              <a:solidFill>
                                <a:schemeClr val="tx1"/>
                              </a:solidFill>
                              <a:latin typeface="Cambria Math" panose="02040503050406030204" pitchFamily="18" charset="0"/>
                            </a:rPr>
                          </m:ctrlPr>
                        </m:sSupPr>
                        <m:e>
                          <m:r>
                            <a:rPr lang="zh-CN" altLang="en-US" sz="2800" i="1">
                              <a:ln>
                                <a:solidFill>
                                  <a:schemeClr val="tx1"/>
                                </a:solidFill>
                              </a:ln>
                              <a:solidFill>
                                <a:schemeClr val="tx1"/>
                              </a:solidFill>
                              <a:latin typeface="Cambria Math" panose="02040503050406030204" pitchFamily="18" charset="0"/>
                            </a:rPr>
                            <m:t>𝑥</m:t>
                          </m:r>
                        </m:e>
                        <m:sup>
                          <m:r>
                            <a:rPr lang="zh-CN" altLang="en-US" sz="2800" i="1">
                              <a:ln>
                                <a:solidFill>
                                  <a:schemeClr val="tx1"/>
                                </a:solidFill>
                              </a:ln>
                              <a:solidFill>
                                <a:schemeClr val="tx1"/>
                              </a:solidFill>
                              <a:latin typeface="Cambria Math" panose="02040503050406030204" pitchFamily="18" charset="0"/>
                            </a:rPr>
                            <m:t>𝑟</m:t>
                          </m:r>
                          <m:r>
                            <a:rPr lang="zh-CN" altLang="en-US" sz="2800" i="1">
                              <a:ln>
                                <a:solidFill>
                                  <a:schemeClr val="tx1"/>
                                </a:solidFill>
                              </a:ln>
                              <a:solidFill>
                                <a:schemeClr val="tx1"/>
                              </a:solidFill>
                              <a:latin typeface="Cambria Math" panose="02040503050406030204" pitchFamily="18" charset="0"/>
                            </a:rPr>
                            <m:t>−1</m:t>
                          </m:r>
                        </m:sup>
                      </m:sSup>
                      <m:r>
                        <a:rPr lang="zh-CN" altLang="en-US" sz="2800" i="1">
                          <a:ln>
                            <a:solidFill>
                              <a:schemeClr val="tx1"/>
                            </a:solidFill>
                          </a:ln>
                          <a:solidFill>
                            <a:schemeClr val="tx1"/>
                          </a:solidFill>
                          <a:latin typeface="Cambria Math" panose="02040503050406030204" pitchFamily="18" charset="0"/>
                        </a:rPr>
                        <m:t>=</m:t>
                      </m:r>
                      <m:sSup>
                        <m:sSupPr>
                          <m:ctrlPr>
                            <a:rPr lang="zh-CN" altLang="en-US" sz="2800" i="1">
                              <a:ln>
                                <a:solidFill>
                                  <a:schemeClr val="tx1"/>
                                </a:solidFill>
                              </a:ln>
                              <a:solidFill>
                                <a:schemeClr val="tx1"/>
                              </a:solidFill>
                              <a:latin typeface="Cambria Math" panose="02040503050406030204" pitchFamily="18" charset="0"/>
                            </a:rPr>
                          </m:ctrlPr>
                        </m:sSupPr>
                        <m:e>
                          <m:r>
                            <a:rPr lang="zh-CN" altLang="en-US" sz="2800" i="1">
                              <a:ln>
                                <a:solidFill>
                                  <a:schemeClr val="tx1"/>
                                </a:solidFill>
                              </a:ln>
                              <a:solidFill>
                                <a:schemeClr val="tx1"/>
                              </a:solidFill>
                              <a:latin typeface="Cambria Math" panose="02040503050406030204" pitchFamily="18" charset="0"/>
                            </a:rPr>
                            <m:t>𝑥</m:t>
                          </m:r>
                        </m:e>
                        <m:sup>
                          <m:r>
                            <a:rPr lang="zh-CN" altLang="en-US" sz="2800" i="1">
                              <a:ln>
                                <a:solidFill>
                                  <a:schemeClr val="tx1"/>
                                </a:solidFill>
                              </a:ln>
                              <a:solidFill>
                                <a:schemeClr val="tx1"/>
                              </a:solidFill>
                              <a:latin typeface="Cambria Math" panose="02040503050406030204" pitchFamily="18" charset="0"/>
                            </a:rPr>
                            <m:t>0</m:t>
                          </m:r>
                        </m:sup>
                      </m:sSup>
                      <m:r>
                        <a:rPr lang="zh-CN" altLang="en-US" sz="2800" i="1">
                          <a:ln>
                            <a:solidFill>
                              <a:schemeClr val="tx1"/>
                            </a:solidFill>
                          </a:ln>
                          <a:solidFill>
                            <a:schemeClr val="tx1"/>
                          </a:solidFill>
                          <a:latin typeface="Cambria Math" panose="02040503050406030204" pitchFamily="18" charset="0"/>
                        </a:rPr>
                        <m:t>=1</m:t>
                      </m:r>
                      <m:r>
                        <a:rPr lang="zh-CN" altLang="en-US" sz="2800" i="1">
                          <a:ln>
                            <a:solidFill>
                              <a:schemeClr val="tx1"/>
                            </a:solidFill>
                          </a:ln>
                          <a:solidFill>
                            <a:schemeClr val="tx1"/>
                          </a:solidFill>
                          <a:latin typeface="Cambria Math" panose="02040503050406030204" pitchFamily="18" charset="0"/>
                        </a:rPr>
                        <m:t>。</m:t>
                      </m:r>
                    </m:oMath>
                    <m:oMath xmlns:m="http://schemas.openxmlformats.org/officeDocument/2006/math">
                      <m:r>
                        <a:rPr lang="zh-CN" altLang="en-US" sz="2800" i="1">
                          <a:ln>
                            <a:solidFill>
                              <a:schemeClr val="tx1"/>
                            </a:solidFill>
                          </a:ln>
                          <a:solidFill>
                            <a:schemeClr val="tx1"/>
                          </a:solidFill>
                          <a:latin typeface="Cambria Math" panose="02040503050406030204" pitchFamily="18" charset="0"/>
                        </a:rPr>
                        <m:t>此时</m:t>
                      </m:r>
                      <m:r>
                        <m:rPr>
                          <m:sty m:val="p"/>
                        </m:rPr>
                        <a:rPr lang="zh-CN" altLang="en-US" sz="2800" i="1">
                          <a:ln>
                            <a:solidFill>
                              <a:schemeClr val="tx1"/>
                            </a:solidFill>
                          </a:ln>
                          <a:solidFill>
                            <a:schemeClr val="tx1"/>
                          </a:solidFill>
                          <a:latin typeface="Cambria Math" panose="02040503050406030204" pitchFamily="18" charset="0"/>
                        </a:rPr>
                        <m:t>Γ</m:t>
                      </m:r>
                      <m:r>
                        <a:rPr lang="zh-CN" altLang="en-US" sz="2800" i="1">
                          <a:ln>
                            <a:solidFill>
                              <a:schemeClr val="tx1"/>
                            </a:solidFill>
                          </a:ln>
                          <a:solidFill>
                            <a:schemeClr val="tx1"/>
                          </a:solidFill>
                          <a:latin typeface="Cambria Math" panose="02040503050406030204" pitchFamily="18" charset="0"/>
                        </a:rPr>
                        <m:t>−</m:t>
                      </m:r>
                      <m:r>
                        <a:rPr lang="zh-CN" altLang="en-US" sz="2800" i="1">
                          <a:ln>
                            <a:solidFill>
                              <a:schemeClr val="tx1"/>
                            </a:solidFill>
                          </a:ln>
                          <a:solidFill>
                            <a:schemeClr val="tx1"/>
                          </a:solidFill>
                          <a:latin typeface="Cambria Math" panose="02040503050406030204" pitchFamily="18" charset="0"/>
                        </a:rPr>
                        <m:t>分布的概率密度函数为</m:t>
                      </m:r>
                    </m:oMath>
                    <m:oMath xmlns:m="http://schemas.openxmlformats.org/officeDocument/2006/math">
                      <m:m>
                        <m:mPr>
                          <m:plcHide m:val="on"/>
                          <m:mcs>
                            <m:mc>
                              <m:mcPr>
                                <m:count m:val="2"/>
                                <m:mcJc m:val="center"/>
                              </m:mcPr>
                            </m:mc>
                          </m:mcs>
                          <m:ctrlPr>
                            <a:rPr lang="zh-CN" altLang="en-US" sz="2800" i="1">
                              <a:ln>
                                <a:solidFill>
                                  <a:schemeClr val="tx1"/>
                                </a:solidFill>
                              </a:ln>
                              <a:solidFill>
                                <a:schemeClr val="tx1"/>
                              </a:solidFill>
                              <a:latin typeface="Cambria Math" panose="02040503050406030204" pitchFamily="18" charset="0"/>
                            </a:rPr>
                          </m:ctrlPr>
                        </m:mPr>
                        <m:mr>
                          <m:e/>
                          <m:e/>
                        </m:mr>
                      </m:m>
                      <m:r>
                        <a:rPr lang="zh-CN" altLang="en-US" sz="2800" i="1">
                          <a:ln>
                            <a:solidFill>
                              <a:schemeClr val="tx1"/>
                            </a:solidFill>
                          </a:ln>
                          <a:solidFill>
                            <a:schemeClr val="tx1"/>
                          </a:solidFill>
                          <a:latin typeface="Cambria Math" panose="02040503050406030204" pitchFamily="18" charset="0"/>
                        </a:rPr>
                        <m:t>𝑓</m:t>
                      </m:r>
                      <m:r>
                        <a:rPr lang="zh-CN" altLang="en-US" sz="2800" i="1">
                          <a:ln>
                            <a:solidFill>
                              <a:schemeClr val="tx1"/>
                            </a:solidFill>
                          </a:ln>
                          <a:solidFill>
                            <a:schemeClr val="tx1"/>
                          </a:solidFill>
                          <a:latin typeface="Cambria Math" panose="02040503050406030204" pitchFamily="18" charset="0"/>
                        </a:rPr>
                        <m:t>(</m:t>
                      </m:r>
                      <m:r>
                        <a:rPr lang="zh-CN" altLang="en-US" sz="2800" i="1">
                          <a:ln>
                            <a:solidFill>
                              <a:schemeClr val="tx1"/>
                            </a:solidFill>
                          </a:ln>
                          <a:solidFill>
                            <a:schemeClr val="tx1"/>
                          </a:solidFill>
                          <a:latin typeface="Cambria Math" panose="02040503050406030204" pitchFamily="18" charset="0"/>
                        </a:rPr>
                        <m:t>𝑥</m:t>
                      </m:r>
                      <m:r>
                        <a:rPr lang="zh-CN" altLang="en-US" sz="2800" i="1">
                          <a:ln>
                            <a:solidFill>
                              <a:schemeClr val="tx1"/>
                            </a:solidFill>
                          </a:ln>
                          <a:solidFill>
                            <a:schemeClr val="tx1"/>
                          </a:solidFill>
                          <a:latin typeface="Cambria Math" panose="02040503050406030204" pitchFamily="18" charset="0"/>
                        </a:rPr>
                        <m:t>)=</m:t>
                      </m:r>
                      <m:d>
                        <m:dPr>
                          <m:begChr m:val="{"/>
                          <m:endChr m:val=""/>
                          <m:ctrlPr>
                            <a:rPr lang="zh-CN" altLang="en-US" sz="2800" i="1">
                              <a:ln>
                                <a:solidFill>
                                  <a:schemeClr val="tx1"/>
                                </a:solidFill>
                              </a:ln>
                              <a:solidFill>
                                <a:schemeClr val="tx1"/>
                              </a:solidFill>
                              <a:latin typeface="Cambria Math" panose="02040503050406030204" pitchFamily="18" charset="0"/>
                            </a:rPr>
                          </m:ctrlPr>
                        </m:dPr>
                        <m:e>
                          <m:m>
                            <m:mPr>
                              <m:plcHide m:val="on"/>
                              <m:mcs>
                                <m:mc>
                                  <m:mcPr>
                                    <m:count m:val="1"/>
                                    <m:mcJc m:val="center"/>
                                  </m:mcPr>
                                </m:mc>
                              </m:mcs>
                              <m:ctrlPr>
                                <a:rPr lang="zh-CN" altLang="en-US" sz="2800" i="1">
                                  <a:ln>
                                    <a:solidFill>
                                      <a:schemeClr val="tx1"/>
                                    </a:solidFill>
                                  </a:ln>
                                  <a:solidFill>
                                    <a:schemeClr val="tx1"/>
                                  </a:solidFill>
                                  <a:latin typeface="Cambria Math" panose="02040503050406030204" pitchFamily="18" charset="0"/>
                                </a:rPr>
                              </m:ctrlPr>
                            </m:mPr>
                            <m:mr>
                              <m:e>
                                <m:r>
                                  <a:rPr lang="zh-CN" altLang="en-US" sz="2800" i="1">
                                    <a:ln>
                                      <a:solidFill>
                                        <a:schemeClr val="tx1"/>
                                      </a:solidFill>
                                    </a:ln>
                                    <a:solidFill>
                                      <a:schemeClr val="tx1"/>
                                    </a:solidFill>
                                    <a:latin typeface="Cambria Math" panose="02040503050406030204" pitchFamily="18" charset="0"/>
                                  </a:rPr>
                                  <m:t>𝜆</m:t>
                                </m:r>
                                <m:sSup>
                                  <m:sSupPr>
                                    <m:ctrlPr>
                                      <a:rPr lang="zh-CN" altLang="en-US" sz="2800" i="1">
                                        <a:ln>
                                          <a:solidFill>
                                            <a:schemeClr val="tx1"/>
                                          </a:solidFill>
                                        </a:ln>
                                        <a:solidFill>
                                          <a:schemeClr val="tx1"/>
                                        </a:solidFill>
                                        <a:latin typeface="Cambria Math" panose="02040503050406030204" pitchFamily="18" charset="0"/>
                                      </a:rPr>
                                    </m:ctrlPr>
                                  </m:sSupPr>
                                  <m:e>
                                    <m:r>
                                      <a:rPr lang="zh-CN" altLang="en-US" sz="2800" i="1">
                                        <a:ln>
                                          <a:solidFill>
                                            <a:schemeClr val="tx1"/>
                                          </a:solidFill>
                                        </a:ln>
                                        <a:solidFill>
                                          <a:schemeClr val="tx1"/>
                                        </a:solidFill>
                                        <a:latin typeface="Cambria Math" panose="02040503050406030204" pitchFamily="18" charset="0"/>
                                      </a:rPr>
                                      <m:t>𝑒</m:t>
                                    </m:r>
                                  </m:e>
                                  <m:sup>
                                    <m:r>
                                      <a:rPr lang="zh-CN" altLang="en-US" sz="2800" i="1">
                                        <a:ln>
                                          <a:solidFill>
                                            <a:schemeClr val="tx1"/>
                                          </a:solidFill>
                                        </a:ln>
                                        <a:solidFill>
                                          <a:schemeClr val="tx1"/>
                                        </a:solidFill>
                                        <a:latin typeface="Cambria Math" panose="02040503050406030204" pitchFamily="18" charset="0"/>
                                      </a:rPr>
                                      <m:t>−</m:t>
                                    </m:r>
                                    <m:r>
                                      <a:rPr lang="zh-CN" altLang="en-US" sz="2800" i="1">
                                        <a:ln>
                                          <a:solidFill>
                                            <a:schemeClr val="tx1"/>
                                          </a:solidFill>
                                        </a:ln>
                                        <a:solidFill>
                                          <a:schemeClr val="tx1"/>
                                        </a:solidFill>
                                        <a:latin typeface="Cambria Math" panose="02040503050406030204" pitchFamily="18" charset="0"/>
                                      </a:rPr>
                                      <m:t>𝜆</m:t>
                                    </m:r>
                                    <m:r>
                                      <a:rPr lang="zh-CN" altLang="en-US" sz="2800" i="1">
                                        <a:ln>
                                          <a:solidFill>
                                            <a:schemeClr val="tx1"/>
                                          </a:solidFill>
                                        </a:ln>
                                        <a:solidFill>
                                          <a:schemeClr val="tx1"/>
                                        </a:solidFill>
                                        <a:latin typeface="Cambria Math" panose="02040503050406030204" pitchFamily="18" charset="0"/>
                                      </a:rPr>
                                      <m:t>𝑥</m:t>
                                    </m:r>
                                  </m:sup>
                                </m:sSup>
                                <m:m>
                                  <m:mPr>
                                    <m:plcHide m:val="on"/>
                                    <m:mcs>
                                      <m:mc>
                                        <m:mcPr>
                                          <m:count m:val="2"/>
                                          <m:mcJc m:val="center"/>
                                        </m:mcPr>
                                      </m:mc>
                                    </m:mcs>
                                    <m:ctrlPr>
                                      <a:rPr lang="zh-CN" altLang="en-US" sz="2800" i="1">
                                        <a:ln>
                                          <a:solidFill>
                                            <a:schemeClr val="tx1"/>
                                          </a:solidFill>
                                        </a:ln>
                                        <a:solidFill>
                                          <a:schemeClr val="tx1"/>
                                        </a:solidFill>
                                        <a:latin typeface="Cambria Math" panose="02040503050406030204" pitchFamily="18" charset="0"/>
                                      </a:rPr>
                                    </m:ctrlPr>
                                  </m:mPr>
                                  <m:mr>
                                    <m:e/>
                                    <m:e>
                                      <m:r>
                                        <a:rPr lang="zh-CN" altLang="en-US" sz="2800" i="1">
                                          <a:ln>
                                            <a:solidFill>
                                              <a:schemeClr val="tx1"/>
                                            </a:solidFill>
                                          </a:ln>
                                          <a:solidFill>
                                            <a:schemeClr val="tx1"/>
                                          </a:solidFill>
                                          <a:latin typeface="Cambria Math" panose="02040503050406030204" pitchFamily="18" charset="0"/>
                                        </a:rPr>
                                        <m:t>𝑥</m:t>
                                      </m:r>
                                      <m:r>
                                        <a:rPr lang="zh-CN" altLang="en-US" sz="2800" i="1">
                                          <a:ln>
                                            <a:solidFill>
                                              <a:schemeClr val="tx1"/>
                                            </a:solidFill>
                                          </a:ln>
                                          <a:solidFill>
                                            <a:schemeClr val="tx1"/>
                                          </a:solidFill>
                                          <a:latin typeface="Cambria Math" panose="02040503050406030204" pitchFamily="18" charset="0"/>
                                        </a:rPr>
                                        <m:t>&gt;0</m:t>
                                      </m:r>
                                    </m:e>
                                  </m:mr>
                                </m:m>
                              </m:e>
                            </m:mr>
                            <m:mr>
                              <m:e>
                                <m:m>
                                  <m:mPr>
                                    <m:plcHide m:val="on"/>
                                    <m:mcs>
                                      <m:mc>
                                        <m:mcPr>
                                          <m:count m:val="3"/>
                                          <m:mcJc m:val="center"/>
                                        </m:mcPr>
                                      </m:mc>
                                    </m:mcs>
                                    <m:ctrlPr>
                                      <a:rPr lang="zh-CN" altLang="en-US" sz="2800" i="1">
                                        <a:ln>
                                          <a:solidFill>
                                            <a:schemeClr val="tx1"/>
                                          </a:solidFill>
                                        </a:ln>
                                        <a:solidFill>
                                          <a:schemeClr val="tx1"/>
                                        </a:solidFill>
                                        <a:latin typeface="Cambria Math" panose="02040503050406030204" pitchFamily="18" charset="0"/>
                                      </a:rPr>
                                    </m:ctrlPr>
                                  </m:mPr>
                                  <m:mr>
                                    <m:e>
                                      <m:r>
                                        <a:rPr lang="zh-CN" altLang="en-US" sz="2800" i="1">
                                          <a:ln>
                                            <a:solidFill>
                                              <a:schemeClr val="tx1"/>
                                            </a:solidFill>
                                          </a:ln>
                                          <a:solidFill>
                                            <a:schemeClr val="tx1"/>
                                          </a:solidFill>
                                          <a:latin typeface="Cambria Math" panose="02040503050406030204" pitchFamily="18" charset="0"/>
                                        </a:rPr>
                                        <m:t>0</m:t>
                                      </m:r>
                                    </m:e>
                                    <m:e/>
                                    <m:e>
                                      <m:r>
                                        <a:rPr lang="zh-CN" altLang="en-US" sz="2800" i="1">
                                          <a:ln>
                                            <a:solidFill>
                                              <a:schemeClr val="tx1"/>
                                            </a:solidFill>
                                          </a:ln>
                                          <a:solidFill>
                                            <a:schemeClr val="tx1"/>
                                          </a:solidFill>
                                          <a:latin typeface="Cambria Math" panose="02040503050406030204" pitchFamily="18" charset="0"/>
                                        </a:rPr>
                                        <m:t>𝑥</m:t>
                                      </m:r>
                                      <m:r>
                                        <a:rPr lang="zh-CN" altLang="en-US" sz="2800" i="1">
                                          <a:ln>
                                            <a:solidFill>
                                              <a:schemeClr val="tx1"/>
                                            </a:solidFill>
                                          </a:ln>
                                          <a:solidFill>
                                            <a:schemeClr val="tx1"/>
                                          </a:solidFill>
                                          <a:latin typeface="Cambria Math" panose="02040503050406030204" pitchFamily="18" charset="0"/>
                                        </a:rPr>
                                        <m:t>≤0</m:t>
                                      </m:r>
                                    </m:e>
                                  </m:mr>
                                </m:m>
                              </m:e>
                            </m:mr>
                          </m:m>
                        </m:e>
                      </m:d>
                    </m:oMath>
                    <m:oMath xmlns:m="http://schemas.openxmlformats.org/officeDocument/2006/math">
                      <m:r>
                        <a:rPr lang="zh-CN" altLang="en-US" sz="2800" i="1">
                          <a:ln>
                            <a:solidFill>
                              <a:schemeClr val="tx1"/>
                            </a:solidFill>
                          </a:ln>
                          <a:solidFill>
                            <a:schemeClr val="tx1"/>
                          </a:solidFill>
                          <a:latin typeface="Cambria Math" panose="02040503050406030204" pitchFamily="18" charset="0"/>
                        </a:rPr>
                        <m:t>这是参数为</m:t>
                      </m:r>
                      <m:r>
                        <a:rPr lang="en-US" altLang="zh-CN" sz="2800" b="0" i="1" smtClean="0">
                          <a:ln>
                            <a:solidFill>
                              <a:schemeClr val="tx1"/>
                            </a:solidFill>
                          </a:ln>
                          <a:solidFill>
                            <a:schemeClr val="tx1"/>
                          </a:solidFill>
                          <a:latin typeface="Cambria Math" panose="02040503050406030204" pitchFamily="18" charset="0"/>
                        </a:rPr>
                        <m:t> </m:t>
                      </m:r>
                      <m:r>
                        <a:rPr lang="zh-CN" altLang="en-US" sz="2800" i="1">
                          <a:ln>
                            <a:solidFill>
                              <a:schemeClr val="tx1"/>
                            </a:solidFill>
                          </a:ln>
                          <a:solidFill>
                            <a:schemeClr val="tx1"/>
                          </a:solidFill>
                          <a:latin typeface="Cambria Math" panose="02040503050406030204" pitchFamily="18" charset="0"/>
                        </a:rPr>
                        <m:t>𝜆</m:t>
                      </m:r>
                      <m:r>
                        <a:rPr lang="en-US" altLang="zh-CN" sz="2800" b="0" i="1" smtClean="0">
                          <a:ln>
                            <a:solidFill>
                              <a:schemeClr val="tx1"/>
                            </a:solidFill>
                          </a:ln>
                          <a:solidFill>
                            <a:schemeClr val="tx1"/>
                          </a:solidFill>
                          <a:latin typeface="Cambria Math" panose="02040503050406030204" pitchFamily="18" charset="0"/>
                        </a:rPr>
                        <m:t> </m:t>
                      </m:r>
                      <m:r>
                        <a:rPr lang="zh-CN" altLang="en-US" sz="2800" i="1">
                          <a:ln>
                            <a:solidFill>
                              <a:schemeClr val="tx1"/>
                            </a:solidFill>
                          </a:ln>
                          <a:solidFill>
                            <a:schemeClr val="tx1"/>
                          </a:solidFill>
                          <a:latin typeface="Cambria Math" panose="02040503050406030204" pitchFamily="18" charset="0"/>
                        </a:rPr>
                        <m:t>的指数分布的概率密度函数</m:t>
                      </m:r>
                      <m:r>
                        <a:rPr lang="zh-CN" altLang="en-US" sz="2800" i="1">
                          <a:ln>
                            <a:solidFill>
                              <a:schemeClr val="tx1"/>
                            </a:solidFill>
                          </a:ln>
                          <a:solidFill>
                            <a:schemeClr val="tx1"/>
                          </a:solidFill>
                          <a:latin typeface="Cambria Math" panose="02040503050406030204" pitchFamily="18" charset="0"/>
                        </a:rPr>
                        <m:t>.</m:t>
                      </m:r>
                    </m:oMath>
                  </m:oMathPara>
                </a14:m>
                <a:endParaRPr lang="zh-CN" altLang="en-US" sz="2800" dirty="0">
                  <a:ln>
                    <a:solidFill>
                      <a:schemeClr val="tx1"/>
                    </a:solidFill>
                  </a:ln>
                  <a:solidFill>
                    <a:schemeClr val="tx1"/>
                  </a:solidFill>
                  <a:latin typeface="Times New Roman" panose="02020603050405020304" pitchFamily="18" charset="0"/>
                  <a:cs typeface="Times New Roman" panose="02020603050405020304" pitchFamily="18" charset="0"/>
                </a:endParaRPr>
              </a:p>
            </p:txBody>
          </p:sp>
        </mc:Choice>
        <mc:Fallback xmlns="">
          <p:sp>
            <p:nvSpPr>
              <p:cNvPr id="72708" name="Object 4">
                <a:extLst>
                  <a:ext uri="{FF2B5EF4-FFF2-40B4-BE49-F238E27FC236}">
                    <a16:creationId xmlns:a16="http://schemas.microsoft.com/office/drawing/2014/main" id="{1F6EB211-4C2D-4DE7-8D65-11F6842A6368}"/>
                  </a:ext>
                </a:extLst>
              </p:cNvPr>
              <p:cNvSpPr txBox="1">
                <a:spLocks noRot="1" noChangeAspect="1" noMove="1" noResize="1" noEditPoints="1" noAdjustHandles="1" noChangeArrowheads="1" noChangeShapeType="1" noTextEdit="1"/>
              </p:cNvSpPr>
              <p:nvPr>
                <p:ph idx="1"/>
              </p:nvPr>
            </p:nvSpPr>
            <p:spPr bwMode="auto">
              <a:xfrm>
                <a:off x="719572" y="2448562"/>
                <a:ext cx="7704856" cy="3833073"/>
              </a:xfrm>
              <a:prstGeom prst="rect">
                <a:avLst/>
              </a:prstGeom>
              <a:blipFill>
                <a:blip r:embed="rId2"/>
                <a:stretch>
                  <a:fillRect/>
                </a:stretch>
              </a:blipFill>
              <a:ln>
                <a:noFill/>
              </a:ln>
              <a:effectLst/>
              <a:ex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additive="base">
                                        <p:cTn id="7" dur="500" fill="hold"/>
                                        <p:tgtEl>
                                          <p:spTgt spid="72707"/>
                                        </p:tgtEl>
                                        <p:attrNameLst>
                                          <p:attrName>ppt_x</p:attrName>
                                        </p:attrNameLst>
                                      </p:cBhvr>
                                      <p:tavLst>
                                        <p:tav tm="0">
                                          <p:val>
                                            <p:strVal val="1+#ppt_w/2"/>
                                          </p:val>
                                        </p:tav>
                                        <p:tav tm="100000">
                                          <p:val>
                                            <p:strVal val="#ppt_x"/>
                                          </p:val>
                                        </p:tav>
                                      </p:tavLst>
                                    </p:anim>
                                    <p:anim calcmode="lin" valueType="num">
                                      <p:cBhvr additive="base">
                                        <p:cTn id="8" dur="500" fill="hold"/>
                                        <p:tgtEl>
                                          <p:spTgt spid="727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3">
            <a:extLst>
              <a:ext uri="{FF2B5EF4-FFF2-40B4-BE49-F238E27FC236}">
                <a16:creationId xmlns:a16="http://schemas.microsoft.com/office/drawing/2014/main" id="{9017EF92-F9A4-42DD-B224-93DF48113590}"/>
              </a:ext>
            </a:extLst>
          </p:cNvPr>
          <p:cNvSpPr txBox="1">
            <a:spLocks noChangeArrowheads="1"/>
          </p:cNvSpPr>
          <p:nvPr/>
        </p:nvSpPr>
        <p:spPr bwMode="auto">
          <a:xfrm>
            <a:off x="251520" y="764704"/>
            <a:ext cx="8064500" cy="62671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sz="3200" dirty="0">
                <a:latin typeface="Times New Roman" panose="02020603050405020304" pitchFamily="18" charset="0"/>
              </a:rPr>
              <a:t>2)  </a:t>
            </a:r>
            <a:r>
              <a:rPr kumimoji="1" lang="zh-CN" altLang="en-US" sz="3200" dirty="0">
                <a:latin typeface="Times New Roman" panose="02020603050405020304" pitchFamily="18" charset="0"/>
              </a:rPr>
              <a:t>爱尔朗分布。</a:t>
            </a:r>
            <a:endParaRPr kumimoji="1" lang="zh-CN" altLang="en-US"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4761" name="Object 9">
                <a:extLst>
                  <a:ext uri="{FF2B5EF4-FFF2-40B4-BE49-F238E27FC236}">
                    <a16:creationId xmlns:a16="http://schemas.microsoft.com/office/drawing/2014/main" id="{70649DC2-85C2-47AB-B34D-AAA6CAD4847E}"/>
                  </a:ext>
                </a:extLst>
              </p:cNvPr>
              <p:cNvSpPr txBox="1">
                <a:spLocks noGrp="1"/>
              </p:cNvSpPr>
              <p:nvPr>
                <p:ph idx="4294967295"/>
              </p:nvPr>
            </p:nvSpPr>
            <p:spPr bwMode="auto">
              <a:xfrm>
                <a:off x="0" y="1616359"/>
                <a:ext cx="8964488" cy="4464496"/>
              </a:xfrm>
              <a:prstGeom prst="rect">
                <a:avLst/>
              </a:prstGeom>
              <a:noFill/>
              <a:ln>
                <a:noFill/>
              </a:ln>
              <a:effectLst/>
            </p:spPr>
            <p:txBody>
              <a:bodyPr>
                <a:normAutofit fontScale="55000" lnSpcReduction="20000"/>
              </a:bodyPr>
              <a:lstStyle/>
              <a:p>
                <a:pPr indent="822325">
                  <a:lnSpc>
                    <a:spcPct val="220000"/>
                  </a:lnSpc>
                  <a:spcBef>
                    <a:spcPts val="0"/>
                  </a:spcBef>
                  <a:buNone/>
                </a:pPr>
                <a:r>
                  <a:rPr lang="zh-CN" altLang="en-US" sz="4400" dirty="0">
                    <a:ln>
                      <a:solidFill>
                        <a:schemeClr val="tx1"/>
                      </a:solidFill>
                    </a:ln>
                    <a:solidFill>
                      <a:schemeClr val="tx1"/>
                    </a:solidFill>
                    <a:latin typeface="Times New Roman" panose="02020603050405020304" pitchFamily="18" charset="0"/>
                    <a:cs typeface="Times New Roman" panose="02020603050405020304" pitchFamily="18" charset="0"/>
                  </a:rPr>
                  <a:t>假设</a:t>
                </a:r>
                <a14:m>
                  <m:oMath xmlns:m="http://schemas.openxmlformats.org/officeDocument/2006/math">
                    <m:r>
                      <a:rPr lang="zh-CN" altLang="en-US" sz="4400" i="1">
                        <a:ln>
                          <a:solidFill>
                            <a:schemeClr val="tx1"/>
                          </a:solidFill>
                        </a:ln>
                        <a:latin typeface="Cambria Math" panose="02040503050406030204" pitchFamily="18" charset="0"/>
                      </a:rPr>
                      <m:t>有</m:t>
                    </m:r>
                    <m:r>
                      <a:rPr lang="en-US" altLang="zh-CN" sz="4400" b="0" i="1" smtClean="0">
                        <a:ln>
                          <a:solidFill>
                            <a:schemeClr val="tx1"/>
                          </a:solidFill>
                        </a:ln>
                        <a:latin typeface="Cambria Math" panose="02040503050406030204" pitchFamily="18" charset="0"/>
                      </a:rPr>
                      <m:t>𝑟</m:t>
                    </m:r>
                    <m:r>
                      <a:rPr lang="en-US" altLang="zh-CN" sz="4400" b="0" i="1" smtClean="0">
                        <a:ln>
                          <a:solidFill>
                            <a:schemeClr val="tx1"/>
                          </a:solidFill>
                        </a:ln>
                        <a:latin typeface="Cambria Math" panose="02040503050406030204" pitchFamily="18" charset="0"/>
                      </a:rPr>
                      <m:t> </m:t>
                    </m:r>
                    <m:r>
                      <a:rPr lang="zh-CN" altLang="en-US" sz="4400" i="1">
                        <a:ln>
                          <a:solidFill>
                            <a:schemeClr val="tx1"/>
                          </a:solidFill>
                        </a:ln>
                        <a:latin typeface="Cambria Math" panose="02040503050406030204" pitchFamily="18" charset="0"/>
                      </a:rPr>
                      <m:t>个</m:t>
                    </m:r>
                    <m:r>
                      <a:rPr lang="zh-CN" altLang="en-US" sz="4400" i="1" smtClean="0">
                        <a:ln>
                          <a:solidFill>
                            <a:schemeClr val="tx1"/>
                          </a:solidFill>
                        </a:ln>
                        <a:latin typeface="Cambria Math" panose="02040503050406030204" pitchFamily="18" charset="0"/>
                      </a:rPr>
                      <m:t>串联</m:t>
                    </m:r>
                    <m:r>
                      <a:rPr lang="zh-CN" altLang="en-US" sz="4400" i="1">
                        <a:ln>
                          <a:solidFill>
                            <a:schemeClr val="tx1"/>
                          </a:solidFill>
                        </a:ln>
                        <a:latin typeface="Cambria Math" panose="02040503050406030204" pitchFamily="18" charset="0"/>
                      </a:rPr>
                      <m:t>的</m:t>
                    </m:r>
                    <m:r>
                      <a:rPr lang="zh-CN" altLang="en-US" sz="4400" i="1" smtClean="0">
                        <a:ln>
                          <a:solidFill>
                            <a:schemeClr val="tx1"/>
                          </a:solidFill>
                        </a:ln>
                        <a:latin typeface="Cambria Math" panose="02040503050406030204" pitchFamily="18" charset="0"/>
                      </a:rPr>
                      <m:t>服务台</m:t>
                    </m:r>
                    <m:r>
                      <a:rPr lang="zh-CN" altLang="en-US" sz="4400" i="1">
                        <a:ln>
                          <a:solidFill>
                            <a:schemeClr val="tx1"/>
                          </a:solidFill>
                        </a:ln>
                        <a:latin typeface="Cambria Math" panose="02040503050406030204" pitchFamily="18" charset="0"/>
                      </a:rPr>
                      <m:t>相互</m:t>
                    </m:r>
                    <m:r>
                      <a:rPr lang="zh-CN" altLang="en-US" sz="4400" i="1" smtClean="0">
                        <a:ln>
                          <a:solidFill>
                            <a:schemeClr val="tx1"/>
                          </a:solidFill>
                        </a:ln>
                        <a:latin typeface="Cambria Math" panose="02040503050406030204" pitchFamily="18" charset="0"/>
                      </a:rPr>
                      <m:t>独立</m:t>
                    </m:r>
                    <m:r>
                      <a:rPr lang="zh-CN" altLang="en-US" sz="4400" i="1">
                        <a:ln>
                          <a:solidFill>
                            <a:schemeClr val="tx1"/>
                          </a:solidFill>
                        </a:ln>
                        <a:latin typeface="Cambria Math" panose="02040503050406030204" pitchFamily="18" charset="0"/>
                      </a:rPr>
                      <m:t>，</m:t>
                    </m:r>
                    <m:r>
                      <a:rPr lang="zh-CN" altLang="en-US" sz="4400" i="1" smtClean="0">
                        <a:ln>
                          <a:solidFill>
                            <a:schemeClr val="tx1"/>
                          </a:solidFill>
                        </a:ln>
                        <a:latin typeface="Cambria Math" panose="02040503050406030204" pitchFamily="18" charset="0"/>
                      </a:rPr>
                      <m:t>则</m:t>
                    </m:r>
                    <m:r>
                      <a:rPr lang="zh-CN" altLang="en-US" sz="4400" i="1">
                        <a:ln>
                          <a:solidFill>
                            <a:schemeClr val="tx1"/>
                          </a:solidFill>
                        </a:ln>
                        <a:latin typeface="Cambria Math" panose="02040503050406030204" pitchFamily="18" charset="0"/>
                      </a:rPr>
                      <m:t>一个</m:t>
                    </m:r>
                    <m:r>
                      <a:rPr lang="zh-CN" altLang="en-US" sz="4400" i="1" smtClean="0">
                        <a:ln>
                          <a:solidFill>
                            <a:schemeClr val="tx1"/>
                          </a:solidFill>
                        </a:ln>
                        <a:latin typeface="Cambria Math" panose="02040503050406030204" pitchFamily="18" charset="0"/>
                      </a:rPr>
                      <m:t>顾客</m:t>
                    </m:r>
                    <m:r>
                      <a:rPr lang="zh-CN" altLang="en-US" sz="4400" i="1">
                        <a:ln>
                          <a:solidFill>
                            <a:schemeClr val="tx1"/>
                          </a:solidFill>
                        </a:ln>
                        <a:latin typeface="Cambria Math" panose="02040503050406030204" pitchFamily="18" charset="0"/>
                      </a:rPr>
                      <m:t>接受</m:t>
                    </m:r>
                    <m:r>
                      <a:rPr lang="zh-CN" altLang="en-US" sz="4400" i="1" smtClean="0">
                        <a:ln>
                          <a:solidFill>
                            <a:schemeClr val="tx1"/>
                          </a:solidFill>
                        </a:ln>
                        <a:latin typeface="Cambria Math" panose="02040503050406030204" pitchFamily="18" charset="0"/>
                      </a:rPr>
                      <m:t>完</m:t>
                    </m:r>
                    <m:r>
                      <a:rPr lang="en-US" altLang="zh-CN" sz="4400" b="0" i="1" smtClean="0">
                        <a:ln>
                          <a:solidFill>
                            <a:schemeClr val="tx1"/>
                          </a:solidFill>
                        </a:ln>
                        <a:latin typeface="Cambria Math" panose="02040503050406030204" pitchFamily="18" charset="0"/>
                      </a:rPr>
                      <m:t>𝑟</m:t>
                    </m:r>
                    <m:r>
                      <a:rPr lang="en-US" altLang="zh-CN" sz="4400" b="0" i="1" smtClean="0">
                        <a:ln>
                          <a:solidFill>
                            <a:schemeClr val="tx1"/>
                          </a:solidFill>
                        </a:ln>
                        <a:latin typeface="Cambria Math" panose="02040503050406030204" pitchFamily="18" charset="0"/>
                      </a:rPr>
                      <m:t> </m:t>
                    </m:r>
                    <m:r>
                      <a:rPr lang="zh-CN" altLang="en-US" sz="4400" i="1">
                        <a:ln>
                          <a:solidFill>
                            <a:schemeClr val="tx1"/>
                          </a:solidFill>
                        </a:ln>
                        <a:latin typeface="Cambria Math" panose="02040503050406030204" pitchFamily="18" charset="0"/>
                      </a:rPr>
                      <m:t>个</m:t>
                    </m:r>
                    <m:r>
                      <a:rPr lang="zh-CN" altLang="en-US" sz="4400" i="1" smtClean="0">
                        <a:ln>
                          <a:solidFill>
                            <a:schemeClr val="tx1"/>
                          </a:solidFill>
                        </a:ln>
                        <a:latin typeface="Cambria Math" panose="02040503050406030204" pitchFamily="18" charset="0"/>
                      </a:rPr>
                      <m:t>服务</m:t>
                    </m:r>
                    <m:r>
                      <a:rPr lang="zh-CN" altLang="en-US" sz="4400" i="1">
                        <a:ln>
                          <a:solidFill>
                            <a:schemeClr val="tx1"/>
                          </a:solidFill>
                        </a:ln>
                        <a:latin typeface="Cambria Math" panose="02040503050406030204" pitchFamily="18" charset="0"/>
                      </a:rPr>
                      <m:t>台</m:t>
                    </m:r>
                    <m:r>
                      <a:rPr lang="zh-CN" altLang="en-US" sz="4400" i="1" smtClean="0">
                        <a:ln>
                          <a:solidFill>
                            <a:schemeClr val="tx1"/>
                          </a:solidFill>
                        </a:ln>
                        <a:latin typeface="Cambria Math" panose="02040503050406030204" pitchFamily="18" charset="0"/>
                      </a:rPr>
                      <m:t>服务</m:t>
                    </m:r>
                    <m:r>
                      <a:rPr lang="en-US" altLang="zh-CN" sz="4400" b="0" i="1" smtClean="0">
                        <a:ln>
                          <a:solidFill>
                            <a:schemeClr val="tx1"/>
                          </a:solidFill>
                        </a:ln>
                        <a:latin typeface="Cambria Math" panose="02040503050406030204" pitchFamily="18" charset="0"/>
                      </a:rPr>
                      <m:t> </m:t>
                    </m:r>
                    <m:r>
                      <a:rPr lang="zh-CN" altLang="en-US" sz="4400" i="1">
                        <a:ln>
                          <a:solidFill>
                            <a:schemeClr val="tx1"/>
                          </a:solidFill>
                        </a:ln>
                        <a:latin typeface="Cambria Math" panose="02040503050406030204" pitchFamily="18" charset="0"/>
                      </a:rPr>
                      <m:t>所</m:t>
                    </m:r>
                    <m:r>
                      <a:rPr lang="zh-CN" altLang="en-US" sz="4400" i="1" smtClean="0">
                        <a:ln>
                          <a:solidFill>
                            <a:schemeClr val="tx1"/>
                          </a:solidFill>
                        </a:ln>
                        <a:latin typeface="Cambria Math" panose="02040503050406030204" pitchFamily="18" charset="0"/>
                      </a:rPr>
                      <m:t>需</m:t>
                    </m:r>
                    <m:r>
                      <a:rPr lang="zh-CN" altLang="en-US" sz="4400" i="1">
                        <a:ln>
                          <a:solidFill>
                            <a:schemeClr val="tx1"/>
                          </a:solidFill>
                        </a:ln>
                        <a:latin typeface="Cambria Math" panose="02040503050406030204" pitchFamily="18" charset="0"/>
                      </a:rPr>
                      <m:t>的</m:t>
                    </m:r>
                    <m:r>
                      <a:rPr lang="zh-CN" altLang="en-US" sz="4400" i="1" smtClean="0">
                        <a:ln>
                          <a:solidFill>
                            <a:schemeClr val="tx1"/>
                          </a:solidFill>
                        </a:ln>
                        <a:latin typeface="Cambria Math" panose="02040503050406030204" pitchFamily="18" charset="0"/>
                      </a:rPr>
                      <m:t>总</m:t>
                    </m:r>
                    <m:r>
                      <a:rPr lang="zh-CN" altLang="en-US" sz="4400" i="1">
                        <a:ln>
                          <a:solidFill>
                            <a:schemeClr val="tx1"/>
                          </a:solidFill>
                        </a:ln>
                        <a:latin typeface="Cambria Math" panose="02040503050406030204" pitchFamily="18" charset="0"/>
                      </a:rPr>
                      <m:t>时间</m:t>
                    </m:r>
                    <m:r>
                      <a:rPr lang="en-US" altLang="zh-CN" sz="4400" b="0" i="1" smtClean="0">
                        <a:ln>
                          <a:solidFill>
                            <a:schemeClr val="tx1"/>
                          </a:solidFill>
                        </a:ln>
                        <a:latin typeface="Cambria Math" panose="02040503050406030204" pitchFamily="18" charset="0"/>
                      </a:rPr>
                      <m:t>𝑓</m:t>
                    </m:r>
                    <m:d>
                      <m:dPr>
                        <m:ctrlPr>
                          <a:rPr lang="en-US" altLang="zh-CN" sz="4400" b="0" i="1" smtClean="0">
                            <a:ln>
                              <a:solidFill>
                                <a:schemeClr val="tx1"/>
                              </a:solidFill>
                            </a:ln>
                            <a:latin typeface="Cambria Math" panose="02040503050406030204" pitchFamily="18" charset="0"/>
                          </a:rPr>
                        </m:ctrlPr>
                      </m:dPr>
                      <m:e>
                        <m:r>
                          <a:rPr lang="en-US" altLang="zh-CN" sz="4400" b="0" i="1" smtClean="0">
                            <a:ln>
                              <a:solidFill>
                                <a:schemeClr val="tx1"/>
                              </a:solidFill>
                            </a:ln>
                            <a:latin typeface="Cambria Math" panose="02040503050406030204" pitchFamily="18" charset="0"/>
                          </a:rPr>
                          <m:t>𝑥</m:t>
                        </m:r>
                      </m:e>
                    </m:d>
                    <m:r>
                      <a:rPr lang="zh-CN" altLang="en-US" sz="4400" i="1" smtClean="0">
                        <a:ln>
                          <a:solidFill>
                            <a:schemeClr val="tx1"/>
                          </a:solidFill>
                        </a:ln>
                        <a:latin typeface="Cambria Math" panose="02040503050406030204" pitchFamily="18" charset="0"/>
                      </a:rPr>
                      <m:t>就</m:t>
                    </m:r>
                    <m:r>
                      <a:rPr lang="zh-CN" altLang="en-US" sz="4400" i="1">
                        <a:ln>
                          <a:solidFill>
                            <a:schemeClr val="tx1"/>
                          </a:solidFill>
                        </a:ln>
                        <a:latin typeface="Cambria Math" panose="02040503050406030204" pitchFamily="18" charset="0"/>
                      </a:rPr>
                      <m:t>服从</m:t>
                    </m:r>
                    <m:r>
                      <a:rPr lang="en-US" altLang="zh-CN" sz="4400" b="0" i="1" smtClean="0">
                        <a:ln>
                          <a:solidFill>
                            <a:schemeClr val="tx1"/>
                          </a:solidFill>
                        </a:ln>
                        <a:latin typeface="Cambria Math" panose="02040503050406030204" pitchFamily="18" charset="0"/>
                      </a:rPr>
                      <m:t> </m:t>
                    </m:r>
                    <m:r>
                      <a:rPr lang="en-US" altLang="zh-CN" sz="4400" b="0" i="1" smtClean="0">
                        <a:ln>
                          <a:solidFill>
                            <a:schemeClr val="tx1"/>
                          </a:solidFill>
                        </a:ln>
                        <a:latin typeface="Cambria Math" panose="02040503050406030204" pitchFamily="18" charset="0"/>
                      </a:rPr>
                      <m:t>𝑟</m:t>
                    </m:r>
                    <m:r>
                      <a:rPr lang="en-US" altLang="zh-CN" sz="4400" b="0" i="1" smtClean="0">
                        <a:ln>
                          <a:solidFill>
                            <a:schemeClr val="tx1"/>
                          </a:solidFill>
                        </a:ln>
                        <a:latin typeface="Cambria Math" panose="02040503050406030204" pitchFamily="18" charset="0"/>
                      </a:rPr>
                      <m:t> </m:t>
                    </m:r>
                    <m:r>
                      <a:rPr lang="zh-CN" altLang="en-US" sz="4400" i="1">
                        <a:ln>
                          <a:solidFill>
                            <a:schemeClr val="tx1"/>
                          </a:solidFill>
                        </a:ln>
                        <a:latin typeface="Cambria Math" panose="02040503050406030204" pitchFamily="18" charset="0"/>
                      </a:rPr>
                      <m:t>阶</m:t>
                    </m:r>
                    <m:r>
                      <a:rPr lang="zh-CN" altLang="en-US" sz="4400" i="1" smtClean="0">
                        <a:ln>
                          <a:solidFill>
                            <a:schemeClr val="tx1"/>
                          </a:solidFill>
                        </a:ln>
                        <a:latin typeface="Cambria Math" panose="02040503050406030204" pitchFamily="18" charset="0"/>
                      </a:rPr>
                      <m:t>的</m:t>
                    </m:r>
                    <m:r>
                      <a:rPr lang="zh-CN" altLang="en-US" sz="4400" i="1">
                        <a:ln>
                          <a:solidFill>
                            <a:schemeClr val="tx1"/>
                          </a:solidFill>
                        </a:ln>
                        <a:latin typeface="Cambria Math" panose="02040503050406030204" pitchFamily="18" charset="0"/>
                      </a:rPr>
                      <m:t>爱</m:t>
                    </m:r>
                    <m:r>
                      <a:rPr lang="zh-CN" altLang="en-US" sz="4400" i="1" smtClean="0">
                        <a:ln>
                          <a:solidFill>
                            <a:schemeClr val="tx1"/>
                          </a:solidFill>
                        </a:ln>
                        <a:latin typeface="Cambria Math" panose="02040503050406030204" pitchFamily="18" charset="0"/>
                      </a:rPr>
                      <m:t>尔</m:t>
                    </m:r>
                    <m:r>
                      <a:rPr lang="zh-CN" altLang="en-US" sz="4400" i="1">
                        <a:ln>
                          <a:solidFill>
                            <a:schemeClr val="tx1"/>
                          </a:solidFill>
                        </a:ln>
                        <a:latin typeface="Cambria Math" panose="02040503050406030204" pitchFamily="18" charset="0"/>
                      </a:rPr>
                      <m:t>朗</m:t>
                    </m:r>
                    <m:r>
                      <a:rPr lang="zh-CN" altLang="en-US" sz="4400" i="1" smtClean="0">
                        <a:ln>
                          <a:solidFill>
                            <a:schemeClr val="tx1"/>
                          </a:solidFill>
                        </a:ln>
                        <a:latin typeface="Cambria Math" panose="02040503050406030204" pitchFamily="18" charset="0"/>
                      </a:rPr>
                      <m:t>分布</m:t>
                    </m:r>
                    <m:r>
                      <a:rPr lang="zh-CN" altLang="en-US" sz="4400" i="1">
                        <a:ln>
                          <a:solidFill>
                            <a:schemeClr val="tx1"/>
                          </a:solidFill>
                        </a:ln>
                        <a:latin typeface="Cambria Math" panose="02040503050406030204" pitchFamily="18" charset="0"/>
                      </a:rPr>
                      <m:t>。</m:t>
                    </m:r>
                  </m:oMath>
                </a14:m>
                <a:endParaRPr lang="en-US" altLang="zh-CN" sz="4400" i="1" dirty="0">
                  <a:ln>
                    <a:solidFill>
                      <a:schemeClr val="tx1"/>
                    </a:solidFill>
                  </a:ln>
                  <a:latin typeface="Cambria Math" panose="02040503050406030204" pitchFamily="18" charset="0"/>
                </a:endParaRPr>
              </a:p>
              <a:p>
                <a:pPr indent="822325">
                  <a:lnSpc>
                    <a:spcPct val="170000"/>
                  </a:lnSpc>
                  <a:spcBef>
                    <a:spcPts val="0"/>
                  </a:spcBef>
                  <a:buNone/>
                </a:pPr>
                <a14:m>
                  <m:oMathPara xmlns:m="http://schemas.openxmlformats.org/officeDocument/2006/math">
                    <m:oMathParaPr>
                      <m:jc m:val="left"/>
                    </m:oMathParaPr>
                    <m:oMath xmlns:m="http://schemas.openxmlformats.org/officeDocument/2006/math">
                      <m:m>
                        <m:mPr>
                          <m:plcHide m:val="on"/>
                          <m:mcs>
                            <m:mc>
                              <m:mcPr>
                                <m:count m:val="2"/>
                                <m:mcJc m:val="center"/>
                              </m:mcPr>
                            </m:mc>
                          </m:mcs>
                          <m:ctrlPr>
                            <a:rPr lang="zh-CN" altLang="en-US" i="1">
                              <a:ln>
                                <a:solidFill>
                                  <a:schemeClr val="tx1"/>
                                </a:solidFill>
                              </a:ln>
                              <a:solidFill>
                                <a:schemeClr val="tx1"/>
                              </a:solidFill>
                              <a:latin typeface="Cambria Math" panose="02040503050406030204" pitchFamily="18" charset="0"/>
                            </a:rPr>
                          </m:ctrlPr>
                        </m:mPr>
                        <m:mr>
                          <m:e/>
                          <m:e/>
                        </m:mr>
                      </m:m>
                      <m:r>
                        <a:rPr lang="zh-CN" altLang="en-US" i="1">
                          <a:ln>
                            <a:solidFill>
                              <a:schemeClr val="tx1"/>
                            </a:solidFill>
                          </a:ln>
                          <a:solidFill>
                            <a:schemeClr val="tx1"/>
                          </a:solidFill>
                          <a:latin typeface="Cambria Math" panose="02040503050406030204" pitchFamily="18" charset="0"/>
                        </a:rPr>
                        <m:t>𝑓</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𝑥</m:t>
                      </m:r>
                      <m:r>
                        <a:rPr lang="zh-CN" altLang="en-US" i="1">
                          <a:ln>
                            <a:solidFill>
                              <a:schemeClr val="tx1"/>
                            </a:solidFill>
                          </a:ln>
                          <a:solidFill>
                            <a:schemeClr val="tx1"/>
                          </a:solidFill>
                          <a:latin typeface="Cambria Math" panose="02040503050406030204" pitchFamily="18" charset="0"/>
                        </a:rPr>
                        <m:t>)=</m:t>
                      </m:r>
                      <m:d>
                        <m:dPr>
                          <m:begChr m:val="{"/>
                          <m:endChr m:val=""/>
                          <m:ctrlPr>
                            <a:rPr lang="zh-CN" altLang="en-US" i="1">
                              <a:ln>
                                <a:solidFill>
                                  <a:schemeClr val="tx1"/>
                                </a:solidFill>
                              </a:ln>
                              <a:solidFill>
                                <a:schemeClr val="tx1"/>
                              </a:solidFill>
                              <a:latin typeface="Cambria Math" panose="02040503050406030204" pitchFamily="18" charset="0"/>
                            </a:rPr>
                          </m:ctrlPr>
                        </m:dPr>
                        <m:e>
                          <m:m>
                            <m:mPr>
                              <m:plcHide m:val="on"/>
                              <m:mcs>
                                <m:mc>
                                  <m:mcPr>
                                    <m:count m:val="1"/>
                                    <m:mcJc m:val="center"/>
                                  </m:mcPr>
                                </m:mc>
                              </m:mcs>
                              <m:ctrlPr>
                                <a:rPr lang="zh-CN" altLang="en-US" i="1">
                                  <a:ln>
                                    <a:solidFill>
                                      <a:schemeClr val="tx1"/>
                                    </a:solidFill>
                                  </a:ln>
                                  <a:solidFill>
                                    <a:schemeClr val="tx1"/>
                                  </a:solidFill>
                                  <a:latin typeface="Cambria Math" panose="02040503050406030204" pitchFamily="18" charset="0"/>
                                </a:rPr>
                              </m:ctrlPr>
                            </m:mPr>
                            <m:mr>
                              <m:e>
                                <m:f>
                                  <m:fPr>
                                    <m:ctrlPr>
                                      <a:rPr lang="zh-CN" altLang="en-US" i="1">
                                        <a:ln>
                                          <a:solidFill>
                                            <a:schemeClr val="tx1"/>
                                          </a:solidFill>
                                        </a:ln>
                                        <a:solidFill>
                                          <a:schemeClr val="tx1"/>
                                        </a:solidFill>
                                        <a:latin typeface="Cambria Math" panose="02040503050406030204" pitchFamily="18" charset="0"/>
                                      </a:rPr>
                                    </m:ctrlPr>
                                  </m:fPr>
                                  <m:num>
                                    <m:sSup>
                                      <m:sSupPr>
                                        <m:ctrlPr>
                                          <a:rPr lang="zh-CN" altLang="en-US" i="1">
                                            <a:ln>
                                              <a:solidFill>
                                                <a:schemeClr val="tx1"/>
                                              </a:solidFill>
                                            </a:ln>
                                            <a:solidFill>
                                              <a:schemeClr val="tx1"/>
                                            </a:solidFill>
                                            <a:latin typeface="Cambria Math" panose="02040503050406030204" pitchFamily="18" charset="0"/>
                                          </a:rPr>
                                        </m:ctrlPr>
                                      </m:sSupPr>
                                      <m:e>
                                        <m:r>
                                          <a:rPr lang="zh-CN" altLang="en-US" i="1">
                                            <a:ln>
                                              <a:solidFill>
                                                <a:schemeClr val="tx1"/>
                                              </a:solidFill>
                                            </a:ln>
                                            <a:solidFill>
                                              <a:schemeClr val="tx1"/>
                                            </a:solidFill>
                                            <a:latin typeface="Cambria Math" panose="02040503050406030204" pitchFamily="18" charset="0"/>
                                          </a:rPr>
                                          <m:t>𝜆</m:t>
                                        </m:r>
                                      </m:e>
                                      <m:sup>
                                        <m:r>
                                          <a:rPr lang="zh-CN" altLang="en-US" i="1">
                                            <a:ln>
                                              <a:solidFill>
                                                <a:schemeClr val="tx1"/>
                                              </a:solidFill>
                                            </a:ln>
                                            <a:solidFill>
                                              <a:schemeClr val="tx1"/>
                                            </a:solidFill>
                                            <a:latin typeface="Cambria Math" panose="02040503050406030204" pitchFamily="18" charset="0"/>
                                          </a:rPr>
                                          <m:t>𝑟</m:t>
                                        </m:r>
                                      </m:sup>
                                    </m:sSup>
                                  </m:num>
                                  <m:den>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𝑟</m:t>
                                    </m:r>
                                    <m:r>
                                      <a:rPr lang="zh-CN" altLang="en-US" i="1">
                                        <a:ln>
                                          <a:solidFill>
                                            <a:schemeClr val="tx1"/>
                                          </a:solidFill>
                                        </a:ln>
                                        <a:solidFill>
                                          <a:schemeClr val="tx1"/>
                                        </a:solidFill>
                                        <a:latin typeface="Cambria Math" panose="02040503050406030204" pitchFamily="18" charset="0"/>
                                      </a:rPr>
                                      <m:t>−1)!</m:t>
                                    </m:r>
                                  </m:den>
                                </m:f>
                                <m:sSup>
                                  <m:sSupPr>
                                    <m:ctrlPr>
                                      <a:rPr lang="zh-CN" altLang="en-US" i="1">
                                        <a:ln>
                                          <a:solidFill>
                                            <a:schemeClr val="tx1"/>
                                          </a:solidFill>
                                        </a:ln>
                                        <a:solidFill>
                                          <a:schemeClr val="tx1"/>
                                        </a:solidFill>
                                        <a:latin typeface="Cambria Math" panose="02040503050406030204" pitchFamily="18" charset="0"/>
                                      </a:rPr>
                                    </m:ctrlPr>
                                  </m:sSupPr>
                                  <m:e>
                                    <m:r>
                                      <a:rPr lang="zh-CN" altLang="en-US" i="1">
                                        <a:ln>
                                          <a:solidFill>
                                            <a:schemeClr val="tx1"/>
                                          </a:solidFill>
                                        </a:ln>
                                        <a:solidFill>
                                          <a:schemeClr val="tx1"/>
                                        </a:solidFill>
                                        <a:latin typeface="Cambria Math" panose="02040503050406030204" pitchFamily="18" charset="0"/>
                                      </a:rPr>
                                      <m:t>𝑥</m:t>
                                    </m:r>
                                  </m:e>
                                  <m:sup>
                                    <m:r>
                                      <a:rPr lang="zh-CN" altLang="en-US" i="1">
                                        <a:ln>
                                          <a:solidFill>
                                            <a:schemeClr val="tx1"/>
                                          </a:solidFill>
                                        </a:ln>
                                        <a:solidFill>
                                          <a:schemeClr val="tx1"/>
                                        </a:solidFill>
                                        <a:latin typeface="Cambria Math" panose="02040503050406030204" pitchFamily="18" charset="0"/>
                                      </a:rPr>
                                      <m:t>𝑟</m:t>
                                    </m:r>
                                    <m:r>
                                      <a:rPr lang="zh-CN" altLang="en-US" i="1">
                                        <a:ln>
                                          <a:solidFill>
                                            <a:schemeClr val="tx1"/>
                                          </a:solidFill>
                                        </a:ln>
                                        <a:solidFill>
                                          <a:schemeClr val="tx1"/>
                                        </a:solidFill>
                                        <a:latin typeface="Cambria Math" panose="02040503050406030204" pitchFamily="18" charset="0"/>
                                      </a:rPr>
                                      <m:t>−1</m:t>
                                    </m:r>
                                  </m:sup>
                                </m:sSup>
                                <m:sSup>
                                  <m:sSupPr>
                                    <m:ctrlPr>
                                      <a:rPr lang="zh-CN" altLang="en-US" i="1">
                                        <a:ln>
                                          <a:solidFill>
                                            <a:schemeClr val="tx1"/>
                                          </a:solidFill>
                                        </a:ln>
                                        <a:solidFill>
                                          <a:schemeClr val="tx1"/>
                                        </a:solidFill>
                                        <a:latin typeface="Cambria Math" panose="02040503050406030204" pitchFamily="18" charset="0"/>
                                      </a:rPr>
                                    </m:ctrlPr>
                                  </m:sSupPr>
                                  <m:e>
                                    <m:r>
                                      <a:rPr lang="zh-CN" altLang="en-US" i="1">
                                        <a:ln>
                                          <a:solidFill>
                                            <a:schemeClr val="tx1"/>
                                          </a:solidFill>
                                        </a:ln>
                                        <a:solidFill>
                                          <a:schemeClr val="tx1"/>
                                        </a:solidFill>
                                        <a:latin typeface="Cambria Math" panose="02040503050406030204" pitchFamily="18" charset="0"/>
                                      </a:rPr>
                                      <m:t>𝑒</m:t>
                                    </m:r>
                                  </m:e>
                                  <m:sup>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𝜆</m:t>
                                    </m:r>
                                    <m:r>
                                      <a:rPr lang="zh-CN" altLang="en-US" i="1">
                                        <a:ln>
                                          <a:solidFill>
                                            <a:schemeClr val="tx1"/>
                                          </a:solidFill>
                                        </a:ln>
                                        <a:solidFill>
                                          <a:schemeClr val="tx1"/>
                                        </a:solidFill>
                                        <a:latin typeface="Cambria Math" panose="02040503050406030204" pitchFamily="18" charset="0"/>
                                      </a:rPr>
                                      <m:t>𝑥</m:t>
                                    </m:r>
                                  </m:sup>
                                </m:sSup>
                                <m:m>
                                  <m:mPr>
                                    <m:plcHide m:val="on"/>
                                    <m:mcs>
                                      <m:mc>
                                        <m:mcPr>
                                          <m:count m:val="2"/>
                                          <m:mcJc m:val="center"/>
                                        </m:mcPr>
                                      </m:mc>
                                    </m:mcs>
                                    <m:ctrlPr>
                                      <a:rPr lang="zh-CN" altLang="en-US" i="1">
                                        <a:ln>
                                          <a:solidFill>
                                            <a:schemeClr val="tx1"/>
                                          </a:solidFill>
                                        </a:ln>
                                        <a:solidFill>
                                          <a:schemeClr val="tx1"/>
                                        </a:solidFill>
                                        <a:latin typeface="Cambria Math" panose="02040503050406030204" pitchFamily="18" charset="0"/>
                                      </a:rPr>
                                    </m:ctrlPr>
                                  </m:mPr>
                                  <m:mr>
                                    <m:e/>
                                    <m:e>
                                      <m:r>
                                        <a:rPr lang="zh-CN" altLang="en-US" i="1">
                                          <a:ln>
                                            <a:solidFill>
                                              <a:schemeClr val="tx1"/>
                                            </a:solidFill>
                                          </a:ln>
                                          <a:solidFill>
                                            <a:schemeClr val="tx1"/>
                                          </a:solidFill>
                                          <a:latin typeface="Cambria Math" panose="02040503050406030204" pitchFamily="18" charset="0"/>
                                        </a:rPr>
                                        <m:t>𝑥</m:t>
                                      </m:r>
                                      <m:r>
                                        <a:rPr lang="zh-CN" altLang="en-US" i="1">
                                          <a:ln>
                                            <a:solidFill>
                                              <a:schemeClr val="tx1"/>
                                            </a:solidFill>
                                          </a:ln>
                                          <a:solidFill>
                                            <a:schemeClr val="tx1"/>
                                          </a:solidFill>
                                          <a:latin typeface="Cambria Math" panose="02040503050406030204" pitchFamily="18" charset="0"/>
                                        </a:rPr>
                                        <m:t>&gt;0</m:t>
                                      </m:r>
                                    </m:e>
                                  </m:mr>
                                </m:m>
                              </m:e>
                            </m:mr>
                            <m:mr>
                              <m:e>
                                <m:m>
                                  <m:mPr>
                                    <m:plcHide m:val="on"/>
                                    <m:mcs>
                                      <m:mc>
                                        <m:mcPr>
                                          <m:count m:val="3"/>
                                          <m:mcJc m:val="center"/>
                                        </m:mcPr>
                                      </m:mc>
                                    </m:mcs>
                                    <m:ctrlPr>
                                      <a:rPr lang="zh-CN" altLang="en-US" i="1">
                                        <a:ln>
                                          <a:solidFill>
                                            <a:schemeClr val="tx1"/>
                                          </a:solidFill>
                                        </a:ln>
                                        <a:solidFill>
                                          <a:schemeClr val="tx1"/>
                                        </a:solidFill>
                                        <a:latin typeface="Cambria Math" panose="02040503050406030204" pitchFamily="18" charset="0"/>
                                      </a:rPr>
                                    </m:ctrlPr>
                                  </m:mPr>
                                  <m:mr>
                                    <m:e>
                                      <m:r>
                                        <a:rPr lang="zh-CN" altLang="en-US" i="1">
                                          <a:ln>
                                            <a:solidFill>
                                              <a:schemeClr val="tx1"/>
                                            </a:solidFill>
                                          </a:ln>
                                          <a:solidFill>
                                            <a:schemeClr val="tx1"/>
                                          </a:solidFill>
                                          <a:latin typeface="Cambria Math" panose="02040503050406030204" pitchFamily="18" charset="0"/>
                                        </a:rPr>
                                        <m:t>0</m:t>
                                      </m:r>
                                    </m:e>
                                    <m:e>
                                      <m:m>
                                        <m:mPr>
                                          <m:plcHide m:val="on"/>
                                          <m:mcs>
                                            <m:mc>
                                              <m:mcPr>
                                                <m:count m:val="3"/>
                                                <m:mcJc m:val="center"/>
                                              </m:mcPr>
                                            </m:mc>
                                          </m:mcs>
                                          <m:ctrlPr>
                                            <a:rPr lang="zh-CN" altLang="en-US" i="1">
                                              <a:ln>
                                                <a:solidFill>
                                                  <a:schemeClr val="tx1"/>
                                                </a:solidFill>
                                              </a:ln>
                                              <a:solidFill>
                                                <a:schemeClr val="tx1"/>
                                              </a:solidFill>
                                              <a:latin typeface="Cambria Math" panose="02040503050406030204" pitchFamily="18" charset="0"/>
                                            </a:rPr>
                                          </m:ctrlPr>
                                        </m:mPr>
                                        <m:mr>
                                          <m:e/>
                                          <m:e/>
                                          <m:e>
                                            <m:m>
                                              <m:mPr>
                                                <m:plcHide m:val="on"/>
                                                <m:mcs>
                                                  <m:mc>
                                                    <m:mcPr>
                                                      <m:count m:val="2"/>
                                                      <m:mcJc m:val="center"/>
                                                    </m:mcPr>
                                                  </m:mc>
                                                </m:mcs>
                                                <m:ctrlPr>
                                                  <a:rPr lang="zh-CN" altLang="en-US" i="1">
                                                    <a:ln>
                                                      <a:solidFill>
                                                        <a:schemeClr val="tx1"/>
                                                      </a:solidFill>
                                                    </a:ln>
                                                    <a:solidFill>
                                                      <a:schemeClr val="tx1"/>
                                                    </a:solidFill>
                                                    <a:latin typeface="Cambria Math" panose="02040503050406030204" pitchFamily="18" charset="0"/>
                                                  </a:rPr>
                                                </m:ctrlPr>
                                              </m:mPr>
                                              <m:mr>
                                                <m:e/>
                                                <m:e/>
                                              </m:mr>
                                            </m:m>
                                          </m:e>
                                        </m:mr>
                                      </m:m>
                                    </m:e>
                                    <m:e>
                                      <m:r>
                                        <a:rPr lang="zh-CN" altLang="en-US" i="1">
                                          <a:ln>
                                            <a:solidFill>
                                              <a:schemeClr val="tx1"/>
                                            </a:solidFill>
                                          </a:ln>
                                          <a:solidFill>
                                            <a:schemeClr val="tx1"/>
                                          </a:solidFill>
                                          <a:latin typeface="Cambria Math" panose="02040503050406030204" pitchFamily="18" charset="0"/>
                                        </a:rPr>
                                        <m:t>𝑥</m:t>
                                      </m:r>
                                      <m:r>
                                        <a:rPr lang="zh-CN" altLang="en-US" i="1">
                                          <a:ln>
                                            <a:solidFill>
                                              <a:schemeClr val="tx1"/>
                                            </a:solidFill>
                                          </a:ln>
                                          <a:solidFill>
                                            <a:schemeClr val="tx1"/>
                                          </a:solidFill>
                                          <a:latin typeface="Cambria Math" panose="02040503050406030204" pitchFamily="18" charset="0"/>
                                        </a:rPr>
                                        <m:t>≤0</m:t>
                                      </m:r>
                                    </m:e>
                                  </m:mr>
                                </m:m>
                              </m:e>
                            </m:mr>
                          </m:m>
                        </m:e>
                      </m:d>
                    </m:oMath>
                  </m:oMathPara>
                </a14:m>
                <a:br>
                  <a:rPr lang="zh-CN" altLang="en-US" i="1" dirty="0">
                    <a:ln>
                      <a:solidFill>
                        <a:schemeClr val="tx1"/>
                      </a:solidFill>
                    </a:ln>
                    <a:solidFill>
                      <a:schemeClr val="tx1"/>
                    </a:solidFill>
                    <a:latin typeface="Times New Roman" panose="02020603050405020304" pitchFamily="18" charset="0"/>
                    <a:cs typeface="Times New Roman" panose="02020603050405020304" pitchFamily="18" charset="0"/>
                  </a:rPr>
                </a:br>
                <a:endParaRPr lang="en-US" altLang="zh-CN" i="1" dirty="0">
                  <a:ln>
                    <a:solidFill>
                      <a:schemeClr val="tx1"/>
                    </a:solidFill>
                  </a:ln>
                  <a:solidFill>
                    <a:schemeClr val="tx1"/>
                  </a:solidFill>
                  <a:latin typeface="Times New Roman" panose="02020603050405020304" pitchFamily="18" charset="0"/>
                  <a:cs typeface="Times New Roman" panose="02020603050405020304" pitchFamily="18" charset="0"/>
                </a:endParaRPr>
              </a:p>
              <a:p>
                <a:pPr>
                  <a:lnSpc>
                    <a:spcPct val="170000"/>
                  </a:lnSpc>
                  <a:spcBef>
                    <a:spcPts val="0"/>
                  </a:spcBef>
                  <a:buNone/>
                </a:pPr>
                <a:r>
                  <a:rPr lang="en-US" altLang="zh-CN" i="1" dirty="0">
                    <a:ln>
                      <a:solidFill>
                        <a:schemeClr val="tx1"/>
                      </a:solidFill>
                    </a:ln>
                    <a:latin typeface="Times New Roman" panose="02020603050405020304" pitchFamily="18" charset="0"/>
                    <a:cs typeface="Times New Roman" panose="02020603050405020304" pitchFamily="18" charset="0"/>
                  </a:rPr>
                  <a:t> </a:t>
                </a:r>
              </a:p>
            </p:txBody>
          </p:sp>
        </mc:Choice>
        <mc:Fallback xmlns="">
          <p:sp>
            <p:nvSpPr>
              <p:cNvPr id="74761" name="Object 9">
                <a:extLst>
                  <a:ext uri="{FF2B5EF4-FFF2-40B4-BE49-F238E27FC236}">
                    <a16:creationId xmlns:a16="http://schemas.microsoft.com/office/drawing/2014/main" id="{70649DC2-85C2-47AB-B34D-AAA6CAD4847E}"/>
                  </a:ext>
                </a:extLst>
              </p:cNvPr>
              <p:cNvSpPr txBox="1">
                <a:spLocks noGrp="1" noRot="1" noChangeAspect="1" noMove="1" noResize="1" noEditPoints="1" noAdjustHandles="1" noChangeArrowheads="1" noChangeShapeType="1" noTextEdit="1"/>
              </p:cNvSpPr>
              <p:nvPr>
                <p:ph idx="4294967295"/>
              </p:nvPr>
            </p:nvSpPr>
            <p:spPr bwMode="auto">
              <a:xfrm>
                <a:off x="0" y="1616359"/>
                <a:ext cx="8964488" cy="4464496"/>
              </a:xfrm>
              <a:prstGeom prst="rect">
                <a:avLst/>
              </a:prstGeom>
              <a:blipFill>
                <a:blip r:embed="rId2"/>
                <a:stretch>
                  <a:fillRect/>
                </a:stretch>
              </a:blipFill>
              <a:ln>
                <a:noFill/>
              </a:ln>
              <a:effec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4755"/>
                                        </p:tgtEl>
                                        <p:attrNameLst>
                                          <p:attrName>style.visibility</p:attrName>
                                        </p:attrNameLst>
                                      </p:cBhvr>
                                      <p:to>
                                        <p:strVal val="visible"/>
                                      </p:to>
                                    </p:set>
                                    <p:anim calcmode="lin" valueType="num">
                                      <p:cBhvr additive="base">
                                        <p:cTn id="7" dur="500" fill="hold"/>
                                        <p:tgtEl>
                                          <p:spTgt spid="74755"/>
                                        </p:tgtEl>
                                        <p:attrNameLst>
                                          <p:attrName>ppt_x</p:attrName>
                                        </p:attrNameLst>
                                      </p:cBhvr>
                                      <p:tavLst>
                                        <p:tav tm="0">
                                          <p:val>
                                            <p:strVal val="1+#ppt_w/2"/>
                                          </p:val>
                                        </p:tav>
                                        <p:tav tm="100000">
                                          <p:val>
                                            <p:strVal val="#ppt_x"/>
                                          </p:val>
                                        </p:tav>
                                      </p:tavLst>
                                    </p:anim>
                                    <p:anim calcmode="lin" valueType="num">
                                      <p:cBhvr additive="base">
                                        <p:cTn id="8" dur="500" fill="hold"/>
                                        <p:tgtEl>
                                          <p:spTgt spid="747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C405FDD4-E192-456E-A9C7-EEBC7E439A22}"/>
              </a:ext>
            </a:extLst>
          </p:cNvPr>
          <p:cNvSpPr txBox="1">
            <a:spLocks noChangeArrowheads="1"/>
          </p:cNvSpPr>
          <p:nvPr/>
        </p:nvSpPr>
        <p:spPr bwMode="auto">
          <a:xfrm>
            <a:off x="27511" y="260648"/>
            <a:ext cx="8064500" cy="62671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sz="3200">
                <a:latin typeface="Times New Roman" panose="02020603050405020304" pitchFamily="18" charset="0"/>
              </a:rPr>
              <a:t>3)  </a:t>
            </a:r>
            <a:r>
              <a:rPr kumimoji="1" lang="en-US" altLang="zh-CN" sz="3200">
                <a:latin typeface="Times New Roman" panose="02020603050405020304" pitchFamily="18" charset="0"/>
                <a:sym typeface="Symbol" panose="05050102010706020507" pitchFamily="18" charset="2"/>
              </a:rPr>
              <a:t></a:t>
            </a:r>
            <a:r>
              <a:rPr kumimoji="1" lang="en-US" altLang="zh-CN" sz="3200" baseline="30000">
                <a:latin typeface="Times New Roman" panose="02020603050405020304" pitchFamily="18" charset="0"/>
                <a:sym typeface="Symbol" panose="05050102010706020507" pitchFamily="18" charset="2"/>
              </a:rPr>
              <a:t>2</a:t>
            </a:r>
            <a:r>
              <a:rPr kumimoji="1" lang="en-US" altLang="zh-CN" sz="3200">
                <a:latin typeface="Times New Roman" panose="02020603050405020304" pitchFamily="18" charset="0"/>
                <a:sym typeface="Symbol" panose="05050102010706020507" pitchFamily="18" charset="2"/>
              </a:rPr>
              <a:t>-</a:t>
            </a:r>
            <a:r>
              <a:rPr kumimoji="1" lang="zh-CN" altLang="en-US" sz="3200">
                <a:latin typeface="Times New Roman" panose="02020603050405020304" pitchFamily="18" charset="0"/>
              </a:rPr>
              <a:t>分布。</a:t>
            </a:r>
            <a:endParaRPr kumimoji="1" lang="zh-CN" altLang="en-US">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5781" name="Object 5">
                <a:extLst>
                  <a:ext uri="{FF2B5EF4-FFF2-40B4-BE49-F238E27FC236}">
                    <a16:creationId xmlns:a16="http://schemas.microsoft.com/office/drawing/2014/main" id="{51DCBD15-4055-496E-9227-1ACB0377FEA0}"/>
                  </a:ext>
                </a:extLst>
              </p:cNvPr>
              <p:cNvSpPr txBox="1">
                <a:spLocks noGrp="1"/>
              </p:cNvSpPr>
              <p:nvPr>
                <p:ph idx="4294967295"/>
              </p:nvPr>
            </p:nvSpPr>
            <p:spPr bwMode="auto">
              <a:xfrm>
                <a:off x="431540" y="1052736"/>
                <a:ext cx="8280920" cy="4418012"/>
              </a:xfrm>
              <a:prstGeom prst="rect">
                <a:avLst/>
              </a:prstGeom>
              <a:noFill/>
              <a:ln>
                <a:noFill/>
              </a:ln>
              <a:effectLst/>
            </p:spPr>
            <p:txBody>
              <a:bodyPr>
                <a:noAutofit/>
              </a:bodyPr>
              <a:lstStyle/>
              <a:p>
                <a:pPr>
                  <a:lnSpc>
                    <a:spcPct val="150000"/>
                  </a:lnSpc>
                  <a:spcBef>
                    <a:spcPts val="0"/>
                  </a:spcBef>
                  <a:buNone/>
                </a:pPr>
                <a14:m>
                  <m:oMathPara xmlns:m="http://schemas.openxmlformats.org/officeDocument/2006/math">
                    <m:oMathParaPr>
                      <m:jc m:val="left"/>
                    </m:oMathParaPr>
                    <m:oMath xmlns:m="http://schemas.openxmlformats.org/officeDocument/2006/math">
                      <m:m>
                        <m:mPr>
                          <m:plcHide m:val="on"/>
                          <m:mcs>
                            <m:mc>
                              <m:mcPr>
                                <m:count m:val="2"/>
                                <m:mcJc m:val="center"/>
                              </m:mcPr>
                            </m:mc>
                          </m:mcs>
                          <m:ctrlPr>
                            <a:rPr lang="zh-CN" altLang="en-US" sz="2400" i="1" smtClean="0">
                              <a:ln>
                                <a:solidFill>
                                  <a:schemeClr val="tx1"/>
                                </a:solidFill>
                              </a:ln>
                              <a:solidFill>
                                <a:schemeClr val="tx1"/>
                              </a:solidFill>
                              <a:latin typeface="Cambria Math" panose="02040503050406030204" pitchFamily="18" charset="0"/>
                            </a:rPr>
                          </m:ctrlPr>
                        </m:mPr>
                        <m:mr>
                          <m:e/>
                          <m:e/>
                        </m:mr>
                      </m:m>
                      <m:r>
                        <a:rPr lang="zh-CN" altLang="en-US" sz="2400" i="1">
                          <a:ln>
                            <a:solidFill>
                              <a:schemeClr val="tx1"/>
                            </a:solidFill>
                          </a:ln>
                          <a:solidFill>
                            <a:schemeClr val="tx1"/>
                          </a:solidFill>
                          <a:latin typeface="Cambria Math" panose="02040503050406030204" pitchFamily="18" charset="0"/>
                        </a:rPr>
                        <m:t>当</m:t>
                      </m:r>
                      <m:r>
                        <a:rPr lang="zh-CN" altLang="en-US" sz="2400" i="1">
                          <a:ln>
                            <a:solidFill>
                              <a:schemeClr val="tx1"/>
                            </a:solidFill>
                          </a:ln>
                          <a:solidFill>
                            <a:schemeClr val="tx1"/>
                          </a:solidFill>
                          <a:latin typeface="Cambria Math" panose="02040503050406030204" pitchFamily="18" charset="0"/>
                        </a:rPr>
                        <m:t>𝑟</m:t>
                      </m:r>
                      <m:r>
                        <a:rPr lang="zh-CN" altLang="en-US" sz="2400" i="1">
                          <a:ln>
                            <a:solidFill>
                              <a:schemeClr val="tx1"/>
                            </a:solidFill>
                          </a:ln>
                          <a:solidFill>
                            <a:schemeClr val="tx1"/>
                          </a:solidFill>
                          <a:latin typeface="Cambria Math" panose="02040503050406030204" pitchFamily="18" charset="0"/>
                        </a:rPr>
                        <m:t>=</m:t>
                      </m:r>
                      <m:f>
                        <m:fPr>
                          <m:ctrlPr>
                            <a:rPr lang="zh-CN" altLang="en-US" sz="2400" i="1">
                              <a:ln>
                                <a:solidFill>
                                  <a:schemeClr val="tx1"/>
                                </a:solidFill>
                              </a:ln>
                              <a:solidFill>
                                <a:schemeClr val="tx1"/>
                              </a:solidFill>
                              <a:latin typeface="Cambria Math" panose="02040503050406030204" pitchFamily="18" charset="0"/>
                            </a:rPr>
                          </m:ctrlPr>
                        </m:fPr>
                        <m:num>
                          <m:r>
                            <a:rPr lang="zh-CN" altLang="en-US" sz="2400" i="1">
                              <a:ln>
                                <a:solidFill>
                                  <a:schemeClr val="tx1"/>
                                </a:solidFill>
                              </a:ln>
                              <a:solidFill>
                                <a:schemeClr val="tx1"/>
                              </a:solidFill>
                              <a:latin typeface="Cambria Math" panose="02040503050406030204" pitchFamily="18" charset="0"/>
                            </a:rPr>
                            <m:t>𝑛</m:t>
                          </m:r>
                        </m:num>
                        <m:den>
                          <m:r>
                            <a:rPr lang="zh-CN" altLang="en-US" sz="2400" i="1">
                              <a:ln>
                                <a:solidFill>
                                  <a:schemeClr val="tx1"/>
                                </a:solidFill>
                              </a:ln>
                              <a:solidFill>
                                <a:schemeClr val="tx1"/>
                              </a:solidFill>
                              <a:latin typeface="Cambria Math" panose="02040503050406030204" pitchFamily="18" charset="0"/>
                            </a:rPr>
                            <m:t>2</m:t>
                          </m:r>
                        </m:den>
                      </m:f>
                      <m:d>
                        <m:dPr>
                          <m:ctrlPr>
                            <a:rPr lang="zh-CN" altLang="en-US" sz="2400" i="1">
                              <a:ln>
                                <a:solidFill>
                                  <a:schemeClr val="tx1"/>
                                </a:solidFill>
                              </a:ln>
                              <a:solidFill>
                                <a:schemeClr val="tx1"/>
                              </a:solidFill>
                              <a:latin typeface="Cambria Math" panose="02040503050406030204" pitchFamily="18" charset="0"/>
                            </a:rPr>
                          </m:ctrlPr>
                        </m:dPr>
                        <m:e>
                          <m:r>
                            <a:rPr lang="zh-CN" altLang="en-US" sz="2400" i="1">
                              <a:ln>
                                <a:solidFill>
                                  <a:schemeClr val="tx1"/>
                                </a:solidFill>
                              </a:ln>
                              <a:solidFill>
                                <a:schemeClr val="tx1"/>
                              </a:solidFill>
                              <a:latin typeface="Cambria Math" panose="02040503050406030204" pitchFamily="18" charset="0"/>
                            </a:rPr>
                            <m:t>𝑛</m:t>
                          </m:r>
                          <m:r>
                            <a:rPr lang="zh-CN" altLang="en-US" sz="2400" i="1">
                              <a:ln>
                                <a:solidFill>
                                  <a:schemeClr val="tx1"/>
                                </a:solidFill>
                              </a:ln>
                              <a:solidFill>
                                <a:schemeClr val="tx1"/>
                              </a:solidFill>
                              <a:latin typeface="Cambria Math" panose="02040503050406030204" pitchFamily="18" charset="0"/>
                            </a:rPr>
                            <m:t>为正整数</m:t>
                          </m:r>
                        </m:e>
                      </m:d>
                      <m:r>
                        <a:rPr lang="zh-CN" altLang="en-US" sz="2400" i="1">
                          <a:ln>
                            <a:solidFill>
                              <a:schemeClr val="tx1"/>
                            </a:solidFill>
                          </a:ln>
                          <a:solidFill>
                            <a:schemeClr val="tx1"/>
                          </a:solidFill>
                          <a:latin typeface="Cambria Math" panose="02040503050406030204" pitchFamily="18" charset="0"/>
                        </a:rPr>
                        <m:t>，</m:t>
                      </m:r>
                      <m:r>
                        <a:rPr lang="zh-CN" altLang="en-US" sz="2400" i="1">
                          <a:ln>
                            <a:solidFill>
                              <a:schemeClr val="tx1"/>
                            </a:solidFill>
                          </a:ln>
                          <a:solidFill>
                            <a:schemeClr val="tx1"/>
                          </a:solidFill>
                          <a:latin typeface="Cambria Math" panose="02040503050406030204" pitchFamily="18" charset="0"/>
                        </a:rPr>
                        <m:t>𝜆</m:t>
                      </m:r>
                      <m:r>
                        <a:rPr lang="zh-CN" altLang="en-US" sz="2400" i="1">
                          <a:ln>
                            <a:solidFill>
                              <a:schemeClr val="tx1"/>
                            </a:solidFill>
                          </a:ln>
                          <a:solidFill>
                            <a:schemeClr val="tx1"/>
                          </a:solidFill>
                          <a:latin typeface="Cambria Math" panose="02040503050406030204" pitchFamily="18" charset="0"/>
                        </a:rPr>
                        <m:t>=</m:t>
                      </m:r>
                      <m:f>
                        <m:fPr>
                          <m:ctrlPr>
                            <a:rPr lang="zh-CN" altLang="en-US" sz="2400" i="1">
                              <a:ln>
                                <a:solidFill>
                                  <a:schemeClr val="tx1"/>
                                </a:solidFill>
                              </a:ln>
                              <a:solidFill>
                                <a:schemeClr val="tx1"/>
                              </a:solidFill>
                              <a:latin typeface="Cambria Math" panose="02040503050406030204" pitchFamily="18" charset="0"/>
                            </a:rPr>
                          </m:ctrlPr>
                        </m:fPr>
                        <m:num>
                          <m:r>
                            <a:rPr lang="zh-CN" altLang="en-US" sz="2400" i="1">
                              <a:ln>
                                <a:solidFill>
                                  <a:schemeClr val="tx1"/>
                                </a:solidFill>
                              </a:ln>
                              <a:solidFill>
                                <a:schemeClr val="tx1"/>
                              </a:solidFill>
                              <a:latin typeface="Cambria Math" panose="02040503050406030204" pitchFamily="18" charset="0"/>
                            </a:rPr>
                            <m:t>1</m:t>
                          </m:r>
                        </m:num>
                        <m:den>
                          <m:r>
                            <a:rPr lang="zh-CN" altLang="en-US" sz="2400" i="1">
                              <a:ln>
                                <a:solidFill>
                                  <a:schemeClr val="tx1"/>
                                </a:solidFill>
                              </a:ln>
                              <a:solidFill>
                                <a:schemeClr val="tx1"/>
                              </a:solidFill>
                              <a:latin typeface="Cambria Math" panose="02040503050406030204" pitchFamily="18" charset="0"/>
                            </a:rPr>
                            <m:t>2</m:t>
                          </m:r>
                        </m:den>
                      </m:f>
                      <m:r>
                        <a:rPr lang="zh-CN" altLang="en-US" sz="2400" i="1">
                          <a:ln>
                            <a:solidFill>
                              <a:schemeClr val="tx1"/>
                            </a:solidFill>
                          </a:ln>
                          <a:solidFill>
                            <a:schemeClr val="tx1"/>
                          </a:solidFill>
                          <a:latin typeface="Cambria Math" panose="02040503050406030204" pitchFamily="18" charset="0"/>
                        </a:rPr>
                        <m:t>时，此时</m:t>
                      </m:r>
                      <m:r>
                        <a:rPr lang="en-US" altLang="zh-CN" sz="2400" b="0" i="1" smtClean="0">
                          <a:ln>
                            <a:solidFill>
                              <a:schemeClr val="tx1"/>
                            </a:solidFill>
                          </a:ln>
                          <a:solidFill>
                            <a:schemeClr val="tx1"/>
                          </a:solidFill>
                          <a:latin typeface="Cambria Math" panose="02040503050406030204" pitchFamily="18" charset="0"/>
                        </a:rPr>
                        <m:t>𝐺𝑎𝑚𝑚𝑎</m:t>
                      </m:r>
                      <m:r>
                        <a:rPr lang="zh-CN" altLang="en-US" sz="2400" i="1">
                          <a:ln>
                            <a:solidFill>
                              <a:schemeClr val="tx1"/>
                            </a:solidFill>
                          </a:ln>
                          <a:solidFill>
                            <a:schemeClr val="tx1"/>
                          </a:solidFill>
                          <a:latin typeface="Cambria Math" panose="02040503050406030204" pitchFamily="18" charset="0"/>
                        </a:rPr>
                        <m:t>−</m:t>
                      </m:r>
                      <m:r>
                        <a:rPr lang="zh-CN" altLang="en-US" sz="2400" i="1">
                          <a:ln>
                            <a:solidFill>
                              <a:schemeClr val="tx1"/>
                            </a:solidFill>
                          </a:ln>
                          <a:solidFill>
                            <a:schemeClr val="tx1"/>
                          </a:solidFill>
                          <a:latin typeface="Cambria Math" panose="02040503050406030204" pitchFamily="18" charset="0"/>
                        </a:rPr>
                        <m:t>分布的</m:t>
                      </m:r>
                    </m:oMath>
                  </m:oMathPara>
                </a14:m>
                <a:endParaRPr lang="en-US" altLang="zh-CN" sz="2400" i="1" dirty="0">
                  <a:ln>
                    <a:solidFill>
                      <a:schemeClr val="tx1"/>
                    </a:solidFill>
                  </a:ln>
                  <a:solidFill>
                    <a:schemeClr val="tx1"/>
                  </a:solidFill>
                  <a:latin typeface="Cambria Math" panose="02040503050406030204" pitchFamily="18" charset="0"/>
                </a:endParaRPr>
              </a:p>
              <a:p>
                <a:pPr>
                  <a:lnSpc>
                    <a:spcPct val="150000"/>
                  </a:lnSpc>
                  <a:spcBef>
                    <a:spcPts val="0"/>
                  </a:spcBef>
                  <a:buNone/>
                </a:pPr>
                <a14:m>
                  <m:oMathPara xmlns:m="http://schemas.openxmlformats.org/officeDocument/2006/math">
                    <m:oMathParaPr>
                      <m:jc m:val="left"/>
                    </m:oMathParaPr>
                    <m:oMath xmlns:m="http://schemas.openxmlformats.org/officeDocument/2006/math">
                      <m:r>
                        <a:rPr lang="zh-CN" altLang="en-US" sz="2400" i="1">
                          <a:ln>
                            <a:solidFill>
                              <a:schemeClr val="tx1"/>
                            </a:solidFill>
                          </a:ln>
                          <a:solidFill>
                            <a:schemeClr val="tx1"/>
                          </a:solidFill>
                          <a:latin typeface="Cambria Math" panose="02040503050406030204" pitchFamily="18" charset="0"/>
                        </a:rPr>
                        <m:t>概率密度函数为</m:t>
                      </m:r>
                      <m:r>
                        <a:rPr lang="zh-CN" altLang="en-US" sz="2400" i="1">
                          <a:ln>
                            <a:solidFill>
                              <a:schemeClr val="tx1"/>
                            </a:solidFill>
                          </a:ln>
                          <a:latin typeface="Cambria Math" panose="02040503050406030204" pitchFamily="18" charset="0"/>
                        </a:rPr>
                        <m:t>：</m:t>
                      </m:r>
                    </m:oMath>
                    <m:oMath xmlns:m="http://schemas.openxmlformats.org/officeDocument/2006/math">
                      <m:m>
                        <m:mPr>
                          <m:plcHide m:val="on"/>
                          <m:mcs>
                            <m:mc>
                              <m:mcPr>
                                <m:count m:val="2"/>
                                <m:mcJc m:val="center"/>
                              </m:mcPr>
                            </m:mc>
                          </m:mcs>
                          <m:ctrlPr>
                            <a:rPr lang="zh-CN" altLang="en-US" sz="2400" i="1">
                              <a:ln>
                                <a:solidFill>
                                  <a:schemeClr val="tx1"/>
                                </a:solidFill>
                              </a:ln>
                              <a:solidFill>
                                <a:schemeClr val="tx1"/>
                              </a:solidFill>
                              <a:latin typeface="Cambria Math" panose="02040503050406030204" pitchFamily="18" charset="0"/>
                            </a:rPr>
                          </m:ctrlPr>
                        </m:mPr>
                        <m:mr>
                          <m:e/>
                          <m:e/>
                        </m:mr>
                      </m:m>
                      <m:r>
                        <a:rPr lang="zh-CN" altLang="en-US" sz="2400" i="1">
                          <a:ln>
                            <a:solidFill>
                              <a:schemeClr val="tx1"/>
                            </a:solidFill>
                          </a:ln>
                          <a:solidFill>
                            <a:schemeClr val="tx1"/>
                          </a:solidFill>
                          <a:latin typeface="Cambria Math" panose="02040503050406030204" pitchFamily="18" charset="0"/>
                        </a:rPr>
                        <m:t>𝑓</m:t>
                      </m:r>
                      <m:r>
                        <a:rPr lang="zh-CN" altLang="en-US" sz="2400" i="1">
                          <a:ln>
                            <a:solidFill>
                              <a:schemeClr val="tx1"/>
                            </a:solidFill>
                          </a:ln>
                          <a:solidFill>
                            <a:schemeClr val="tx1"/>
                          </a:solidFill>
                          <a:latin typeface="Cambria Math" panose="02040503050406030204" pitchFamily="18" charset="0"/>
                        </a:rPr>
                        <m:t>(</m:t>
                      </m:r>
                      <m:r>
                        <a:rPr lang="zh-CN" altLang="en-US" sz="2400" i="1">
                          <a:ln>
                            <a:solidFill>
                              <a:schemeClr val="tx1"/>
                            </a:solidFill>
                          </a:ln>
                          <a:solidFill>
                            <a:schemeClr val="tx1"/>
                          </a:solidFill>
                          <a:latin typeface="Cambria Math" panose="02040503050406030204" pitchFamily="18" charset="0"/>
                        </a:rPr>
                        <m:t>𝑥</m:t>
                      </m:r>
                      <m:r>
                        <a:rPr lang="zh-CN" altLang="en-US" sz="2400" i="1">
                          <a:ln>
                            <a:solidFill>
                              <a:schemeClr val="tx1"/>
                            </a:solidFill>
                          </a:ln>
                          <a:solidFill>
                            <a:schemeClr val="tx1"/>
                          </a:solidFill>
                          <a:latin typeface="Cambria Math" panose="02040503050406030204" pitchFamily="18" charset="0"/>
                        </a:rPr>
                        <m:t>)=</m:t>
                      </m:r>
                      <m:d>
                        <m:dPr>
                          <m:begChr m:val="{"/>
                          <m:endChr m:val=""/>
                          <m:ctrlPr>
                            <a:rPr lang="zh-CN" altLang="en-US" sz="2400" i="1">
                              <a:ln>
                                <a:solidFill>
                                  <a:schemeClr val="tx1"/>
                                </a:solidFill>
                              </a:ln>
                              <a:solidFill>
                                <a:schemeClr val="tx1"/>
                              </a:solidFill>
                              <a:latin typeface="Cambria Math" panose="02040503050406030204" pitchFamily="18" charset="0"/>
                            </a:rPr>
                          </m:ctrlPr>
                        </m:dPr>
                        <m:e>
                          <m:m>
                            <m:mPr>
                              <m:plcHide m:val="on"/>
                              <m:mcs>
                                <m:mc>
                                  <m:mcPr>
                                    <m:count m:val="1"/>
                                    <m:mcJc m:val="center"/>
                                  </m:mcPr>
                                </m:mc>
                              </m:mcs>
                              <m:ctrlPr>
                                <a:rPr lang="zh-CN" altLang="en-US" sz="2400" i="1">
                                  <a:ln>
                                    <a:solidFill>
                                      <a:schemeClr val="tx1"/>
                                    </a:solidFill>
                                  </a:ln>
                                  <a:solidFill>
                                    <a:schemeClr val="tx1"/>
                                  </a:solidFill>
                                  <a:latin typeface="Cambria Math" panose="02040503050406030204" pitchFamily="18" charset="0"/>
                                </a:rPr>
                              </m:ctrlPr>
                            </m:mPr>
                            <m:mr>
                              <m:e>
                                <m:f>
                                  <m:fPr>
                                    <m:ctrlPr>
                                      <a:rPr lang="zh-CN" altLang="en-US" sz="2400" i="1">
                                        <a:ln>
                                          <a:solidFill>
                                            <a:schemeClr val="tx1"/>
                                          </a:solidFill>
                                        </a:ln>
                                        <a:solidFill>
                                          <a:schemeClr val="tx1"/>
                                        </a:solidFill>
                                        <a:latin typeface="Cambria Math" panose="02040503050406030204" pitchFamily="18" charset="0"/>
                                      </a:rPr>
                                    </m:ctrlPr>
                                  </m:fPr>
                                  <m:num>
                                    <m:r>
                                      <a:rPr lang="zh-CN" altLang="en-US" sz="2400" i="1">
                                        <a:ln>
                                          <a:solidFill>
                                            <a:schemeClr val="tx1"/>
                                          </a:solidFill>
                                        </a:ln>
                                        <a:solidFill>
                                          <a:schemeClr val="tx1"/>
                                        </a:solidFill>
                                        <a:latin typeface="Cambria Math" panose="02040503050406030204" pitchFamily="18" charset="0"/>
                                      </a:rPr>
                                      <m:t>1</m:t>
                                    </m:r>
                                  </m:num>
                                  <m:den>
                                    <m:sSup>
                                      <m:sSupPr>
                                        <m:ctrlPr>
                                          <a:rPr lang="zh-CN" altLang="en-US" sz="2400" i="1">
                                            <a:ln>
                                              <a:solidFill>
                                                <a:schemeClr val="tx1"/>
                                              </a:solidFill>
                                            </a:ln>
                                            <a:solidFill>
                                              <a:schemeClr val="tx1"/>
                                            </a:solidFill>
                                            <a:latin typeface="Cambria Math" panose="02040503050406030204" pitchFamily="18" charset="0"/>
                                          </a:rPr>
                                        </m:ctrlPr>
                                      </m:sSupPr>
                                      <m:e>
                                        <m:r>
                                          <a:rPr lang="zh-CN" altLang="en-US" sz="2400" i="1">
                                            <a:ln>
                                              <a:solidFill>
                                                <a:schemeClr val="tx1"/>
                                              </a:solidFill>
                                            </a:ln>
                                            <a:solidFill>
                                              <a:schemeClr val="tx1"/>
                                            </a:solidFill>
                                            <a:latin typeface="Cambria Math" panose="02040503050406030204" pitchFamily="18" charset="0"/>
                                          </a:rPr>
                                          <m:t>2</m:t>
                                        </m:r>
                                      </m:e>
                                      <m:sup>
                                        <m:f>
                                          <m:fPr>
                                            <m:ctrlPr>
                                              <a:rPr lang="zh-CN" altLang="en-US" sz="2400" i="1">
                                                <a:ln>
                                                  <a:solidFill>
                                                    <a:schemeClr val="tx1"/>
                                                  </a:solidFill>
                                                </a:ln>
                                                <a:solidFill>
                                                  <a:schemeClr val="tx1"/>
                                                </a:solidFill>
                                                <a:latin typeface="Cambria Math" panose="02040503050406030204" pitchFamily="18" charset="0"/>
                                              </a:rPr>
                                            </m:ctrlPr>
                                          </m:fPr>
                                          <m:num>
                                            <m:r>
                                              <a:rPr lang="zh-CN" altLang="en-US" sz="2400" i="1">
                                                <a:ln>
                                                  <a:solidFill>
                                                    <a:schemeClr val="tx1"/>
                                                  </a:solidFill>
                                                </a:ln>
                                                <a:solidFill>
                                                  <a:schemeClr val="tx1"/>
                                                </a:solidFill>
                                                <a:latin typeface="Cambria Math" panose="02040503050406030204" pitchFamily="18" charset="0"/>
                                              </a:rPr>
                                              <m:t>𝑛</m:t>
                                            </m:r>
                                          </m:num>
                                          <m:den>
                                            <m:r>
                                              <a:rPr lang="zh-CN" altLang="en-US" sz="2400" i="1">
                                                <a:ln>
                                                  <a:solidFill>
                                                    <a:schemeClr val="tx1"/>
                                                  </a:solidFill>
                                                </a:ln>
                                                <a:solidFill>
                                                  <a:schemeClr val="tx1"/>
                                                </a:solidFill>
                                                <a:latin typeface="Cambria Math" panose="02040503050406030204" pitchFamily="18" charset="0"/>
                                              </a:rPr>
                                              <m:t>2</m:t>
                                            </m:r>
                                          </m:den>
                                        </m:f>
                                      </m:sup>
                                    </m:sSup>
                                    <m:r>
                                      <m:rPr>
                                        <m:sty m:val="p"/>
                                      </m:rPr>
                                      <a:rPr lang="zh-CN" altLang="en-US" sz="2400" i="1">
                                        <a:ln>
                                          <a:solidFill>
                                            <a:schemeClr val="tx1"/>
                                          </a:solidFill>
                                        </a:ln>
                                        <a:solidFill>
                                          <a:schemeClr val="tx1"/>
                                        </a:solidFill>
                                        <a:latin typeface="Cambria Math" panose="02040503050406030204" pitchFamily="18" charset="0"/>
                                      </a:rPr>
                                      <m:t>Γ</m:t>
                                    </m:r>
                                    <m:r>
                                      <a:rPr lang="zh-CN" altLang="en-US" sz="2400" i="1">
                                        <a:ln>
                                          <a:solidFill>
                                            <a:schemeClr val="tx1"/>
                                          </a:solidFill>
                                        </a:ln>
                                        <a:solidFill>
                                          <a:schemeClr val="tx1"/>
                                        </a:solidFill>
                                        <a:latin typeface="Cambria Math" panose="02040503050406030204" pitchFamily="18" charset="0"/>
                                      </a:rPr>
                                      <m:t>(</m:t>
                                    </m:r>
                                    <m:f>
                                      <m:fPr>
                                        <m:ctrlPr>
                                          <a:rPr lang="zh-CN" altLang="en-US" sz="2400" i="1">
                                            <a:ln>
                                              <a:solidFill>
                                                <a:schemeClr val="tx1"/>
                                              </a:solidFill>
                                            </a:ln>
                                            <a:solidFill>
                                              <a:schemeClr val="tx1"/>
                                            </a:solidFill>
                                            <a:latin typeface="Cambria Math" panose="02040503050406030204" pitchFamily="18" charset="0"/>
                                          </a:rPr>
                                        </m:ctrlPr>
                                      </m:fPr>
                                      <m:num>
                                        <m:r>
                                          <a:rPr lang="zh-CN" altLang="en-US" sz="2400" i="1">
                                            <a:ln>
                                              <a:solidFill>
                                                <a:schemeClr val="tx1"/>
                                              </a:solidFill>
                                            </a:ln>
                                            <a:solidFill>
                                              <a:schemeClr val="tx1"/>
                                            </a:solidFill>
                                            <a:latin typeface="Cambria Math" panose="02040503050406030204" pitchFamily="18" charset="0"/>
                                          </a:rPr>
                                          <m:t>𝑛</m:t>
                                        </m:r>
                                      </m:num>
                                      <m:den>
                                        <m:r>
                                          <a:rPr lang="zh-CN" altLang="en-US" sz="2400" i="1">
                                            <a:ln>
                                              <a:solidFill>
                                                <a:schemeClr val="tx1"/>
                                              </a:solidFill>
                                            </a:ln>
                                            <a:solidFill>
                                              <a:schemeClr val="tx1"/>
                                            </a:solidFill>
                                            <a:latin typeface="Cambria Math" panose="02040503050406030204" pitchFamily="18" charset="0"/>
                                          </a:rPr>
                                          <m:t>2</m:t>
                                        </m:r>
                                      </m:den>
                                    </m:f>
                                    <m:r>
                                      <a:rPr lang="zh-CN" altLang="en-US" sz="2400" i="1">
                                        <a:ln>
                                          <a:solidFill>
                                            <a:schemeClr val="tx1"/>
                                          </a:solidFill>
                                        </a:ln>
                                        <a:solidFill>
                                          <a:schemeClr val="tx1"/>
                                        </a:solidFill>
                                        <a:latin typeface="Cambria Math" panose="02040503050406030204" pitchFamily="18" charset="0"/>
                                      </a:rPr>
                                      <m:t>)</m:t>
                                    </m:r>
                                  </m:den>
                                </m:f>
                                <m:sSup>
                                  <m:sSupPr>
                                    <m:ctrlPr>
                                      <a:rPr lang="zh-CN" altLang="en-US" sz="2400" i="1">
                                        <a:ln>
                                          <a:solidFill>
                                            <a:schemeClr val="tx1"/>
                                          </a:solidFill>
                                        </a:ln>
                                        <a:solidFill>
                                          <a:schemeClr val="tx1"/>
                                        </a:solidFill>
                                        <a:latin typeface="Cambria Math" panose="02040503050406030204" pitchFamily="18" charset="0"/>
                                      </a:rPr>
                                    </m:ctrlPr>
                                  </m:sSupPr>
                                  <m:e>
                                    <m:r>
                                      <a:rPr lang="zh-CN" altLang="en-US" sz="2400" i="1">
                                        <a:ln>
                                          <a:solidFill>
                                            <a:schemeClr val="tx1"/>
                                          </a:solidFill>
                                        </a:ln>
                                        <a:solidFill>
                                          <a:schemeClr val="tx1"/>
                                        </a:solidFill>
                                        <a:latin typeface="Cambria Math" panose="02040503050406030204" pitchFamily="18" charset="0"/>
                                      </a:rPr>
                                      <m:t>𝑥</m:t>
                                    </m:r>
                                  </m:e>
                                  <m:sup>
                                    <m:f>
                                      <m:fPr>
                                        <m:ctrlPr>
                                          <a:rPr lang="zh-CN" altLang="en-US" sz="2400" i="1">
                                            <a:ln>
                                              <a:solidFill>
                                                <a:schemeClr val="tx1"/>
                                              </a:solidFill>
                                            </a:ln>
                                            <a:solidFill>
                                              <a:schemeClr val="tx1"/>
                                            </a:solidFill>
                                            <a:latin typeface="Cambria Math" panose="02040503050406030204" pitchFamily="18" charset="0"/>
                                          </a:rPr>
                                        </m:ctrlPr>
                                      </m:fPr>
                                      <m:num>
                                        <m:r>
                                          <a:rPr lang="zh-CN" altLang="en-US" sz="2400" i="1">
                                            <a:ln>
                                              <a:solidFill>
                                                <a:schemeClr val="tx1"/>
                                              </a:solidFill>
                                            </a:ln>
                                            <a:solidFill>
                                              <a:schemeClr val="tx1"/>
                                            </a:solidFill>
                                            <a:latin typeface="Cambria Math" panose="02040503050406030204" pitchFamily="18" charset="0"/>
                                          </a:rPr>
                                          <m:t>𝑛</m:t>
                                        </m:r>
                                      </m:num>
                                      <m:den>
                                        <m:r>
                                          <a:rPr lang="zh-CN" altLang="en-US" sz="2400" i="1">
                                            <a:ln>
                                              <a:solidFill>
                                                <a:schemeClr val="tx1"/>
                                              </a:solidFill>
                                            </a:ln>
                                            <a:solidFill>
                                              <a:schemeClr val="tx1"/>
                                            </a:solidFill>
                                            <a:latin typeface="Cambria Math" panose="02040503050406030204" pitchFamily="18" charset="0"/>
                                          </a:rPr>
                                          <m:t>2</m:t>
                                        </m:r>
                                      </m:den>
                                    </m:f>
                                    <m:r>
                                      <a:rPr lang="zh-CN" altLang="en-US" sz="2400" i="1">
                                        <a:ln>
                                          <a:solidFill>
                                            <a:schemeClr val="tx1"/>
                                          </a:solidFill>
                                        </a:ln>
                                        <a:solidFill>
                                          <a:schemeClr val="tx1"/>
                                        </a:solidFill>
                                        <a:latin typeface="Cambria Math" panose="02040503050406030204" pitchFamily="18" charset="0"/>
                                      </a:rPr>
                                      <m:t>−1</m:t>
                                    </m:r>
                                  </m:sup>
                                </m:sSup>
                                <m:sSup>
                                  <m:sSupPr>
                                    <m:ctrlPr>
                                      <a:rPr lang="zh-CN" altLang="en-US" sz="2400" i="1">
                                        <a:ln>
                                          <a:solidFill>
                                            <a:schemeClr val="tx1"/>
                                          </a:solidFill>
                                        </a:ln>
                                        <a:solidFill>
                                          <a:schemeClr val="tx1"/>
                                        </a:solidFill>
                                        <a:latin typeface="Cambria Math" panose="02040503050406030204" pitchFamily="18" charset="0"/>
                                      </a:rPr>
                                    </m:ctrlPr>
                                  </m:sSupPr>
                                  <m:e>
                                    <m:r>
                                      <a:rPr lang="zh-CN" altLang="en-US" sz="2400" i="1">
                                        <a:ln>
                                          <a:solidFill>
                                            <a:schemeClr val="tx1"/>
                                          </a:solidFill>
                                        </a:ln>
                                        <a:solidFill>
                                          <a:schemeClr val="tx1"/>
                                        </a:solidFill>
                                        <a:latin typeface="Cambria Math" panose="02040503050406030204" pitchFamily="18" charset="0"/>
                                      </a:rPr>
                                      <m:t>𝑒</m:t>
                                    </m:r>
                                  </m:e>
                                  <m:sup>
                                    <m:r>
                                      <a:rPr lang="zh-CN" altLang="en-US" sz="2400" i="1">
                                        <a:ln>
                                          <a:solidFill>
                                            <a:schemeClr val="tx1"/>
                                          </a:solidFill>
                                        </a:ln>
                                        <a:solidFill>
                                          <a:schemeClr val="tx1"/>
                                        </a:solidFill>
                                        <a:latin typeface="Cambria Math" panose="02040503050406030204" pitchFamily="18" charset="0"/>
                                      </a:rPr>
                                      <m:t>−</m:t>
                                    </m:r>
                                    <m:f>
                                      <m:fPr>
                                        <m:ctrlPr>
                                          <a:rPr lang="zh-CN" altLang="en-US" sz="2400" i="1">
                                            <a:ln>
                                              <a:solidFill>
                                                <a:schemeClr val="tx1"/>
                                              </a:solidFill>
                                            </a:ln>
                                            <a:solidFill>
                                              <a:schemeClr val="tx1"/>
                                            </a:solidFill>
                                            <a:latin typeface="Cambria Math" panose="02040503050406030204" pitchFamily="18" charset="0"/>
                                          </a:rPr>
                                        </m:ctrlPr>
                                      </m:fPr>
                                      <m:num>
                                        <m:r>
                                          <a:rPr lang="zh-CN" altLang="en-US" sz="2400" i="1">
                                            <a:ln>
                                              <a:solidFill>
                                                <a:schemeClr val="tx1"/>
                                              </a:solidFill>
                                            </a:ln>
                                            <a:solidFill>
                                              <a:schemeClr val="tx1"/>
                                            </a:solidFill>
                                            <a:latin typeface="Cambria Math" panose="02040503050406030204" pitchFamily="18" charset="0"/>
                                          </a:rPr>
                                          <m:t>𝑥</m:t>
                                        </m:r>
                                      </m:num>
                                      <m:den>
                                        <m:r>
                                          <a:rPr lang="zh-CN" altLang="en-US" sz="2400" i="1">
                                            <a:ln>
                                              <a:solidFill>
                                                <a:schemeClr val="tx1"/>
                                              </a:solidFill>
                                            </a:ln>
                                            <a:solidFill>
                                              <a:schemeClr val="tx1"/>
                                            </a:solidFill>
                                            <a:latin typeface="Cambria Math" panose="02040503050406030204" pitchFamily="18" charset="0"/>
                                          </a:rPr>
                                          <m:t>2</m:t>
                                        </m:r>
                                      </m:den>
                                    </m:f>
                                  </m:sup>
                                </m:sSup>
                                <m:m>
                                  <m:mPr>
                                    <m:plcHide m:val="on"/>
                                    <m:mcs>
                                      <m:mc>
                                        <m:mcPr>
                                          <m:count m:val="2"/>
                                          <m:mcJc m:val="center"/>
                                        </m:mcPr>
                                      </m:mc>
                                    </m:mcs>
                                    <m:ctrlPr>
                                      <a:rPr lang="zh-CN" altLang="en-US" sz="2400" i="1">
                                        <a:ln>
                                          <a:solidFill>
                                            <a:schemeClr val="tx1"/>
                                          </a:solidFill>
                                        </a:ln>
                                        <a:solidFill>
                                          <a:schemeClr val="tx1"/>
                                        </a:solidFill>
                                        <a:latin typeface="Cambria Math" panose="02040503050406030204" pitchFamily="18" charset="0"/>
                                      </a:rPr>
                                    </m:ctrlPr>
                                  </m:mPr>
                                  <m:mr>
                                    <m:e/>
                                    <m:e>
                                      <m:r>
                                        <a:rPr lang="zh-CN" altLang="en-US" sz="2400" i="1">
                                          <a:ln>
                                            <a:solidFill>
                                              <a:schemeClr val="tx1"/>
                                            </a:solidFill>
                                          </a:ln>
                                          <a:solidFill>
                                            <a:schemeClr val="tx1"/>
                                          </a:solidFill>
                                          <a:latin typeface="Cambria Math" panose="02040503050406030204" pitchFamily="18" charset="0"/>
                                        </a:rPr>
                                        <m:t>𝑥</m:t>
                                      </m:r>
                                      <m:r>
                                        <a:rPr lang="zh-CN" altLang="en-US" sz="2400" i="1">
                                          <a:ln>
                                            <a:solidFill>
                                              <a:schemeClr val="tx1"/>
                                            </a:solidFill>
                                          </a:ln>
                                          <a:solidFill>
                                            <a:schemeClr val="tx1"/>
                                          </a:solidFill>
                                          <a:latin typeface="Cambria Math" panose="02040503050406030204" pitchFamily="18" charset="0"/>
                                        </a:rPr>
                                        <m:t>&gt;0</m:t>
                                      </m:r>
                                    </m:e>
                                  </m:mr>
                                </m:m>
                              </m:e>
                            </m:mr>
                            <m:mr>
                              <m:e>
                                <m:m>
                                  <m:mPr>
                                    <m:plcHide m:val="on"/>
                                    <m:mcs>
                                      <m:mc>
                                        <m:mcPr>
                                          <m:count m:val="3"/>
                                          <m:mcJc m:val="center"/>
                                        </m:mcPr>
                                      </m:mc>
                                    </m:mcs>
                                    <m:ctrlPr>
                                      <a:rPr lang="zh-CN" altLang="en-US" sz="2400" i="1">
                                        <a:ln>
                                          <a:solidFill>
                                            <a:schemeClr val="tx1"/>
                                          </a:solidFill>
                                        </a:ln>
                                        <a:solidFill>
                                          <a:schemeClr val="tx1"/>
                                        </a:solidFill>
                                        <a:latin typeface="Cambria Math" panose="02040503050406030204" pitchFamily="18" charset="0"/>
                                      </a:rPr>
                                    </m:ctrlPr>
                                  </m:mPr>
                                  <m:mr>
                                    <m:e>
                                      <m:r>
                                        <a:rPr lang="zh-CN" altLang="en-US" sz="2400" i="1">
                                          <a:ln>
                                            <a:solidFill>
                                              <a:schemeClr val="tx1"/>
                                            </a:solidFill>
                                          </a:ln>
                                          <a:solidFill>
                                            <a:schemeClr val="tx1"/>
                                          </a:solidFill>
                                          <a:latin typeface="Cambria Math" panose="02040503050406030204" pitchFamily="18" charset="0"/>
                                        </a:rPr>
                                        <m:t>0</m:t>
                                      </m:r>
                                    </m:e>
                                    <m:e>
                                      <m:m>
                                        <m:mPr>
                                          <m:plcHide m:val="on"/>
                                          <m:mcs>
                                            <m:mc>
                                              <m:mcPr>
                                                <m:count m:val="3"/>
                                                <m:mcJc m:val="center"/>
                                              </m:mcPr>
                                            </m:mc>
                                          </m:mcs>
                                          <m:ctrlPr>
                                            <a:rPr lang="zh-CN" altLang="en-US" sz="2400" i="1">
                                              <a:ln>
                                                <a:solidFill>
                                                  <a:schemeClr val="tx1"/>
                                                </a:solidFill>
                                              </a:ln>
                                              <a:solidFill>
                                                <a:schemeClr val="tx1"/>
                                              </a:solidFill>
                                              <a:latin typeface="Cambria Math" panose="02040503050406030204" pitchFamily="18" charset="0"/>
                                            </a:rPr>
                                          </m:ctrlPr>
                                        </m:mPr>
                                        <m:mr>
                                          <m:e/>
                                          <m:e/>
                                          <m:e>
                                            <m:m>
                                              <m:mPr>
                                                <m:plcHide m:val="on"/>
                                                <m:mcs>
                                                  <m:mc>
                                                    <m:mcPr>
                                                      <m:count m:val="2"/>
                                                      <m:mcJc m:val="center"/>
                                                    </m:mcPr>
                                                  </m:mc>
                                                </m:mcs>
                                                <m:ctrlPr>
                                                  <a:rPr lang="zh-CN" altLang="en-US" sz="2400" i="1">
                                                    <a:ln>
                                                      <a:solidFill>
                                                        <a:schemeClr val="tx1"/>
                                                      </a:solidFill>
                                                    </a:ln>
                                                    <a:solidFill>
                                                      <a:schemeClr val="tx1"/>
                                                    </a:solidFill>
                                                    <a:latin typeface="Cambria Math" panose="02040503050406030204" pitchFamily="18" charset="0"/>
                                                  </a:rPr>
                                                </m:ctrlPr>
                                              </m:mPr>
                                              <m:mr>
                                                <m:e/>
                                                <m:e/>
                                              </m:mr>
                                            </m:m>
                                          </m:e>
                                        </m:mr>
                                      </m:m>
                                    </m:e>
                                    <m:e>
                                      <m:r>
                                        <a:rPr lang="zh-CN" altLang="en-US" sz="2400" i="1">
                                          <a:ln>
                                            <a:solidFill>
                                              <a:schemeClr val="tx1"/>
                                            </a:solidFill>
                                          </a:ln>
                                          <a:solidFill>
                                            <a:schemeClr val="tx1"/>
                                          </a:solidFill>
                                          <a:latin typeface="Cambria Math" panose="02040503050406030204" pitchFamily="18" charset="0"/>
                                        </a:rPr>
                                        <m:t>𝑥</m:t>
                                      </m:r>
                                      <m:r>
                                        <a:rPr lang="zh-CN" altLang="en-US" sz="2400" i="1">
                                          <a:ln>
                                            <a:solidFill>
                                              <a:schemeClr val="tx1"/>
                                            </a:solidFill>
                                          </a:ln>
                                          <a:solidFill>
                                            <a:schemeClr val="tx1"/>
                                          </a:solidFill>
                                          <a:latin typeface="Cambria Math" panose="02040503050406030204" pitchFamily="18" charset="0"/>
                                        </a:rPr>
                                        <m:t>≤0</m:t>
                                      </m:r>
                                    </m:e>
                                  </m:mr>
                                </m:m>
                              </m:e>
                            </m:mr>
                          </m:m>
                        </m:e>
                      </m:d>
                    </m:oMath>
                  </m:oMathPara>
                </a14:m>
                <a:br>
                  <a:rPr lang="zh-CN" altLang="en-US" sz="2400" i="1" dirty="0">
                    <a:ln>
                      <a:solidFill>
                        <a:schemeClr val="tx1"/>
                      </a:solidFill>
                    </a:ln>
                    <a:solidFill>
                      <a:schemeClr val="tx1"/>
                    </a:solidFill>
                    <a:latin typeface="Times New Roman" panose="02020603050405020304" pitchFamily="18" charset="0"/>
                    <a:cs typeface="Times New Roman" panose="02020603050405020304" pitchFamily="18" charset="0"/>
                  </a:rPr>
                </a:br>
                <a:endParaRPr lang="en-US" altLang="zh-CN" sz="2400" i="1" dirty="0">
                  <a:ln>
                    <a:solidFill>
                      <a:schemeClr val="tx1"/>
                    </a:solidFill>
                  </a:ln>
                  <a:solidFill>
                    <a:schemeClr val="tx1"/>
                  </a:solidFill>
                  <a:latin typeface="Times New Roman" panose="02020603050405020304" pitchFamily="18" charset="0"/>
                  <a:cs typeface="Times New Roman" panose="02020603050405020304" pitchFamily="18" charset="0"/>
                </a:endParaRPr>
              </a:p>
              <a:p>
                <a:pPr>
                  <a:lnSpc>
                    <a:spcPct val="150000"/>
                  </a:lnSpc>
                  <a:spcBef>
                    <a:spcPts val="0"/>
                  </a:spcBef>
                  <a:buNone/>
                </a:pPr>
                <a:endParaRPr lang="en-US" altLang="zh-CN" sz="2400" i="1" dirty="0">
                  <a:ln>
                    <a:solidFill>
                      <a:schemeClr val="tx1"/>
                    </a:solidFill>
                  </a:ln>
                  <a:solidFill>
                    <a:schemeClr val="tx1"/>
                  </a:solidFill>
                  <a:latin typeface="Cambria Math" panose="02040503050406030204" pitchFamily="18" charset="0"/>
                </a:endParaRPr>
              </a:p>
              <a:p>
                <a:pPr>
                  <a:lnSpc>
                    <a:spcPct val="150000"/>
                  </a:lnSpc>
                  <a:spcBef>
                    <a:spcPts val="0"/>
                  </a:spcBef>
                  <a:buNone/>
                </a:pPr>
                <a14:m>
                  <m:oMathPara xmlns:m="http://schemas.openxmlformats.org/officeDocument/2006/math">
                    <m:oMathParaPr>
                      <m:jc m:val="left"/>
                    </m:oMathParaPr>
                    <m:oMath xmlns:m="http://schemas.openxmlformats.org/officeDocument/2006/math">
                      <m:r>
                        <a:rPr lang="zh-CN" altLang="en-US" sz="2400" i="1">
                          <a:ln>
                            <a:solidFill>
                              <a:schemeClr val="tx1"/>
                            </a:solidFill>
                          </a:ln>
                          <a:solidFill>
                            <a:schemeClr val="tx1"/>
                          </a:solidFill>
                          <a:latin typeface="Cambria Math" panose="02040503050406030204" pitchFamily="18" charset="0"/>
                        </a:rPr>
                        <m:t>这是自由度为</m:t>
                      </m:r>
                      <m:r>
                        <a:rPr lang="zh-CN" altLang="en-US" sz="2400" i="1">
                          <a:ln>
                            <a:solidFill>
                              <a:schemeClr val="tx1"/>
                            </a:solidFill>
                          </a:ln>
                          <a:solidFill>
                            <a:schemeClr val="tx1"/>
                          </a:solidFill>
                          <a:latin typeface="Cambria Math" panose="02040503050406030204" pitchFamily="18" charset="0"/>
                        </a:rPr>
                        <m:t>𝑛</m:t>
                      </m:r>
                      <m:r>
                        <a:rPr lang="zh-CN" altLang="en-US" sz="2400" i="1">
                          <a:ln>
                            <a:solidFill>
                              <a:schemeClr val="tx1"/>
                            </a:solidFill>
                          </a:ln>
                          <a:solidFill>
                            <a:schemeClr val="tx1"/>
                          </a:solidFill>
                          <a:latin typeface="Cambria Math" panose="02040503050406030204" pitchFamily="18" charset="0"/>
                        </a:rPr>
                        <m:t>的</m:t>
                      </m:r>
                      <m:sSup>
                        <m:sSupPr>
                          <m:ctrlPr>
                            <a:rPr lang="zh-CN" altLang="en-US" sz="2400" i="1">
                              <a:ln>
                                <a:solidFill>
                                  <a:schemeClr val="tx1"/>
                                </a:solidFill>
                              </a:ln>
                              <a:solidFill>
                                <a:schemeClr val="tx1"/>
                              </a:solidFill>
                              <a:latin typeface="Cambria Math" panose="02040503050406030204" pitchFamily="18" charset="0"/>
                            </a:rPr>
                          </m:ctrlPr>
                        </m:sSupPr>
                        <m:e>
                          <m:r>
                            <a:rPr lang="zh-CN" altLang="en-US" sz="2400" i="1">
                              <a:ln>
                                <a:solidFill>
                                  <a:schemeClr val="tx1"/>
                                </a:solidFill>
                              </a:ln>
                              <a:solidFill>
                                <a:schemeClr val="tx1"/>
                              </a:solidFill>
                              <a:latin typeface="Cambria Math" panose="02040503050406030204" pitchFamily="18" charset="0"/>
                            </a:rPr>
                            <m:t>𝜒</m:t>
                          </m:r>
                        </m:e>
                        <m:sup>
                          <m:r>
                            <a:rPr lang="zh-CN" altLang="en-US" sz="2400" i="1">
                              <a:ln>
                                <a:solidFill>
                                  <a:schemeClr val="tx1"/>
                                </a:solidFill>
                              </a:ln>
                              <a:solidFill>
                                <a:schemeClr val="tx1"/>
                              </a:solidFill>
                              <a:latin typeface="Cambria Math" panose="02040503050406030204" pitchFamily="18" charset="0"/>
                            </a:rPr>
                            <m:t>2</m:t>
                          </m:r>
                        </m:sup>
                      </m:sSup>
                      <m:r>
                        <a:rPr lang="zh-CN" altLang="en-US" sz="2400" i="1">
                          <a:ln>
                            <a:solidFill>
                              <a:schemeClr val="tx1"/>
                            </a:solidFill>
                          </a:ln>
                          <a:solidFill>
                            <a:schemeClr val="tx1"/>
                          </a:solidFill>
                          <a:latin typeface="Cambria Math" panose="02040503050406030204" pitchFamily="18" charset="0"/>
                        </a:rPr>
                        <m:t>−</m:t>
                      </m:r>
                      <m:r>
                        <a:rPr lang="zh-CN" altLang="en-US" sz="2400" i="1">
                          <a:ln>
                            <a:solidFill>
                              <a:schemeClr val="tx1"/>
                            </a:solidFill>
                          </a:ln>
                          <a:solidFill>
                            <a:schemeClr val="tx1"/>
                          </a:solidFill>
                          <a:latin typeface="Cambria Math" panose="02040503050406030204" pitchFamily="18" charset="0"/>
                        </a:rPr>
                        <m:t>分布的概率密度函数。</m:t>
                      </m:r>
                    </m:oMath>
                  </m:oMathPara>
                </a14:m>
                <a:endParaRPr lang="en-US" altLang="zh-CN" sz="2400" i="1" dirty="0">
                  <a:ln>
                    <a:solidFill>
                      <a:schemeClr val="tx1"/>
                    </a:solidFill>
                  </a:ln>
                  <a:solidFill>
                    <a:schemeClr val="tx1"/>
                  </a:solidFill>
                  <a:latin typeface="Cambria Math" panose="02040503050406030204" pitchFamily="18" charset="0"/>
                </a:endParaRPr>
              </a:p>
              <a:p>
                <a:pPr>
                  <a:lnSpc>
                    <a:spcPct val="150000"/>
                  </a:lnSpc>
                  <a:spcBef>
                    <a:spcPts val="0"/>
                  </a:spcBef>
                  <a:buNone/>
                </a:pPr>
                <a14:m>
                  <m:oMathPara xmlns:m="http://schemas.openxmlformats.org/officeDocument/2006/math">
                    <m:oMathParaPr>
                      <m:jc m:val="left"/>
                    </m:oMathParaPr>
                    <m:oMath xmlns:m="http://schemas.openxmlformats.org/officeDocument/2006/math">
                      <m:r>
                        <a:rPr lang="zh-CN" altLang="en-US" sz="2400" i="1">
                          <a:ln>
                            <a:solidFill>
                              <a:schemeClr val="tx1"/>
                            </a:solidFill>
                          </a:ln>
                          <a:solidFill>
                            <a:schemeClr val="tx1"/>
                          </a:solidFill>
                          <a:latin typeface="Cambria Math" panose="02040503050406030204" pitchFamily="18" charset="0"/>
                        </a:rPr>
                        <m:t>记为</m:t>
                      </m:r>
                      <m:m>
                        <m:mPr>
                          <m:plcHide m:val="on"/>
                          <m:mcs>
                            <m:mc>
                              <m:mcPr>
                                <m:count m:val="2"/>
                                <m:mcJc m:val="center"/>
                              </m:mcPr>
                            </m:mc>
                          </m:mcs>
                          <m:ctrlPr>
                            <a:rPr lang="zh-CN" altLang="en-US" sz="2400" i="1">
                              <a:ln>
                                <a:solidFill>
                                  <a:schemeClr val="tx1"/>
                                </a:solidFill>
                              </a:ln>
                              <a:solidFill>
                                <a:schemeClr val="tx1"/>
                              </a:solidFill>
                              <a:latin typeface="Cambria Math" panose="02040503050406030204" pitchFamily="18" charset="0"/>
                            </a:rPr>
                          </m:ctrlPr>
                        </m:mPr>
                        <m:mr>
                          <m:e/>
                          <m:e>
                            <m:r>
                              <a:rPr lang="zh-CN" altLang="en-US" sz="2400" i="1">
                                <a:ln>
                                  <a:solidFill>
                                    <a:schemeClr val="tx1"/>
                                  </a:solidFill>
                                </a:ln>
                                <a:solidFill>
                                  <a:schemeClr val="tx1"/>
                                </a:solidFill>
                                <a:latin typeface="Cambria Math" panose="02040503050406030204" pitchFamily="18" charset="0"/>
                              </a:rPr>
                              <m:t>𝜉</m:t>
                            </m:r>
                            <m:r>
                              <a:rPr lang="zh-CN" altLang="en-US" sz="2400" i="1">
                                <a:ln>
                                  <a:solidFill>
                                    <a:schemeClr val="tx1"/>
                                  </a:solidFill>
                                </a:ln>
                                <a:solidFill>
                                  <a:schemeClr val="tx1"/>
                                </a:solidFill>
                                <a:latin typeface="Cambria Math" panose="02040503050406030204" pitchFamily="18" charset="0"/>
                              </a:rPr>
                              <m:t>~</m:t>
                            </m:r>
                            <m:sSup>
                              <m:sSupPr>
                                <m:ctrlPr>
                                  <a:rPr lang="zh-CN" altLang="en-US" sz="2400" i="1">
                                    <a:ln>
                                      <a:solidFill>
                                        <a:schemeClr val="tx1"/>
                                      </a:solidFill>
                                    </a:ln>
                                    <a:solidFill>
                                      <a:schemeClr val="tx1"/>
                                    </a:solidFill>
                                    <a:latin typeface="Cambria Math" panose="02040503050406030204" pitchFamily="18" charset="0"/>
                                  </a:rPr>
                                </m:ctrlPr>
                              </m:sSupPr>
                              <m:e>
                                <m:r>
                                  <a:rPr lang="zh-CN" altLang="en-US" sz="2400" i="1">
                                    <a:ln>
                                      <a:solidFill>
                                        <a:schemeClr val="tx1"/>
                                      </a:solidFill>
                                    </a:ln>
                                    <a:solidFill>
                                      <a:schemeClr val="tx1"/>
                                    </a:solidFill>
                                    <a:latin typeface="Cambria Math" panose="02040503050406030204" pitchFamily="18" charset="0"/>
                                  </a:rPr>
                                  <m:t>𝜒</m:t>
                                </m:r>
                              </m:e>
                              <m:sup>
                                <m:r>
                                  <a:rPr lang="zh-CN" altLang="en-US" sz="2400" i="1">
                                    <a:ln>
                                      <a:solidFill>
                                        <a:schemeClr val="tx1"/>
                                      </a:solidFill>
                                    </a:ln>
                                    <a:solidFill>
                                      <a:schemeClr val="tx1"/>
                                    </a:solidFill>
                                    <a:latin typeface="Cambria Math" panose="02040503050406030204" pitchFamily="18" charset="0"/>
                                  </a:rPr>
                                  <m:t>2</m:t>
                                </m:r>
                              </m:sup>
                            </m:sSup>
                            <m:r>
                              <a:rPr lang="zh-CN" altLang="en-US" sz="2400" i="1">
                                <a:ln>
                                  <a:solidFill>
                                    <a:schemeClr val="tx1"/>
                                  </a:solidFill>
                                </a:ln>
                                <a:solidFill>
                                  <a:schemeClr val="tx1"/>
                                </a:solidFill>
                                <a:latin typeface="Cambria Math" panose="02040503050406030204" pitchFamily="18" charset="0"/>
                              </a:rPr>
                              <m:t>(</m:t>
                            </m:r>
                            <m:r>
                              <a:rPr lang="zh-CN" altLang="en-US" sz="2400" i="1">
                                <a:ln>
                                  <a:solidFill>
                                    <a:schemeClr val="tx1"/>
                                  </a:solidFill>
                                </a:ln>
                                <a:solidFill>
                                  <a:schemeClr val="tx1"/>
                                </a:solidFill>
                                <a:latin typeface="Cambria Math" panose="02040503050406030204" pitchFamily="18" charset="0"/>
                              </a:rPr>
                              <m:t>𝑛</m:t>
                            </m:r>
                            <m:r>
                              <a:rPr lang="zh-CN" altLang="en-US" sz="2400" i="1">
                                <a:ln>
                                  <a:solidFill>
                                    <a:schemeClr val="tx1"/>
                                  </a:solidFill>
                                </a:ln>
                                <a:solidFill>
                                  <a:schemeClr val="tx1"/>
                                </a:solidFill>
                                <a:latin typeface="Cambria Math" panose="02040503050406030204" pitchFamily="18" charset="0"/>
                              </a:rPr>
                              <m:t>)</m:t>
                            </m:r>
                          </m:e>
                        </m:mr>
                      </m:m>
                    </m:oMath>
                  </m:oMathPara>
                </a14:m>
                <a:endParaRPr lang="zh-CN" altLang="en-US" sz="2400" dirty="0">
                  <a:ln>
                    <a:solidFill>
                      <a:schemeClr val="tx1"/>
                    </a:solidFill>
                  </a:ln>
                  <a:solidFill>
                    <a:schemeClr val="tx1"/>
                  </a:solidFill>
                  <a:latin typeface="Times New Roman" panose="02020603050405020304" pitchFamily="18" charset="0"/>
                  <a:cs typeface="Times New Roman" panose="02020603050405020304" pitchFamily="18" charset="0"/>
                </a:endParaRPr>
              </a:p>
            </p:txBody>
          </p:sp>
        </mc:Choice>
        <mc:Fallback xmlns="">
          <p:sp>
            <p:nvSpPr>
              <p:cNvPr id="75781" name="Object 5">
                <a:extLst>
                  <a:ext uri="{FF2B5EF4-FFF2-40B4-BE49-F238E27FC236}">
                    <a16:creationId xmlns:a16="http://schemas.microsoft.com/office/drawing/2014/main" id="{51DCBD15-4055-496E-9227-1ACB0377FEA0}"/>
                  </a:ext>
                </a:extLst>
              </p:cNvPr>
              <p:cNvSpPr txBox="1">
                <a:spLocks noGrp="1" noRot="1" noChangeAspect="1" noMove="1" noResize="1" noEditPoints="1" noAdjustHandles="1" noChangeArrowheads="1" noChangeShapeType="1" noTextEdit="1"/>
              </p:cNvSpPr>
              <p:nvPr>
                <p:ph idx="4294967295"/>
              </p:nvPr>
            </p:nvSpPr>
            <p:spPr bwMode="auto">
              <a:xfrm>
                <a:off x="431540" y="1052736"/>
                <a:ext cx="8280920" cy="4418012"/>
              </a:xfrm>
              <a:prstGeom prst="rect">
                <a:avLst/>
              </a:prstGeom>
              <a:blipFill>
                <a:blip r:embed="rId2"/>
                <a:stretch>
                  <a:fillRect b="-19337"/>
                </a:stretch>
              </a:blipFill>
              <a:ln>
                <a:noFill/>
              </a:ln>
              <a:effec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 calcmode="lin" valueType="num">
                                      <p:cBhvr additive="base">
                                        <p:cTn id="7" dur="500" fill="hold"/>
                                        <p:tgtEl>
                                          <p:spTgt spid="75778"/>
                                        </p:tgtEl>
                                        <p:attrNameLst>
                                          <p:attrName>ppt_x</p:attrName>
                                        </p:attrNameLst>
                                      </p:cBhvr>
                                      <p:tavLst>
                                        <p:tav tm="0">
                                          <p:val>
                                            <p:strVal val="1+#ppt_w/2"/>
                                          </p:val>
                                        </p:tav>
                                        <p:tav tm="100000">
                                          <p:val>
                                            <p:strVal val="#ppt_x"/>
                                          </p:val>
                                        </p:tav>
                                      </p:tavLst>
                                    </p:anim>
                                    <p:anim calcmode="lin" valueType="num">
                                      <p:cBhvr additive="base">
                                        <p:cTn id="8" dur="500" fill="hold"/>
                                        <p:tgtEl>
                                          <p:spTgt spid="757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29F7597D-7F71-4561-BD65-2EC218AE3FB1}"/>
              </a:ext>
            </a:extLst>
          </p:cNvPr>
          <p:cNvSpPr>
            <a:spLocks noGrp="1" noChangeArrowheads="1"/>
          </p:cNvSpPr>
          <p:nvPr>
            <p:ph idx="1"/>
          </p:nvPr>
        </p:nvSpPr>
        <p:spPr>
          <a:xfrm>
            <a:off x="457200" y="1345008"/>
            <a:ext cx="8229600" cy="4495800"/>
          </a:xfrm>
        </p:spPr>
        <p:txBody>
          <a:bodyPr/>
          <a:lstStyle/>
          <a:p>
            <a:r>
              <a:rPr lang="en-US" altLang="zh-CN" sz="3200"/>
              <a:t>  </a:t>
            </a:r>
          </a:p>
        </p:txBody>
      </p:sp>
      <mc:AlternateContent xmlns:mc="http://schemas.openxmlformats.org/markup-compatibility/2006" xmlns:a14="http://schemas.microsoft.com/office/drawing/2010/main">
        <mc:Choice Requires="a14">
          <p:sp>
            <p:nvSpPr>
              <p:cNvPr id="76803" name="Object 3">
                <a:extLst>
                  <a:ext uri="{FF2B5EF4-FFF2-40B4-BE49-F238E27FC236}">
                    <a16:creationId xmlns:a16="http://schemas.microsoft.com/office/drawing/2014/main" id="{AC6648CC-C5F6-40C6-B7D4-7A15247BCA92}"/>
                  </a:ext>
                </a:extLst>
              </p:cNvPr>
              <p:cNvSpPr txBox="1"/>
              <p:nvPr/>
            </p:nvSpPr>
            <p:spPr bwMode="auto">
              <a:xfrm>
                <a:off x="179388" y="476250"/>
                <a:ext cx="5019675" cy="7239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m:rPr>
                          <m:nor/>
                        </m:rPr>
                        <a:rPr kumimoji="1" lang="en-US" altLang="zh-CN" sz="3200" dirty="0">
                          <a:latin typeface="Times New Roman" panose="02020603050405020304" pitchFamily="18" charset="0"/>
                        </a:rPr>
                        <m:t>Gamma</m:t>
                      </m:r>
                      <m:r>
                        <a:rPr lang="zh-CN" altLang="en-US" sz="3200" i="1" smtClean="0">
                          <a:ln>
                            <a:solidFill>
                              <a:schemeClr val="tx1"/>
                            </a:solidFill>
                          </a:ln>
                          <a:solidFill>
                            <a:schemeClr val="tx1"/>
                          </a:solidFill>
                          <a:latin typeface="Cambria Math" panose="02040503050406030204" pitchFamily="18" charset="0"/>
                        </a:rPr>
                        <m:t>−</m:t>
                      </m:r>
                      <m:r>
                        <a:rPr lang="zh-CN" altLang="en-US" sz="3200" i="1" smtClean="0">
                          <a:ln>
                            <a:solidFill>
                              <a:schemeClr val="tx1"/>
                            </a:solidFill>
                          </a:ln>
                          <a:solidFill>
                            <a:schemeClr val="tx1"/>
                          </a:solidFill>
                          <a:latin typeface="Cambria Math" panose="02040503050406030204" pitchFamily="18" charset="0"/>
                        </a:rPr>
                        <m:t>分布的重要性质：</m:t>
                      </m:r>
                    </m:oMath>
                  </m:oMathPara>
                </a14:m>
                <a:endParaRPr lang="zh-CN" altLang="en-US" sz="3200" dirty="0">
                  <a:ln>
                    <a:solidFill>
                      <a:schemeClr val="tx1"/>
                    </a:solidFill>
                  </a:ln>
                  <a:solidFill>
                    <a:schemeClr val="tx1"/>
                  </a:solidFill>
                </a:endParaRPr>
              </a:p>
            </p:txBody>
          </p:sp>
        </mc:Choice>
        <mc:Fallback xmlns="">
          <p:sp>
            <p:nvSpPr>
              <p:cNvPr id="76803" name="Object 3">
                <a:extLst>
                  <a:ext uri="{FF2B5EF4-FFF2-40B4-BE49-F238E27FC236}">
                    <a16:creationId xmlns:a16="http://schemas.microsoft.com/office/drawing/2014/main" id="{AC6648CC-C5F6-40C6-B7D4-7A15247BCA92}"/>
                  </a:ext>
                </a:extLst>
              </p:cNvPr>
              <p:cNvSpPr txBox="1">
                <a:spLocks noRot="1" noChangeAspect="1" noMove="1" noResize="1" noEditPoints="1" noAdjustHandles="1" noChangeArrowheads="1" noChangeShapeType="1" noTextEdit="1"/>
              </p:cNvSpPr>
              <p:nvPr/>
            </p:nvSpPr>
            <p:spPr bwMode="auto">
              <a:xfrm>
                <a:off x="179388" y="476250"/>
                <a:ext cx="5019675" cy="72390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804" name="Object 4">
                <a:extLst>
                  <a:ext uri="{FF2B5EF4-FFF2-40B4-BE49-F238E27FC236}">
                    <a16:creationId xmlns:a16="http://schemas.microsoft.com/office/drawing/2014/main" id="{7C4F1FB2-42BD-4F0C-8271-C4E69853D131}"/>
                  </a:ext>
                </a:extLst>
              </p:cNvPr>
              <p:cNvSpPr txBox="1"/>
              <p:nvPr/>
            </p:nvSpPr>
            <p:spPr bwMode="auto">
              <a:xfrm>
                <a:off x="205110" y="2164158"/>
                <a:ext cx="8733780" cy="4105275"/>
              </a:xfrm>
              <a:prstGeom prst="rect">
                <a:avLst/>
              </a:prstGeom>
              <a:noFill/>
              <a:ln>
                <a:noFill/>
              </a:ln>
              <a:effectLst/>
            </p:spPr>
            <p:txBody>
              <a:bodyPr>
                <a:noAutofit/>
              </a:bodyPr>
              <a:lstStyle/>
              <a:p>
                <a:pPr>
                  <a:lnSpc>
                    <a:spcPct val="150000"/>
                  </a:lnSpc>
                </a:pPr>
                <a14:m>
                  <m:oMathPara xmlns:m="http://schemas.openxmlformats.org/officeDocument/2006/math">
                    <m:oMathParaPr>
                      <m:jc m:val="left"/>
                    </m:oMathParaPr>
                    <m:oMath xmlns:m="http://schemas.openxmlformats.org/officeDocument/2006/math">
                      <m:m>
                        <m:mPr>
                          <m:plcHide m:val="on"/>
                          <m:mcs>
                            <m:mc>
                              <m:mcPr>
                                <m:count m:val="2"/>
                                <m:mcJc m:val="center"/>
                              </m:mcPr>
                            </m:mc>
                          </m:mcs>
                          <m:ctrlPr>
                            <a:rPr lang="zh-CN" altLang="en-US" i="1" smtClean="0">
                              <a:ln>
                                <a:solidFill>
                                  <a:schemeClr val="tx1"/>
                                </a:solidFill>
                              </a:ln>
                              <a:solidFill>
                                <a:schemeClr val="tx1"/>
                              </a:solidFill>
                              <a:latin typeface="Cambria Math" panose="02040503050406030204" pitchFamily="18" charset="0"/>
                            </a:rPr>
                          </m:ctrlPr>
                        </m:mPr>
                        <m:mr>
                          <m:e/>
                          <m:e/>
                        </m:mr>
                      </m:m>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如果随机变量</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𝑛</m:t>
                          </m:r>
                        </m:sub>
                      </m:sSub>
                      <m:r>
                        <a:rPr lang="zh-CN" altLang="en-US" i="1">
                          <a:ln>
                            <a:solidFill>
                              <a:schemeClr val="tx1"/>
                            </a:solidFill>
                          </a:ln>
                          <a:solidFill>
                            <a:schemeClr val="tx1"/>
                          </a:solidFill>
                          <a:latin typeface="Cambria Math" panose="02040503050406030204" pitchFamily="18" charset="0"/>
                        </a:rPr>
                        <m:t>相互独立，且</m:t>
                      </m:r>
                    </m:oMath>
                    <m:oMath xmlns:m="http://schemas.openxmlformats.org/officeDocument/2006/math">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𝑖</m:t>
                          </m:r>
                        </m:sub>
                      </m:sSub>
                      <m:r>
                        <a:rPr lang="zh-CN" altLang="en-US" i="1">
                          <a:ln>
                            <a:solidFill>
                              <a:schemeClr val="tx1"/>
                            </a:solidFill>
                          </a:ln>
                          <a:solidFill>
                            <a:schemeClr val="tx1"/>
                          </a:solidFill>
                          <a:latin typeface="Cambria Math" panose="02040503050406030204" pitchFamily="18" charset="0"/>
                        </a:rPr>
                        <m:t>服从参数为</m:t>
                      </m:r>
                      <m:r>
                        <a:rPr lang="zh-CN" altLang="en-US" i="1">
                          <a:ln>
                            <a:solidFill>
                              <a:schemeClr val="tx1"/>
                            </a:solidFill>
                          </a:ln>
                          <a:solidFill>
                            <a:schemeClr val="tx1"/>
                          </a:solidFill>
                          <a:latin typeface="Cambria Math" panose="02040503050406030204" pitchFamily="18" charset="0"/>
                        </a:rPr>
                        <m:t>𝜆</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𝑟</m:t>
                          </m:r>
                        </m:e>
                        <m:sub>
                          <m:r>
                            <a:rPr lang="zh-CN" altLang="en-US" i="1">
                              <a:ln>
                                <a:solidFill>
                                  <a:schemeClr val="tx1"/>
                                </a:solidFill>
                              </a:ln>
                              <a:solidFill>
                                <a:schemeClr val="tx1"/>
                              </a:solidFill>
                              <a:latin typeface="Cambria Math" panose="02040503050406030204" pitchFamily="18" charset="0"/>
                            </a:rPr>
                            <m:t>𝑖</m:t>
                          </m:r>
                        </m:sub>
                      </m:sSub>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的</m:t>
                      </m:r>
                      <m:r>
                        <m:rPr>
                          <m:nor/>
                        </m:rPr>
                        <a:rPr kumimoji="1" lang="en-US" altLang="zh-CN" dirty="0">
                          <a:latin typeface="Times New Roman" panose="02020603050405020304" pitchFamily="18" charset="0"/>
                        </a:rPr>
                        <m:t>Gamma</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分布</m:t>
                      </m:r>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𝑖</m:t>
                      </m:r>
                      <m:r>
                        <a:rPr lang="zh-CN" altLang="en-US" i="1">
                          <a:ln>
                            <a:solidFill>
                              <a:schemeClr val="tx1"/>
                            </a:solidFill>
                          </a:ln>
                          <a:solidFill>
                            <a:schemeClr val="tx1"/>
                          </a:solidFill>
                          <a:latin typeface="Cambria Math" panose="02040503050406030204" pitchFamily="18" charset="0"/>
                        </a:rPr>
                        <m:t>=1,2,⋯</m:t>
                      </m:r>
                      <m:r>
                        <a:rPr lang="zh-CN" altLang="en-US" i="1">
                          <a:ln>
                            <a:solidFill>
                              <a:schemeClr val="tx1"/>
                            </a:solidFill>
                          </a:ln>
                          <a:solidFill>
                            <a:schemeClr val="tx1"/>
                          </a:solidFill>
                          <a:latin typeface="Cambria Math" panose="02040503050406030204" pitchFamily="18" charset="0"/>
                        </a:rPr>
                        <m:t>𝑛</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，则</m:t>
                      </m:r>
                    </m:oMath>
                    <m:oMath xmlns:m="http://schemas.openxmlformats.org/officeDocument/2006/math">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𝜂</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𝑛</m:t>
                          </m:r>
                        </m:sub>
                      </m:sSub>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服从</m:t>
                      </m:r>
                      <m:r>
                        <a:rPr lang="zh-CN" altLang="en-US" i="1">
                          <a:ln>
                            <a:solidFill>
                              <a:schemeClr val="tx1"/>
                            </a:solidFill>
                          </a:ln>
                          <a:solidFill>
                            <a:schemeClr val="tx1"/>
                          </a:solidFill>
                          <a:latin typeface="Cambria Math" panose="02040503050406030204" pitchFamily="18" charset="0"/>
                        </a:rPr>
                        <m:t>𝜆</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𝑟</m:t>
                      </m:r>
                      <m:r>
                        <a:rPr lang="zh-CN" altLang="en-US" i="1">
                          <a:ln>
                            <a:solidFill>
                              <a:schemeClr val="tx1"/>
                            </a:solidFill>
                          </a:ln>
                          <a:solidFill>
                            <a:schemeClr val="tx1"/>
                          </a:solidFill>
                          <a:latin typeface="Cambria Math" panose="02040503050406030204" pitchFamily="18" charset="0"/>
                        </a:rPr>
                        <m:t>的</m:t>
                      </m:r>
                      <m:r>
                        <m:rPr>
                          <m:nor/>
                        </m:rPr>
                        <a:rPr kumimoji="1" lang="en-US" altLang="zh-CN" dirty="0">
                          <a:latin typeface="Times New Roman" panose="02020603050405020304" pitchFamily="18" charset="0"/>
                        </a:rPr>
                        <m:t>Gamma</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分布。</m:t>
                      </m:r>
                    </m:oMath>
                  </m:oMathPara>
                </a14:m>
                <a:br>
                  <a:rPr lang="zh-CN" altLang="en-US" i="1" dirty="0">
                    <a:ln>
                      <a:solidFill>
                        <a:schemeClr val="tx1"/>
                      </a:solidFill>
                    </a:ln>
                    <a:solidFill>
                      <a:schemeClr val="tx1"/>
                    </a:solidFill>
                    <a:latin typeface="Cambria Math" panose="02040503050406030204" pitchFamily="18" charset="0"/>
                  </a:rPr>
                </a:br>
                <a:r>
                  <a:rPr lang="zh-CN" altLang="en-US" i="1" dirty="0">
                    <a:ln>
                      <a:solidFill>
                        <a:schemeClr val="tx1"/>
                      </a:solidFill>
                    </a:ln>
                    <a:solidFill>
                      <a:schemeClr val="tx1"/>
                    </a:solidFill>
                    <a:latin typeface="Cambria Math" panose="02040503050406030204" pitchFamily="18" charset="0"/>
                  </a:rPr>
                  <a:t>       </a:t>
                </a:r>
                <a:endParaRPr lang="en-US" altLang="zh-CN" i="1" dirty="0">
                  <a:ln>
                    <a:solidFill>
                      <a:schemeClr val="tx1"/>
                    </a:solidFill>
                  </a:ln>
                  <a:solidFill>
                    <a:schemeClr val="tx1"/>
                  </a:solidFill>
                  <a:latin typeface="Cambria Math" panose="02040503050406030204" pitchFamily="18" charset="0"/>
                </a:endParaRPr>
              </a:p>
              <a:p>
                <a:pPr>
                  <a:lnSpc>
                    <a:spcPct val="150000"/>
                  </a:lnSpc>
                </a:pPr>
                <a:r>
                  <a:rPr lang="en-US" altLang="zh-CN" i="1" dirty="0">
                    <a:ln>
                      <a:solidFill>
                        <a:schemeClr val="tx1"/>
                      </a:solidFill>
                    </a:ln>
                    <a:latin typeface="Cambria Math" panose="02040503050406030204" pitchFamily="18" charset="0"/>
                  </a:rPr>
                  <a:t>       </a:t>
                </a:r>
                <a:r>
                  <a:rPr lang="zh-CN" altLang="en-US" i="1" dirty="0">
                    <a:ln>
                      <a:solidFill>
                        <a:schemeClr val="tx1"/>
                      </a:solidFill>
                    </a:ln>
                    <a:solidFill>
                      <a:schemeClr val="tx1"/>
                    </a:solidFill>
                    <a:latin typeface="Cambria Math" panose="02040503050406030204" pitchFamily="18" charset="0"/>
                  </a:rPr>
                  <a:t> </a:t>
                </a:r>
                <a14:m>
                  <m:oMath xmlns:m="http://schemas.openxmlformats.org/officeDocument/2006/math">
                    <m:r>
                      <a:rPr lang="zh-CN" altLang="en-US" i="1">
                        <a:ln>
                          <a:solidFill>
                            <a:schemeClr val="tx1"/>
                          </a:solidFill>
                        </a:ln>
                        <a:solidFill>
                          <a:schemeClr val="tx1"/>
                        </a:solidFill>
                        <a:latin typeface="Cambria Math" panose="02040503050406030204" pitchFamily="18" charset="0"/>
                      </a:rPr>
                      <m:t>其中</m:t>
                    </m:r>
                    <m:r>
                      <a:rPr lang="zh-CN" altLang="en-US" i="1">
                        <a:ln>
                          <a:solidFill>
                            <a:schemeClr val="tx1"/>
                          </a:solidFill>
                        </a:ln>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𝑟</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𝑟</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𝑟</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𝑟</m:t>
                        </m:r>
                      </m:e>
                      <m:sub>
                        <m:r>
                          <a:rPr lang="zh-CN" altLang="en-US" i="1">
                            <a:ln>
                              <a:solidFill>
                                <a:schemeClr val="tx1"/>
                              </a:solidFill>
                            </a:ln>
                            <a:solidFill>
                              <a:schemeClr val="tx1"/>
                            </a:solidFill>
                            <a:latin typeface="Cambria Math" panose="02040503050406030204" pitchFamily="18" charset="0"/>
                          </a:rPr>
                          <m:t>𝑛</m:t>
                        </m:r>
                      </m:sub>
                    </m:sSub>
                  </m:oMath>
                </a14:m>
                <a:endParaRPr lang="zh-CN" altLang="en-US" dirty="0">
                  <a:ln>
                    <a:solidFill>
                      <a:schemeClr val="tx1"/>
                    </a:solidFill>
                  </a:ln>
                  <a:solidFill>
                    <a:schemeClr val="tx1"/>
                  </a:solidFill>
                </a:endParaRPr>
              </a:p>
            </p:txBody>
          </p:sp>
        </mc:Choice>
        <mc:Fallback xmlns="">
          <p:sp>
            <p:nvSpPr>
              <p:cNvPr id="76804" name="Object 4">
                <a:extLst>
                  <a:ext uri="{FF2B5EF4-FFF2-40B4-BE49-F238E27FC236}">
                    <a16:creationId xmlns:a16="http://schemas.microsoft.com/office/drawing/2014/main" id="{7C4F1FB2-42BD-4F0C-8271-C4E69853D131}"/>
                  </a:ext>
                </a:extLst>
              </p:cNvPr>
              <p:cNvSpPr txBox="1">
                <a:spLocks noRot="1" noChangeAspect="1" noMove="1" noResize="1" noEditPoints="1" noAdjustHandles="1" noChangeArrowheads="1" noChangeShapeType="1" noTextEdit="1"/>
              </p:cNvSpPr>
              <p:nvPr/>
            </p:nvSpPr>
            <p:spPr bwMode="auto">
              <a:xfrm>
                <a:off x="205110" y="2164158"/>
                <a:ext cx="8733780" cy="4105275"/>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76805" name="Rectangle 5">
            <a:extLst>
              <a:ext uri="{FF2B5EF4-FFF2-40B4-BE49-F238E27FC236}">
                <a16:creationId xmlns:a16="http://schemas.microsoft.com/office/drawing/2014/main" id="{5B051248-D529-4494-B491-E451547B0924}"/>
              </a:ext>
            </a:extLst>
          </p:cNvPr>
          <p:cNvSpPr>
            <a:spLocks noChangeArrowheads="1"/>
          </p:cNvSpPr>
          <p:nvPr/>
        </p:nvSpPr>
        <p:spPr bwMode="auto">
          <a:xfrm>
            <a:off x="0" y="1628775"/>
            <a:ext cx="2305050" cy="6477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pPr algn="ctr"/>
            <a:r>
              <a:rPr lang="zh-CN" altLang="en-US" sz="3600" dirty="0">
                <a:solidFill>
                  <a:srgbClr val="E313ED"/>
                </a:solidFill>
                <a:latin typeface="Times New Roman" panose="02020603050405020304" pitchFamily="18" charset="0"/>
              </a:rPr>
              <a:t>定 理</a:t>
            </a:r>
            <a:r>
              <a:rPr lang="en-US" altLang="zh-CN" sz="3600" dirty="0">
                <a:solidFill>
                  <a:srgbClr val="E313ED"/>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additive="base">
                                        <p:cTn id="7" dur="2000" fill="hold"/>
                                        <p:tgtEl>
                                          <p:spTgt spid="76805"/>
                                        </p:tgtEl>
                                        <p:attrNameLst>
                                          <p:attrName>ppt_x</p:attrName>
                                        </p:attrNameLst>
                                      </p:cBhvr>
                                      <p:tavLst>
                                        <p:tav tm="0">
                                          <p:val>
                                            <p:strVal val="#ppt_x"/>
                                          </p:val>
                                        </p:tav>
                                        <p:tav tm="100000">
                                          <p:val>
                                            <p:strVal val="#ppt_x"/>
                                          </p:val>
                                        </p:tav>
                                      </p:tavLst>
                                    </p:anim>
                                    <p:anim calcmode="lin" valueType="num">
                                      <p:cBhvr additive="base">
                                        <p:cTn id="8" dur="20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E55D8A-5BA9-4767-A7C0-F22C89BAE6D3}"/>
              </a:ext>
            </a:extLst>
          </p:cNvPr>
          <p:cNvSpPr>
            <a:spLocks noGrp="1" noChangeArrowheads="1"/>
          </p:cNvSpPr>
          <p:nvPr>
            <p:ph type="subTitle" idx="4294967295"/>
          </p:nvPr>
        </p:nvSpPr>
        <p:spPr>
          <a:xfrm>
            <a:off x="0" y="3886200"/>
            <a:ext cx="6400800" cy="1752600"/>
          </a:xfrm>
        </p:spPr>
        <p:txBody>
          <a:bodyPr/>
          <a:lstStyle/>
          <a:p>
            <a:r>
              <a:rPr lang="en-US" altLang="zh-CN" sz="3200"/>
              <a:t>  </a:t>
            </a:r>
          </a:p>
        </p:txBody>
      </p:sp>
      <mc:AlternateContent xmlns:mc="http://schemas.openxmlformats.org/markup-compatibility/2006" xmlns:a14="http://schemas.microsoft.com/office/drawing/2010/main">
        <mc:Choice Requires="a14">
          <p:sp>
            <p:nvSpPr>
              <p:cNvPr id="77828" name="Object 4">
                <a:extLst>
                  <a:ext uri="{FF2B5EF4-FFF2-40B4-BE49-F238E27FC236}">
                    <a16:creationId xmlns:a16="http://schemas.microsoft.com/office/drawing/2014/main" id="{6068EFF6-3334-4898-BB4C-16C0F06C1486}"/>
                  </a:ext>
                </a:extLst>
              </p:cNvPr>
              <p:cNvSpPr txBox="1"/>
              <p:nvPr/>
            </p:nvSpPr>
            <p:spPr bwMode="auto">
              <a:xfrm>
                <a:off x="323850" y="1844675"/>
                <a:ext cx="8512175" cy="3370263"/>
              </a:xfrm>
              <a:prstGeom prst="rect">
                <a:avLst/>
              </a:prstGeom>
              <a:noFill/>
              <a:ln>
                <a:noFill/>
              </a:ln>
              <a:effectLst/>
            </p:spPr>
            <p:txBody>
              <a:bodyPr>
                <a:normAutofit/>
              </a:bodyPr>
              <a:lstStyle/>
              <a:p>
                <a:pPr>
                  <a:lnSpc>
                    <a:spcPct val="150000"/>
                  </a:lnSpc>
                </a:pPr>
                <a14:m>
                  <m:oMathPara xmlns:m="http://schemas.openxmlformats.org/officeDocument/2006/math">
                    <m:oMathParaPr>
                      <m:jc m:val="left"/>
                    </m:oMathParaPr>
                    <m:oMath xmlns:m="http://schemas.openxmlformats.org/officeDocument/2006/math">
                      <m:m>
                        <m:mPr>
                          <m:plcHide m:val="on"/>
                          <m:mcs>
                            <m:mc>
                              <m:mcPr>
                                <m:count m:val="2"/>
                                <m:mcJc m:val="center"/>
                              </m:mcPr>
                            </m:mc>
                          </m:mcs>
                          <m:ctrlPr>
                            <a:rPr lang="zh-CN" altLang="en-US" i="1" smtClean="0">
                              <a:ln>
                                <a:solidFill>
                                  <a:schemeClr val="tx1"/>
                                </a:solidFill>
                              </a:ln>
                              <a:solidFill>
                                <a:schemeClr val="tx1"/>
                              </a:solidFill>
                              <a:latin typeface="Cambria Math" panose="02040503050406030204" pitchFamily="18" charset="0"/>
                            </a:rPr>
                          </m:ctrlPr>
                        </m:mPr>
                        <m:mr>
                          <m:e/>
                          <m:e/>
                        </m:mr>
                      </m:m>
                      <m:r>
                        <a:rPr lang="zh-CN" altLang="en-US" i="1">
                          <a:ln>
                            <a:solidFill>
                              <a:schemeClr val="tx1"/>
                            </a:solidFill>
                          </a:ln>
                          <a:solidFill>
                            <a:schemeClr val="tx1"/>
                          </a:solidFill>
                          <a:latin typeface="Cambria Math" panose="02040503050406030204" pitchFamily="18" charset="0"/>
                        </a:rPr>
                        <m:t>如果随机变量</m:t>
                      </m:r>
                      <m:r>
                        <a:rPr lang="en-US" altLang="zh-CN" b="1" i="1" smtClean="0">
                          <a:ln>
                            <a:solidFill>
                              <a:schemeClr val="tx1"/>
                            </a:solidFill>
                          </a:ln>
                          <a:solidFill>
                            <a:schemeClr val="tx1"/>
                          </a:solidFill>
                          <a:latin typeface="Cambria Math" panose="02040503050406030204" pitchFamily="18" charset="0"/>
                        </a:rPr>
                        <m:t> </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𝑛</m:t>
                          </m:r>
                        </m:sub>
                      </m:sSub>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相互独立</m:t>
                      </m:r>
                      <m:r>
                        <a:rPr lang="zh-CN" altLang="en-US" i="1">
                          <a:ln>
                            <a:solidFill>
                              <a:schemeClr val="tx1"/>
                            </a:solidFill>
                          </a:ln>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且</m:t>
                      </m:r>
                    </m:oMath>
                    <m:oMath xmlns:m="http://schemas.openxmlformats.org/officeDocument/2006/math">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𝑖</m:t>
                          </m:r>
                        </m:sub>
                      </m:sSub>
                      <m:r>
                        <a:rPr lang="zh-CN" altLang="en-US" i="1">
                          <a:ln>
                            <a:solidFill>
                              <a:schemeClr val="tx1"/>
                            </a:solidFill>
                          </a:ln>
                          <a:solidFill>
                            <a:schemeClr val="tx1"/>
                          </a:solidFill>
                          <a:latin typeface="Cambria Math" panose="02040503050406030204" pitchFamily="18" charset="0"/>
                        </a:rPr>
                        <m:t>~</m:t>
                      </m:r>
                      <m:sSup>
                        <m:sSupPr>
                          <m:ctrlPr>
                            <a:rPr lang="zh-CN" altLang="en-US" i="1">
                              <a:ln>
                                <a:solidFill>
                                  <a:schemeClr val="tx1"/>
                                </a:solidFill>
                              </a:ln>
                              <a:solidFill>
                                <a:schemeClr val="tx1"/>
                              </a:solidFill>
                              <a:latin typeface="Cambria Math" panose="02040503050406030204" pitchFamily="18" charset="0"/>
                            </a:rPr>
                          </m:ctrlPr>
                        </m:sSupPr>
                        <m:e>
                          <m:r>
                            <a:rPr lang="zh-CN" altLang="en-US" i="1">
                              <a:ln>
                                <a:solidFill>
                                  <a:schemeClr val="tx1"/>
                                </a:solidFill>
                              </a:ln>
                              <a:solidFill>
                                <a:schemeClr val="tx1"/>
                              </a:solidFill>
                              <a:latin typeface="Cambria Math" panose="02040503050406030204" pitchFamily="18" charset="0"/>
                            </a:rPr>
                            <m:t>𝜒</m:t>
                          </m:r>
                        </m:e>
                        <m:sup>
                          <m:r>
                            <a:rPr lang="zh-CN" altLang="en-US" i="1">
                              <a:ln>
                                <a:solidFill>
                                  <a:schemeClr val="tx1"/>
                                </a:solidFill>
                              </a:ln>
                              <a:solidFill>
                                <a:schemeClr val="tx1"/>
                              </a:solidFill>
                              <a:latin typeface="Cambria Math" panose="02040503050406030204" pitchFamily="18" charset="0"/>
                            </a:rPr>
                            <m:t>2</m:t>
                          </m:r>
                        </m:sup>
                      </m:sSup>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𝑛</m:t>
                          </m:r>
                        </m:e>
                        <m:sub>
                          <m:r>
                            <a:rPr lang="zh-CN" altLang="en-US" i="1">
                              <a:ln>
                                <a:solidFill>
                                  <a:schemeClr val="tx1"/>
                                </a:solidFill>
                              </a:ln>
                              <a:solidFill>
                                <a:schemeClr val="tx1"/>
                              </a:solidFill>
                              <a:latin typeface="Cambria Math" panose="02040503050406030204" pitchFamily="18" charset="0"/>
                            </a:rPr>
                            <m:t>𝑖</m:t>
                          </m:r>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𝑖</m:t>
                      </m:r>
                      <m:r>
                        <a:rPr lang="zh-CN" altLang="en-US" i="1">
                          <a:ln>
                            <a:solidFill>
                              <a:schemeClr val="tx1"/>
                            </a:solidFill>
                          </a:ln>
                          <a:solidFill>
                            <a:schemeClr val="tx1"/>
                          </a:solidFill>
                          <a:latin typeface="Cambria Math" panose="02040503050406030204" pitchFamily="18" charset="0"/>
                        </a:rPr>
                        <m:t>=1,2,⋯</m:t>
                      </m:r>
                      <m:r>
                        <a:rPr lang="zh-CN" altLang="en-US" i="1">
                          <a:ln>
                            <a:solidFill>
                              <a:schemeClr val="tx1"/>
                            </a:solidFill>
                          </a:ln>
                          <a:solidFill>
                            <a:schemeClr val="tx1"/>
                          </a:solidFill>
                          <a:latin typeface="Cambria Math" panose="02040503050406030204" pitchFamily="18" charset="0"/>
                        </a:rPr>
                        <m:t>𝑛</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则</m:t>
                      </m:r>
                    </m:oMath>
                    <m:oMath xmlns:m="http://schemas.openxmlformats.org/officeDocument/2006/math">
                      <m:m>
                        <m:mPr>
                          <m:plcHide m:val="on"/>
                          <m:mcs>
                            <m:mc>
                              <m:mcPr>
                                <m:count m:val="2"/>
                                <m:mcJc m:val="center"/>
                              </m:mcPr>
                            </m:mc>
                          </m:mcs>
                          <m:ctrlPr>
                            <a:rPr lang="zh-CN" altLang="en-US" i="1">
                              <a:ln>
                                <a:solidFill>
                                  <a:schemeClr val="tx1"/>
                                </a:solidFill>
                              </a:ln>
                              <a:solidFill>
                                <a:schemeClr val="tx1"/>
                              </a:solidFill>
                              <a:latin typeface="Cambria Math" panose="02040503050406030204" pitchFamily="18" charset="0"/>
                            </a:rPr>
                          </m:ctrlPr>
                        </m:mPr>
                        <m:mr>
                          <m:e/>
                          <m:e/>
                        </m:mr>
                      </m:m>
                      <m:r>
                        <a:rPr lang="zh-CN" altLang="en-US" i="1">
                          <a:ln>
                            <a:solidFill>
                              <a:schemeClr val="tx1"/>
                            </a:solidFill>
                          </a:ln>
                          <a:solidFill>
                            <a:schemeClr val="tx1"/>
                          </a:solidFill>
                          <a:latin typeface="Cambria Math" panose="02040503050406030204" pitchFamily="18" charset="0"/>
                        </a:rPr>
                        <m:t>𝜂</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𝑛</m:t>
                          </m:r>
                        </m:sub>
                      </m:sSub>
                    </m:oMath>
                    <m:oMath xmlns:m="http://schemas.openxmlformats.org/officeDocument/2006/math">
                      <m:r>
                        <a:rPr lang="zh-CN" altLang="en-US" i="1">
                          <a:ln>
                            <a:solidFill>
                              <a:schemeClr val="tx1"/>
                            </a:solidFill>
                          </a:ln>
                          <a:solidFill>
                            <a:schemeClr val="tx1"/>
                          </a:solidFill>
                          <a:latin typeface="Cambria Math" panose="02040503050406030204" pitchFamily="18" charset="0"/>
                        </a:rPr>
                        <m:t>服从自由度</m:t>
                      </m:r>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𝑛</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𝑛</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𝑛</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𝑛</m:t>
                          </m:r>
                        </m:e>
                        <m:sub>
                          <m:r>
                            <a:rPr lang="zh-CN" altLang="en-US" i="1">
                              <a:ln>
                                <a:solidFill>
                                  <a:schemeClr val="tx1"/>
                                </a:solidFill>
                              </a:ln>
                              <a:solidFill>
                                <a:schemeClr val="tx1"/>
                              </a:solidFill>
                              <a:latin typeface="Cambria Math" panose="02040503050406030204" pitchFamily="18" charset="0"/>
                            </a:rPr>
                            <m:t>𝑛</m:t>
                          </m:r>
                        </m:sub>
                      </m:sSub>
                      <m:r>
                        <a:rPr lang="zh-CN" altLang="en-US" i="1">
                          <a:ln>
                            <a:solidFill>
                              <a:schemeClr val="tx1"/>
                            </a:solidFill>
                          </a:ln>
                          <a:solidFill>
                            <a:schemeClr val="tx1"/>
                          </a:solidFill>
                          <a:latin typeface="Cambria Math" panose="02040503050406030204" pitchFamily="18" charset="0"/>
                        </a:rPr>
                        <m:t>的</m:t>
                      </m:r>
                      <m:sSup>
                        <m:sSupPr>
                          <m:ctrlPr>
                            <a:rPr lang="zh-CN" altLang="en-US" i="1">
                              <a:ln>
                                <a:solidFill>
                                  <a:schemeClr val="tx1"/>
                                </a:solidFill>
                              </a:ln>
                              <a:solidFill>
                                <a:schemeClr val="tx1"/>
                              </a:solidFill>
                              <a:latin typeface="Cambria Math" panose="02040503050406030204" pitchFamily="18" charset="0"/>
                            </a:rPr>
                          </m:ctrlPr>
                        </m:sSupPr>
                        <m:e>
                          <m:r>
                            <a:rPr lang="en-US" altLang="zh-CN" b="1" i="1" smtClean="0">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𝜒</m:t>
                          </m:r>
                        </m:e>
                        <m:sup>
                          <m:r>
                            <a:rPr lang="zh-CN" altLang="en-US" i="1">
                              <a:ln>
                                <a:solidFill>
                                  <a:schemeClr val="tx1"/>
                                </a:solidFill>
                              </a:ln>
                              <a:solidFill>
                                <a:schemeClr val="tx1"/>
                              </a:solidFill>
                              <a:latin typeface="Cambria Math" panose="02040503050406030204" pitchFamily="18" charset="0"/>
                            </a:rPr>
                            <m:t>2</m:t>
                          </m:r>
                        </m:sup>
                      </m:sSup>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分布。</m:t>
                      </m:r>
                    </m:oMath>
                    <m:oMath xmlns:m="http://schemas.openxmlformats.org/officeDocument/2006/math">
                      <m:r>
                        <a:rPr lang="zh-CN" altLang="en-US" i="1">
                          <a:ln>
                            <a:solidFill>
                              <a:schemeClr val="tx1"/>
                            </a:solidFill>
                          </a:ln>
                          <a:solidFill>
                            <a:schemeClr val="tx1"/>
                          </a:solidFill>
                          <a:latin typeface="Cambria Math" panose="02040503050406030204" pitchFamily="18" charset="0"/>
                        </a:rPr>
                        <m:t>即</m:t>
                      </m:r>
                      <m:r>
                        <a:rPr lang="zh-CN" altLang="en-US" i="1">
                          <a:ln>
                            <a:solidFill>
                              <a:schemeClr val="tx1"/>
                            </a:solidFill>
                          </a:ln>
                          <a:latin typeface="Cambria Math" panose="02040503050406030204" pitchFamily="18" charset="0"/>
                        </a:rPr>
                        <m:t>：</m:t>
                      </m:r>
                      <m:m>
                        <m:mPr>
                          <m:plcHide m:val="on"/>
                          <m:mcs>
                            <m:mc>
                              <m:mcPr>
                                <m:count m:val="2"/>
                                <m:mcJc m:val="center"/>
                              </m:mcPr>
                            </m:mc>
                          </m:mcs>
                          <m:ctrlPr>
                            <a:rPr lang="zh-CN" altLang="en-US" i="1">
                              <a:ln>
                                <a:solidFill>
                                  <a:schemeClr val="tx1"/>
                                </a:solidFill>
                              </a:ln>
                              <a:solidFill>
                                <a:schemeClr val="tx1"/>
                              </a:solidFill>
                              <a:latin typeface="Cambria Math" panose="02040503050406030204" pitchFamily="18" charset="0"/>
                            </a:rPr>
                          </m:ctrlPr>
                        </m:mPr>
                        <m:mr>
                          <m:e/>
                          <m:e>
                            <m:r>
                              <a:rPr lang="zh-CN" altLang="en-US" i="1">
                                <a:ln>
                                  <a:solidFill>
                                    <a:schemeClr val="tx1"/>
                                  </a:solidFill>
                                </a:ln>
                                <a:solidFill>
                                  <a:schemeClr val="tx1"/>
                                </a:solidFill>
                                <a:latin typeface="Cambria Math" panose="02040503050406030204" pitchFamily="18" charset="0"/>
                              </a:rPr>
                              <m:t>𝜂</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𝜉</m:t>
                                </m:r>
                              </m:e>
                              <m:sub>
                                <m:r>
                                  <a:rPr lang="zh-CN" altLang="en-US" i="1">
                                    <a:ln>
                                      <a:solidFill>
                                        <a:schemeClr val="tx1"/>
                                      </a:solidFill>
                                    </a:ln>
                                    <a:solidFill>
                                      <a:schemeClr val="tx1"/>
                                    </a:solidFill>
                                    <a:latin typeface="Cambria Math" panose="02040503050406030204" pitchFamily="18" charset="0"/>
                                  </a:rPr>
                                  <m:t>𝑛</m:t>
                                </m:r>
                              </m:sub>
                            </m:sSub>
                          </m:e>
                        </m:mr>
                      </m:m>
                      <m:r>
                        <a:rPr lang="zh-CN" altLang="en-US" i="1">
                          <a:ln>
                            <a:solidFill>
                              <a:schemeClr val="tx1"/>
                            </a:solidFill>
                          </a:ln>
                          <a:solidFill>
                            <a:schemeClr val="tx1"/>
                          </a:solidFill>
                          <a:latin typeface="Cambria Math" panose="02040503050406030204" pitchFamily="18" charset="0"/>
                        </a:rPr>
                        <m:t>~</m:t>
                      </m:r>
                      <m:sSup>
                        <m:sSupPr>
                          <m:ctrlPr>
                            <a:rPr lang="zh-CN" altLang="en-US" i="1">
                              <a:ln>
                                <a:solidFill>
                                  <a:schemeClr val="tx1"/>
                                </a:solidFill>
                              </a:ln>
                              <a:solidFill>
                                <a:schemeClr val="tx1"/>
                              </a:solidFill>
                              <a:latin typeface="Cambria Math" panose="02040503050406030204" pitchFamily="18" charset="0"/>
                            </a:rPr>
                          </m:ctrlPr>
                        </m:sSupPr>
                        <m:e>
                          <m:r>
                            <a:rPr lang="zh-CN" altLang="en-US" i="1">
                              <a:ln>
                                <a:solidFill>
                                  <a:schemeClr val="tx1"/>
                                </a:solidFill>
                              </a:ln>
                              <a:solidFill>
                                <a:schemeClr val="tx1"/>
                              </a:solidFill>
                              <a:latin typeface="Cambria Math" panose="02040503050406030204" pitchFamily="18" charset="0"/>
                            </a:rPr>
                            <m:t>𝜒</m:t>
                          </m:r>
                        </m:e>
                        <m:sup>
                          <m:r>
                            <a:rPr lang="zh-CN" altLang="en-US" i="1">
                              <a:ln>
                                <a:solidFill>
                                  <a:schemeClr val="tx1"/>
                                </a:solidFill>
                              </a:ln>
                              <a:solidFill>
                                <a:schemeClr val="tx1"/>
                              </a:solidFill>
                              <a:latin typeface="Cambria Math" panose="02040503050406030204" pitchFamily="18" charset="0"/>
                            </a:rPr>
                            <m:t>2</m:t>
                          </m:r>
                        </m:sup>
                      </m:sSup>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𝑛</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𝑛</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𝑛</m:t>
                          </m:r>
                        </m:e>
                        <m:sub>
                          <m:r>
                            <a:rPr lang="zh-CN" altLang="en-US" i="1">
                              <a:ln>
                                <a:solidFill>
                                  <a:schemeClr val="tx1"/>
                                </a:solidFill>
                              </a:ln>
                              <a:solidFill>
                                <a:schemeClr val="tx1"/>
                              </a:solidFill>
                              <a:latin typeface="Cambria Math" panose="02040503050406030204" pitchFamily="18" charset="0"/>
                            </a:rPr>
                            <m:t>𝑛</m:t>
                          </m:r>
                        </m:sub>
                      </m:sSub>
                      <m:r>
                        <a:rPr lang="zh-CN" altLang="en-US" i="1">
                          <a:ln>
                            <a:solidFill>
                              <a:schemeClr val="tx1"/>
                            </a:solidFill>
                          </a:ln>
                          <a:solidFill>
                            <a:schemeClr val="tx1"/>
                          </a:solidFill>
                          <a:latin typeface="Cambria Math" panose="02040503050406030204" pitchFamily="18" charset="0"/>
                        </a:rPr>
                        <m:t>)</m:t>
                      </m:r>
                    </m:oMath>
                  </m:oMathPara>
                </a14:m>
                <a:endParaRPr lang="zh-CN" altLang="en-US" dirty="0">
                  <a:ln>
                    <a:solidFill>
                      <a:schemeClr val="tx1"/>
                    </a:solidFill>
                  </a:ln>
                  <a:solidFill>
                    <a:schemeClr val="tx1"/>
                  </a:solidFill>
                </a:endParaRPr>
              </a:p>
            </p:txBody>
          </p:sp>
        </mc:Choice>
        <mc:Fallback xmlns="">
          <p:sp>
            <p:nvSpPr>
              <p:cNvPr id="77828" name="Object 4">
                <a:extLst>
                  <a:ext uri="{FF2B5EF4-FFF2-40B4-BE49-F238E27FC236}">
                    <a16:creationId xmlns:a16="http://schemas.microsoft.com/office/drawing/2014/main" id="{6068EFF6-3334-4898-BB4C-16C0F06C1486}"/>
                  </a:ext>
                </a:extLst>
              </p:cNvPr>
              <p:cNvSpPr txBox="1">
                <a:spLocks noRot="1" noChangeAspect="1" noMove="1" noResize="1" noEditPoints="1" noAdjustHandles="1" noChangeArrowheads="1" noChangeShapeType="1" noTextEdit="1"/>
              </p:cNvSpPr>
              <p:nvPr/>
            </p:nvSpPr>
            <p:spPr bwMode="auto">
              <a:xfrm>
                <a:off x="323850" y="1844675"/>
                <a:ext cx="8512175" cy="3370263"/>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77829" name="Rectangle 5">
            <a:extLst>
              <a:ext uri="{FF2B5EF4-FFF2-40B4-BE49-F238E27FC236}">
                <a16:creationId xmlns:a16="http://schemas.microsoft.com/office/drawing/2014/main" id="{1879319D-53A9-4918-9267-3F8B9C352850}"/>
              </a:ext>
            </a:extLst>
          </p:cNvPr>
          <p:cNvSpPr>
            <a:spLocks noChangeArrowheads="1"/>
          </p:cNvSpPr>
          <p:nvPr/>
        </p:nvSpPr>
        <p:spPr bwMode="auto">
          <a:xfrm>
            <a:off x="0" y="836613"/>
            <a:ext cx="2376488" cy="7921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pPr algn="ctr"/>
            <a:r>
              <a:rPr lang="zh-CN" altLang="en-US" sz="3600" dirty="0">
                <a:solidFill>
                  <a:srgbClr val="E313ED"/>
                </a:solidFill>
                <a:latin typeface="Times New Roman" panose="02020603050405020304" pitchFamily="18" charset="0"/>
              </a:rPr>
              <a:t>推  论</a:t>
            </a:r>
            <a:r>
              <a:rPr lang="en-US" altLang="zh-CN" sz="3600" dirty="0">
                <a:solidFill>
                  <a:srgbClr val="E313ED"/>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9"/>
                                        </p:tgtEl>
                                        <p:attrNameLst>
                                          <p:attrName>style.visibility</p:attrName>
                                        </p:attrNameLst>
                                      </p:cBhvr>
                                      <p:to>
                                        <p:strVal val="visible"/>
                                      </p:to>
                                    </p:set>
                                    <p:anim calcmode="lin" valueType="num">
                                      <p:cBhvr additive="base">
                                        <p:cTn id="7" dur="2000" fill="hold"/>
                                        <p:tgtEl>
                                          <p:spTgt spid="77829"/>
                                        </p:tgtEl>
                                        <p:attrNameLst>
                                          <p:attrName>ppt_x</p:attrName>
                                        </p:attrNameLst>
                                      </p:cBhvr>
                                      <p:tavLst>
                                        <p:tav tm="0">
                                          <p:val>
                                            <p:strVal val="#ppt_x"/>
                                          </p:val>
                                        </p:tav>
                                        <p:tav tm="100000">
                                          <p:val>
                                            <p:strVal val="#ppt_x"/>
                                          </p:val>
                                        </p:tav>
                                      </p:tavLst>
                                    </p:anim>
                                    <p:anim calcmode="lin" valueType="num">
                                      <p:cBhvr additive="base">
                                        <p:cTn id="8" dur="2000" fill="hold"/>
                                        <p:tgtEl>
                                          <p:spTgt spid="778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a:extLst>
              <a:ext uri="{FF2B5EF4-FFF2-40B4-BE49-F238E27FC236}">
                <a16:creationId xmlns:a16="http://schemas.microsoft.com/office/drawing/2014/main" id="{B51B445B-7A72-4B53-A8BE-401D6BB85F12}"/>
              </a:ext>
            </a:extLst>
          </p:cNvPr>
          <p:cNvSpPr>
            <a:spLocks noGrp="1" noChangeArrowheads="1"/>
          </p:cNvSpPr>
          <p:nvPr>
            <p:ph type="title"/>
          </p:nvPr>
        </p:nvSpPr>
        <p:spPr>
          <a:xfrm>
            <a:off x="85725" y="386544"/>
            <a:ext cx="8229600" cy="750912"/>
          </a:xfrm>
        </p:spPr>
        <p:txBody>
          <a:bodyPr anchor="b"/>
          <a:lstStyle/>
          <a:p>
            <a:pPr algn="l"/>
            <a:r>
              <a:rPr lang="en-US" altLang="zh-CN" sz="3600" b="1" dirty="0">
                <a:solidFill>
                  <a:schemeClr val="tx1"/>
                </a:solidFill>
                <a:latin typeface="Times New Roman" panose="02020603050405020304" pitchFamily="18" charset="0"/>
              </a:rPr>
              <a:t>7. </a:t>
            </a:r>
            <a:r>
              <a:rPr lang="zh-CN" altLang="en-US" sz="3600" b="1" dirty="0">
                <a:solidFill>
                  <a:schemeClr val="tx1"/>
                </a:solidFill>
                <a:latin typeface="Times New Roman" panose="02020603050405020304" pitchFamily="18" charset="0"/>
              </a:rPr>
              <a:t>瑞利分布</a:t>
            </a:r>
            <a:r>
              <a:rPr lang="en-US" altLang="zh-CN" sz="3600" b="1" dirty="0">
                <a:solidFill>
                  <a:schemeClr val="tx1"/>
                </a:solidFill>
                <a:latin typeface="Times New Roman" panose="02020603050405020304" pitchFamily="18" charset="0"/>
              </a:rPr>
              <a:t>(Rayleigh distribution) </a:t>
            </a:r>
          </a:p>
        </p:txBody>
      </p:sp>
      <mc:AlternateContent xmlns:mc="http://schemas.openxmlformats.org/markup-compatibility/2006" xmlns:a14="http://schemas.microsoft.com/office/drawing/2010/main">
        <mc:Choice Requires="a14">
          <p:sp>
            <p:nvSpPr>
              <p:cNvPr id="56325" name="Rectangle 3">
                <a:extLst>
                  <a:ext uri="{FF2B5EF4-FFF2-40B4-BE49-F238E27FC236}">
                    <a16:creationId xmlns:a16="http://schemas.microsoft.com/office/drawing/2014/main" id="{A972ECDA-DA81-4FAA-B4CE-37DBE5D7F983}"/>
                  </a:ext>
                </a:extLst>
              </p:cNvPr>
              <p:cNvSpPr>
                <a:spLocks noGrp="1" noChangeArrowheads="1"/>
              </p:cNvSpPr>
              <p:nvPr>
                <p:ph idx="1"/>
              </p:nvPr>
            </p:nvSpPr>
            <p:spPr/>
            <p:txBody>
              <a:bodyPr/>
              <a:lstStyle/>
              <a:p>
                <a:pPr marL="1071563" indent="-1071563">
                  <a:lnSpc>
                    <a:spcPct val="150000"/>
                  </a:lnSpc>
                  <a:spcBef>
                    <a:spcPts val="0"/>
                  </a:spcBef>
                  <a:buFontTx/>
                  <a:buNone/>
                </a:pPr>
                <a:r>
                  <a:rPr lang="zh-CN" altLang="en-US" sz="2800" b="1" dirty="0">
                    <a:solidFill>
                      <a:srgbClr val="E313ED"/>
                    </a:solidFill>
                  </a:rPr>
                  <a:t>定义：</a:t>
                </a:r>
                <a:r>
                  <a:rPr lang="zh-CN" altLang="en-US" sz="2800" b="1" dirty="0"/>
                  <a:t>当一个随机二维向量的两个分量呈独立的、有着相同的方差的正态分布时，这个向量的</a:t>
                </a:r>
                <a:r>
                  <a:rPr lang="zh-CN" altLang="en-US" sz="3600" b="1" dirty="0">
                    <a:solidFill>
                      <a:srgbClr val="FFFF00"/>
                    </a:solidFill>
                  </a:rPr>
                  <a:t>“模”</a:t>
                </a:r>
                <a:r>
                  <a:rPr lang="zh-CN" altLang="en-US" sz="2800" b="1" dirty="0"/>
                  <a:t>呈瑞利分布。</a:t>
                </a:r>
                <a:endParaRPr lang="en-US" altLang="zh-CN" sz="2800" b="1" dirty="0"/>
              </a:p>
              <a:p>
                <a:pPr marL="20638" indent="-20638">
                  <a:lnSpc>
                    <a:spcPct val="150000"/>
                  </a:lnSpc>
                  <a:spcBef>
                    <a:spcPts val="0"/>
                  </a:spcBef>
                  <a:buFontTx/>
                  <a:buNone/>
                </a:pPr>
                <a:endParaRPr lang="en-US" altLang="zh-CN" sz="2800" b="1" dirty="0"/>
              </a:p>
              <a:p>
                <a:pPr marL="20638" indent="-20638">
                  <a:lnSpc>
                    <a:spcPct val="150000"/>
                  </a:lnSpc>
                  <a:spcBef>
                    <a:spcPts val="0"/>
                  </a:spcBef>
                  <a:buFontTx/>
                  <a:buNone/>
                </a:pPr>
                <a:r>
                  <a:rPr lang="zh-CN" altLang="en-US" sz="2800" b="1" dirty="0"/>
                  <a:t>概率密度函数为：   </a:t>
                </a:r>
                <a:endParaRPr lang="en-US" altLang="zh-CN" sz="2800" b="1" dirty="0"/>
              </a:p>
              <a:p>
                <a:pPr marL="20638" indent="-20638">
                  <a:lnSpc>
                    <a:spcPct val="150000"/>
                  </a:lnSpc>
                  <a:spcBef>
                    <a:spcPts val="0"/>
                  </a:spcBef>
                  <a:buFontTx/>
                  <a:buNone/>
                </a:pPr>
                <a:r>
                  <a:rPr lang="zh-CN" altLang="en-US" sz="2800" b="1" dirty="0"/>
                  <a:t>分布函数为：               </a:t>
                </a:r>
                <a14:m>
                  <m:oMath xmlns:m="http://schemas.openxmlformats.org/officeDocument/2006/math">
                    <m:r>
                      <a:rPr lang="en-US" altLang="zh-CN" sz="2800" b="1" i="1" smtClean="0">
                        <a:latin typeface="Cambria Math" panose="02040503050406030204" pitchFamily="18" charset="0"/>
                      </a:rPr>
                      <m:t>𝑭</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𝒙</m:t>
                        </m:r>
                      </m:e>
                    </m:d>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𝒆𝒙𝒑</m:t>
                    </m:r>
                    <m:d>
                      <m:dPr>
                        <m:ctrlPr>
                          <a:rPr lang="en-US" altLang="zh-CN" sz="2800" b="1" i="1" smtClean="0">
                            <a:latin typeface="Cambria Math" panose="02040503050406030204" pitchFamily="18" charset="0"/>
                          </a:rPr>
                        </m:ctrlPr>
                      </m:dPr>
                      <m:e>
                        <m:f>
                          <m:fPr>
                            <m:ctrlPr>
                              <a:rPr lang="en-US" altLang="zh-CN" sz="2800" b="1" i="1" smtClean="0">
                                <a:latin typeface="Cambria Math" panose="02040503050406030204" pitchFamily="18" charset="0"/>
                              </a:rPr>
                            </m:ctrlPr>
                          </m:fPr>
                          <m:num>
                            <m:r>
                              <a:rPr lang="en-US" altLang="zh-CN" sz="2800" b="1" i="1" smtClean="0">
                                <a:latin typeface="Cambria Math" panose="02040503050406030204" pitchFamily="18" charset="0"/>
                              </a:rPr>
                              <m:t>−</m:t>
                            </m:r>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𝒙</m:t>
                                </m:r>
                              </m:e>
                              <m:sup>
                                <m:r>
                                  <a:rPr lang="en-US" altLang="zh-CN" sz="2800" b="1" i="1" smtClean="0">
                                    <a:latin typeface="Cambria Math" panose="02040503050406030204" pitchFamily="18" charset="0"/>
                                  </a:rPr>
                                  <m:t>𝟐</m:t>
                                </m:r>
                              </m:sup>
                            </m:sSup>
                          </m:num>
                          <m:den>
                            <m:r>
                              <a:rPr lang="en-US" altLang="zh-CN" sz="2800" b="1" i="1" smtClean="0">
                                <a:latin typeface="Cambria Math" panose="02040503050406030204" pitchFamily="18" charset="0"/>
                              </a:rPr>
                              <m:t>𝟐</m:t>
                            </m:r>
                            <m:sSup>
                              <m:sSupPr>
                                <m:ctrlPr>
                                  <a:rPr lang="en-US" altLang="zh-CN" sz="2800" b="1" i="1" smtClean="0">
                                    <a:latin typeface="Cambria Math" panose="02040503050406030204" pitchFamily="18" charset="0"/>
                                  </a:rPr>
                                </m:ctrlPr>
                              </m:sSupPr>
                              <m:e>
                                <m:r>
                                  <a:rPr lang="zh-CN" altLang="en-US" sz="2800" b="1" i="1" smtClean="0">
                                    <a:latin typeface="Cambria Math" panose="02040503050406030204" pitchFamily="18" charset="0"/>
                                  </a:rPr>
                                  <m:t>𝝈</m:t>
                                </m:r>
                              </m:e>
                              <m:sup>
                                <m:r>
                                  <a:rPr lang="en-US" altLang="zh-CN" sz="2800" b="1" i="1" smtClean="0">
                                    <a:latin typeface="Cambria Math" panose="02040503050406030204" pitchFamily="18" charset="0"/>
                                  </a:rPr>
                                  <m:t>𝟐</m:t>
                                </m:r>
                              </m:sup>
                            </m:sSup>
                          </m:den>
                        </m:f>
                      </m:e>
                    </m:d>
                  </m:oMath>
                </a14:m>
                <a:endParaRPr lang="zh-CN" altLang="en-US" sz="2800" b="1" dirty="0"/>
              </a:p>
              <a:p>
                <a:pPr marL="20638" indent="-20638">
                  <a:lnSpc>
                    <a:spcPct val="150000"/>
                  </a:lnSpc>
                  <a:spcBef>
                    <a:spcPts val="0"/>
                  </a:spcBef>
                  <a:buFontTx/>
                  <a:buNone/>
                </a:pPr>
                <a:endParaRPr lang="zh-CN" altLang="en-US" sz="2800" b="1" dirty="0"/>
              </a:p>
              <a:p>
                <a:pPr marL="20638" indent="-20638">
                  <a:lnSpc>
                    <a:spcPct val="150000"/>
                  </a:lnSpc>
                  <a:spcBef>
                    <a:spcPts val="0"/>
                  </a:spcBef>
                  <a:buFontTx/>
                  <a:buNone/>
                </a:pPr>
                <a:endParaRPr lang="zh-CN" altLang="en-US" sz="2800" b="1" dirty="0"/>
              </a:p>
              <a:p>
                <a:pPr marL="20638" indent="-20638">
                  <a:lnSpc>
                    <a:spcPct val="150000"/>
                  </a:lnSpc>
                  <a:spcBef>
                    <a:spcPts val="0"/>
                  </a:spcBef>
                  <a:buFontTx/>
                  <a:buNone/>
                </a:pPr>
                <a:endParaRPr lang="zh-CN" altLang="en-US" sz="2800" b="1" dirty="0"/>
              </a:p>
              <a:p>
                <a:pPr marL="20638" indent="-20638">
                  <a:lnSpc>
                    <a:spcPct val="150000"/>
                  </a:lnSpc>
                  <a:spcBef>
                    <a:spcPts val="0"/>
                  </a:spcBef>
                  <a:buFontTx/>
                  <a:buNone/>
                </a:pPr>
                <a:endParaRPr lang="en-US" altLang="zh-CN" sz="2800" b="1" dirty="0"/>
              </a:p>
            </p:txBody>
          </p:sp>
        </mc:Choice>
        <mc:Fallback xmlns="">
          <p:sp>
            <p:nvSpPr>
              <p:cNvPr id="56325" name="Rectangle 3">
                <a:extLst>
                  <a:ext uri="{FF2B5EF4-FFF2-40B4-BE49-F238E27FC236}">
                    <a16:creationId xmlns:a16="http://schemas.microsoft.com/office/drawing/2014/main" id="{A972ECDA-DA81-4FAA-B4CE-37DBE5D7F983}"/>
                  </a:ext>
                </a:extLst>
              </p:cNvPr>
              <p:cNvSpPr>
                <a:spLocks noGrp="1" noRot="1" noChangeAspect="1" noMove="1" noResize="1" noEditPoints="1" noAdjustHandles="1" noChangeArrowheads="1" noChangeShapeType="1" noTextEdit="1"/>
              </p:cNvSpPr>
              <p:nvPr>
                <p:ph idx="1"/>
              </p:nvPr>
            </p:nvSpPr>
            <p:spPr>
              <a:blipFill>
                <a:blip r:embed="rId2"/>
                <a:stretch>
                  <a:fillRect l="-14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521649C-3C02-4F7F-A182-1AF835F86619}"/>
                  </a:ext>
                </a:extLst>
              </p:cNvPr>
              <p:cNvSpPr txBox="1"/>
              <p:nvPr/>
            </p:nvSpPr>
            <p:spPr>
              <a:xfrm>
                <a:off x="4067944" y="3717032"/>
                <a:ext cx="3485826" cy="13971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𝒆𝒙𝒑</m:t>
                          </m:r>
                          <m:d>
                            <m:dPr>
                              <m:ctrlPr>
                                <a:rPr lang="en-US" altLang="zh-CN" b="1" i="1" smtClean="0">
                                  <a:latin typeface="Cambria Math" panose="02040503050406030204" pitchFamily="18" charset="0"/>
                                  <a:ea typeface="Cambria Math" panose="02040503050406030204" pitchFamily="18" charset="0"/>
                                </a:rPr>
                              </m:ctrlPr>
                            </m:dPr>
                            <m:e>
                              <m:f>
                                <m:fPr>
                                  <m:ctrlPr>
                                    <a:rPr lang="en-US" altLang="zh-CN" b="1" i="1" smtClean="0">
                                      <a:latin typeface="Cambria Math" panose="02040503050406030204" pitchFamily="18" charset="0"/>
                                      <a:ea typeface="Cambria Math" panose="02040503050406030204" pitchFamily="18" charset="0"/>
                                    </a:rPr>
                                  </m:ctrlPr>
                                </m:fPr>
                                <m:num>
                                  <m:r>
                                    <a:rPr lang="en-US" altLang="zh-CN" b="1" i="1" smtClean="0">
                                      <a:latin typeface="Cambria Math" panose="02040503050406030204" pitchFamily="18" charset="0"/>
                                      <a:ea typeface="Cambria Math" panose="02040503050406030204" pitchFamily="18" charset="0"/>
                                    </a:rPr>
                                    <m:t>−</m:t>
                                  </m:r>
                                  <m:sSup>
                                    <m:sSupPr>
                                      <m:ctrlPr>
                                        <a:rPr lang="en-US" altLang="zh-CN" b="1" i="1" smtClean="0">
                                          <a:latin typeface="Cambria Math" panose="02040503050406030204" pitchFamily="18" charset="0"/>
                                          <a:ea typeface="Cambria Math" panose="02040503050406030204" pitchFamily="18" charset="0"/>
                                        </a:rPr>
                                      </m:ctrlPr>
                                    </m:sSupPr>
                                    <m:e>
                                      <m:r>
                                        <a:rPr lang="en-US" altLang="zh-CN" b="1" i="1" smtClean="0">
                                          <a:latin typeface="Cambria Math" panose="02040503050406030204" pitchFamily="18" charset="0"/>
                                          <a:ea typeface="Cambria Math" panose="02040503050406030204" pitchFamily="18" charset="0"/>
                                        </a:rPr>
                                        <m:t>𝒙</m:t>
                                      </m:r>
                                    </m:e>
                                    <m:sup>
                                      <m:r>
                                        <a:rPr lang="en-US" altLang="zh-CN" b="1" i="1" smtClean="0">
                                          <a:latin typeface="Cambria Math" panose="02040503050406030204" pitchFamily="18" charset="0"/>
                                          <a:ea typeface="Cambria Math" panose="02040503050406030204" pitchFamily="18" charset="0"/>
                                        </a:rPr>
                                        <m:t>𝟐</m:t>
                                      </m:r>
                                    </m:sup>
                                  </m:sSup>
                                </m:num>
                                <m:den>
                                  <m:r>
                                    <a:rPr lang="en-US" altLang="zh-CN" b="1" i="1" smtClean="0">
                                      <a:latin typeface="Cambria Math" panose="02040503050406030204" pitchFamily="18" charset="0"/>
                                      <a:ea typeface="Cambria Math" panose="02040503050406030204" pitchFamily="18" charset="0"/>
                                    </a:rPr>
                                    <m:t>𝟐</m:t>
                                  </m:r>
                                  <m:sSup>
                                    <m:sSupPr>
                                      <m:ctrlPr>
                                        <a:rPr lang="en-US" altLang="zh-CN" b="1" i="1" smtClean="0">
                                          <a:latin typeface="Cambria Math" panose="02040503050406030204" pitchFamily="18" charset="0"/>
                                          <a:ea typeface="Cambria Math" panose="02040503050406030204" pitchFamily="18" charset="0"/>
                                        </a:rPr>
                                      </m:ctrlPr>
                                    </m:sSupPr>
                                    <m:e>
                                      <m:r>
                                        <a:rPr lang="zh-CN" altLang="en-US" b="1" i="1" smtClean="0">
                                          <a:latin typeface="Cambria Math" panose="02040503050406030204" pitchFamily="18" charset="0"/>
                                          <a:ea typeface="Cambria Math" panose="02040503050406030204" pitchFamily="18" charset="0"/>
                                        </a:rPr>
                                        <m:t>𝝈</m:t>
                                      </m:r>
                                    </m:e>
                                    <m:sup>
                                      <m:r>
                                        <a:rPr lang="en-US" altLang="zh-CN" b="1" i="1" smtClean="0">
                                          <a:latin typeface="Cambria Math" panose="02040503050406030204" pitchFamily="18" charset="0"/>
                                          <a:ea typeface="Cambria Math" panose="02040503050406030204" pitchFamily="18" charset="0"/>
                                        </a:rPr>
                                        <m:t>𝟐</m:t>
                                      </m:r>
                                    </m:sup>
                                  </m:sSup>
                                </m:den>
                              </m:f>
                            </m:e>
                          </m:d>
                        </m:num>
                        <m:den>
                          <m:sSup>
                            <m:sSupPr>
                              <m:ctrlPr>
                                <a:rPr lang="en-US" altLang="zh-CN" b="1" i="1" smtClean="0">
                                  <a:latin typeface="Cambria Math" panose="02040503050406030204" pitchFamily="18" charset="0"/>
                                </a:rPr>
                              </m:ctrlPr>
                            </m:sSupPr>
                            <m:e>
                              <m:r>
                                <a:rPr lang="zh-CN" altLang="en-US" b="1" i="1" smtClean="0">
                                  <a:latin typeface="Cambria Math" panose="02040503050406030204" pitchFamily="18" charset="0"/>
                                </a:rPr>
                                <m:t>𝝈</m:t>
                              </m:r>
                            </m:e>
                            <m:sup>
                              <m:r>
                                <a:rPr lang="en-US" altLang="zh-CN" b="1" i="1" smtClean="0">
                                  <a:latin typeface="Cambria Math" panose="02040503050406030204" pitchFamily="18" charset="0"/>
                                </a:rPr>
                                <m:t>𝟐</m:t>
                              </m:r>
                            </m:sup>
                          </m:sSup>
                        </m:den>
                      </m:f>
                    </m:oMath>
                  </m:oMathPara>
                </a14:m>
                <a:endParaRPr lang="zh-CN" altLang="en-US" dirty="0"/>
              </a:p>
            </p:txBody>
          </p:sp>
        </mc:Choice>
        <mc:Fallback xmlns="">
          <p:sp>
            <p:nvSpPr>
              <p:cNvPr id="2" name="文本框 1">
                <a:extLst>
                  <a:ext uri="{FF2B5EF4-FFF2-40B4-BE49-F238E27FC236}">
                    <a16:creationId xmlns:a16="http://schemas.microsoft.com/office/drawing/2014/main" id="{3521649C-3C02-4F7F-A182-1AF835F86619}"/>
                  </a:ext>
                </a:extLst>
              </p:cNvPr>
              <p:cNvSpPr txBox="1">
                <a:spLocks noRot="1" noChangeAspect="1" noMove="1" noResize="1" noEditPoints="1" noAdjustHandles="1" noChangeArrowheads="1" noChangeShapeType="1" noTextEdit="1"/>
              </p:cNvSpPr>
              <p:nvPr/>
            </p:nvSpPr>
            <p:spPr>
              <a:xfrm>
                <a:off x="4067944" y="3717032"/>
                <a:ext cx="3485826" cy="1397177"/>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99AAE6F6-5E18-40AF-8CE4-7AA9040CE53A}"/>
              </a:ext>
            </a:extLst>
          </p:cNvPr>
          <p:cNvSpPr>
            <a:spLocks noGrp="1" noChangeArrowheads="1"/>
          </p:cNvSpPr>
          <p:nvPr>
            <p:ph type="subTitle" idx="4294967295"/>
          </p:nvPr>
        </p:nvSpPr>
        <p:spPr>
          <a:xfrm>
            <a:off x="0" y="3886200"/>
            <a:ext cx="6400800" cy="1752600"/>
          </a:xfrm>
        </p:spPr>
        <p:txBody>
          <a:bodyPr/>
          <a:lstStyle/>
          <a:p>
            <a:r>
              <a:rPr lang="en-US" altLang="zh-CN" sz="3200"/>
              <a:t>  </a:t>
            </a:r>
          </a:p>
        </p:txBody>
      </p:sp>
      <p:sp>
        <p:nvSpPr>
          <p:cNvPr id="78852" name="Rectangle 4">
            <a:extLst>
              <a:ext uri="{FF2B5EF4-FFF2-40B4-BE49-F238E27FC236}">
                <a16:creationId xmlns:a16="http://schemas.microsoft.com/office/drawing/2014/main" id="{DA4BD19D-4B6F-4271-B091-D4CB8B06E12B}"/>
              </a:ext>
            </a:extLst>
          </p:cNvPr>
          <p:cNvSpPr>
            <a:spLocks noChangeArrowheads="1"/>
          </p:cNvSpPr>
          <p:nvPr/>
        </p:nvSpPr>
        <p:spPr bwMode="auto">
          <a:xfrm>
            <a:off x="0" y="476250"/>
            <a:ext cx="2376488" cy="7921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pPr algn="ctr"/>
            <a:r>
              <a:rPr lang="zh-CN" altLang="en-US" sz="3600" dirty="0">
                <a:solidFill>
                  <a:srgbClr val="E313ED"/>
                </a:solidFill>
                <a:latin typeface="Times New Roman" panose="02020603050405020304" pitchFamily="18" charset="0"/>
              </a:rPr>
              <a:t>应用</a:t>
            </a:r>
            <a:r>
              <a:rPr lang="en-US" altLang="zh-CN" sz="3600" dirty="0">
                <a:solidFill>
                  <a:srgbClr val="E313ED"/>
                </a:solidFill>
                <a:latin typeface="Times New Roman" panose="02020603050405020304" pitchFamily="18" charset="0"/>
              </a:rPr>
              <a:t>:</a:t>
            </a:r>
          </a:p>
        </p:txBody>
      </p:sp>
      <p:sp>
        <p:nvSpPr>
          <p:cNvPr id="78853" name="Rectangle 3">
            <a:extLst>
              <a:ext uri="{FF2B5EF4-FFF2-40B4-BE49-F238E27FC236}">
                <a16:creationId xmlns:a16="http://schemas.microsoft.com/office/drawing/2014/main" id="{24A8C94E-B610-4F19-A650-7438820C00D9}"/>
              </a:ext>
            </a:extLst>
          </p:cNvPr>
          <p:cNvSpPr>
            <a:spLocks noChangeArrowheads="1"/>
          </p:cNvSpPr>
          <p:nvPr/>
        </p:nvSpPr>
        <p:spPr bwMode="auto">
          <a:xfrm>
            <a:off x="576263" y="1127542"/>
            <a:ext cx="8280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0638" indent="-20638" algn="ctr">
              <a:spcBef>
                <a:spcPct val="20000"/>
              </a:spcBef>
              <a:defRPr sz="3200">
                <a:solidFill>
                  <a:schemeClr val="tx1"/>
                </a:solidFill>
                <a:latin typeface="Arial" panose="020B0604020202020204" pitchFamily="34" charset="0"/>
                <a:ea typeface="宋体" panose="02010600030101010101" pitchFamily="2" charset="-122"/>
              </a:defRPr>
            </a:lvl1pPr>
            <a:lvl2pPr marL="935038" indent="-285750" algn="ctr">
              <a:spcBef>
                <a:spcPct val="20000"/>
              </a:spcBef>
              <a:defRPr sz="2800">
                <a:solidFill>
                  <a:schemeClr val="tx1"/>
                </a:solidFill>
                <a:latin typeface="Arial" panose="020B0604020202020204" pitchFamily="34" charset="0"/>
                <a:ea typeface="宋体" panose="02010600030101010101" pitchFamily="2" charset="-122"/>
              </a:defRPr>
            </a:lvl2pPr>
            <a:lvl3pPr marL="1343025" indent="-228600" algn="ctr">
              <a:spcBef>
                <a:spcPct val="20000"/>
              </a:spcBef>
              <a:defRPr sz="2400">
                <a:solidFill>
                  <a:schemeClr val="tx1"/>
                </a:solidFill>
                <a:latin typeface="Arial" panose="020B0604020202020204" pitchFamily="34" charset="0"/>
                <a:ea typeface="宋体" panose="02010600030101010101" pitchFamily="2" charset="-122"/>
              </a:defRPr>
            </a:lvl3pPr>
            <a:lvl4pPr marL="1751013" indent="-228600" algn="ctr">
              <a:spcBef>
                <a:spcPct val="20000"/>
              </a:spcBef>
              <a:defRPr sz="2000">
                <a:solidFill>
                  <a:schemeClr val="tx1"/>
                </a:solidFill>
                <a:latin typeface="Arial" panose="020B0604020202020204" pitchFamily="34" charset="0"/>
                <a:ea typeface="宋体" panose="02010600030101010101" pitchFamily="2" charset="-122"/>
              </a:defRPr>
            </a:lvl4pPr>
            <a:lvl5pPr marL="2159000" indent="-228600" algn="ctr">
              <a:spcBef>
                <a:spcPct val="20000"/>
              </a:spcBef>
              <a:defRPr sz="2000">
                <a:solidFill>
                  <a:schemeClr val="tx1"/>
                </a:solidFill>
                <a:latin typeface="Arial" panose="020B0604020202020204" pitchFamily="34" charset="0"/>
                <a:ea typeface="宋体" panose="02010600030101010101" pitchFamily="2" charset="-122"/>
              </a:defRPr>
            </a:lvl5pPr>
            <a:lvl6pPr marL="26162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30734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5306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9878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l">
              <a:lnSpc>
                <a:spcPct val="125000"/>
              </a:lnSpc>
            </a:pPr>
            <a:r>
              <a:rPr lang="en-US" altLang="zh-CN" sz="2800" dirty="0"/>
              <a:t>       </a:t>
            </a:r>
            <a:r>
              <a:rPr lang="zh-CN" altLang="en-US" sz="2800" dirty="0"/>
              <a:t>瑞利分布常用于描述平坦衰落信号接收包络或独立多径分量接受包络统计时变特性。如两个正交高斯噪声信号之和的包络线服从瑞利分布。</a:t>
            </a:r>
          </a:p>
        </p:txBody>
      </p:sp>
      <p:pic>
        <p:nvPicPr>
          <p:cNvPr id="78855" name="Picture 7" descr="29381f30e924b899b498b4db69061d950b7bf6a9">
            <a:extLst>
              <a:ext uri="{FF2B5EF4-FFF2-40B4-BE49-F238E27FC236}">
                <a16:creationId xmlns:a16="http://schemas.microsoft.com/office/drawing/2014/main" id="{22CD71B0-6389-4520-A8E7-F3F1FAB1A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2155" y="2886075"/>
            <a:ext cx="4286250" cy="3495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2"/>
                                        </p:tgtEl>
                                        <p:attrNameLst>
                                          <p:attrName>style.visibility</p:attrName>
                                        </p:attrNameLst>
                                      </p:cBhvr>
                                      <p:to>
                                        <p:strVal val="visible"/>
                                      </p:to>
                                    </p:set>
                                    <p:anim calcmode="lin" valueType="num">
                                      <p:cBhvr additive="base">
                                        <p:cTn id="7" dur="2000" fill="hold"/>
                                        <p:tgtEl>
                                          <p:spTgt spid="78852"/>
                                        </p:tgtEl>
                                        <p:attrNameLst>
                                          <p:attrName>ppt_x</p:attrName>
                                        </p:attrNameLst>
                                      </p:cBhvr>
                                      <p:tavLst>
                                        <p:tav tm="0">
                                          <p:val>
                                            <p:strVal val="#ppt_x"/>
                                          </p:val>
                                        </p:tav>
                                        <p:tav tm="100000">
                                          <p:val>
                                            <p:strVal val="#ppt_x"/>
                                          </p:val>
                                        </p:tav>
                                      </p:tavLst>
                                    </p:anim>
                                    <p:anim calcmode="lin" valueType="num">
                                      <p:cBhvr additive="base">
                                        <p:cTn id="8" dur="2000" fill="hold"/>
                                        <p:tgtEl>
                                          <p:spTgt spid="788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a:extLst>
              <a:ext uri="{FF2B5EF4-FFF2-40B4-BE49-F238E27FC236}">
                <a16:creationId xmlns:a16="http://schemas.microsoft.com/office/drawing/2014/main" id="{29858799-AFE1-4802-B6B2-DC84359A422F}"/>
              </a:ext>
            </a:extLst>
          </p:cNvPr>
          <p:cNvSpPr>
            <a:spLocks noGrp="1" noChangeArrowheads="1"/>
          </p:cNvSpPr>
          <p:nvPr>
            <p:ph type="title"/>
          </p:nvPr>
        </p:nvSpPr>
        <p:spPr>
          <a:xfrm>
            <a:off x="168275" y="363204"/>
            <a:ext cx="8229600" cy="787400"/>
          </a:xfrm>
        </p:spPr>
        <p:txBody>
          <a:bodyPr anchor="b"/>
          <a:lstStyle/>
          <a:p>
            <a:pPr algn="l"/>
            <a:r>
              <a:rPr lang="en-US" altLang="zh-CN" sz="3600" b="1" dirty="0">
                <a:solidFill>
                  <a:schemeClr val="tx1"/>
                </a:solidFill>
                <a:latin typeface="Times New Roman" panose="02020603050405020304" pitchFamily="18" charset="0"/>
              </a:rPr>
              <a:t>8. </a:t>
            </a:r>
            <a:r>
              <a:rPr lang="zh-CN" altLang="en-US" sz="3600" b="1" dirty="0">
                <a:solidFill>
                  <a:schemeClr val="tx1"/>
                </a:solidFill>
                <a:latin typeface="Times New Roman" panose="02020603050405020304" pitchFamily="18" charset="0"/>
              </a:rPr>
              <a:t>韦伯分布（</a:t>
            </a:r>
            <a:r>
              <a:rPr lang="en-US" altLang="zh-CN" sz="3600" b="1" dirty="0">
                <a:solidFill>
                  <a:schemeClr val="tx1"/>
                </a:solidFill>
                <a:latin typeface="Times New Roman" panose="02020603050405020304" pitchFamily="18" charset="0"/>
              </a:rPr>
              <a:t>Weibull distribution</a:t>
            </a:r>
            <a:r>
              <a:rPr lang="zh-CN" altLang="en-US" sz="3600" b="1" dirty="0">
                <a:solidFill>
                  <a:schemeClr val="tx1"/>
                </a:solidFill>
                <a:latin typeface="Times New Roman" panose="02020603050405020304" pitchFamily="18" charset="0"/>
              </a:rPr>
              <a:t>） </a:t>
            </a:r>
          </a:p>
        </p:txBody>
      </p:sp>
      <p:sp>
        <p:nvSpPr>
          <p:cNvPr id="57349" name="Rectangle 3">
            <a:extLst>
              <a:ext uri="{FF2B5EF4-FFF2-40B4-BE49-F238E27FC236}">
                <a16:creationId xmlns:a16="http://schemas.microsoft.com/office/drawing/2014/main" id="{63D55EE9-50D2-4532-8975-19E4CE8E4C22}"/>
              </a:ext>
            </a:extLst>
          </p:cNvPr>
          <p:cNvSpPr>
            <a:spLocks noGrp="1" noChangeArrowheads="1"/>
          </p:cNvSpPr>
          <p:nvPr>
            <p:ph idx="1"/>
          </p:nvPr>
        </p:nvSpPr>
        <p:spPr>
          <a:xfrm>
            <a:off x="241301" y="1431925"/>
            <a:ext cx="8229600" cy="4495800"/>
          </a:xfrm>
        </p:spPr>
        <p:txBody>
          <a:bodyPr/>
          <a:lstStyle/>
          <a:p>
            <a:pPr marL="1071563" indent="-1071563">
              <a:lnSpc>
                <a:spcPct val="150000"/>
              </a:lnSpc>
              <a:spcBef>
                <a:spcPts val="0"/>
              </a:spcBef>
              <a:buNone/>
            </a:pPr>
            <a:r>
              <a:rPr lang="zh-CN" altLang="en-US" sz="2900" b="1" dirty="0">
                <a:solidFill>
                  <a:srgbClr val="E313ED"/>
                </a:solidFill>
              </a:rPr>
              <a:t>定义：</a:t>
            </a:r>
            <a:r>
              <a:rPr lang="zh-CN" altLang="en-US" sz="2900" b="1" dirty="0"/>
              <a:t>韦氏分布或威布尔分布，是可靠性分析和寿命检验的理论基础。</a:t>
            </a:r>
            <a:endParaRPr lang="en-US" altLang="zh-CN" sz="2900" b="1" dirty="0"/>
          </a:p>
          <a:p>
            <a:pPr marL="1071563" indent="-1071563">
              <a:lnSpc>
                <a:spcPct val="150000"/>
              </a:lnSpc>
              <a:spcBef>
                <a:spcPts val="0"/>
              </a:spcBef>
              <a:buNone/>
            </a:pPr>
            <a:endParaRPr lang="en-US" altLang="zh-CN" sz="2900" b="1" dirty="0"/>
          </a:p>
          <a:p>
            <a:pPr marL="1071563" indent="-1071563">
              <a:lnSpc>
                <a:spcPct val="150000"/>
              </a:lnSpc>
              <a:spcBef>
                <a:spcPts val="0"/>
              </a:spcBef>
              <a:buNone/>
            </a:pPr>
            <a:r>
              <a:rPr lang="zh-CN" altLang="en-US" sz="2900" b="1" dirty="0"/>
              <a:t>概率密度函数为：</a:t>
            </a:r>
            <a:endParaRPr lang="en-US" altLang="zh-CN" sz="2900" b="1" dirty="0"/>
          </a:p>
          <a:p>
            <a:pPr marL="1071563" indent="-1071563">
              <a:lnSpc>
                <a:spcPct val="150000"/>
              </a:lnSpc>
              <a:spcBef>
                <a:spcPts val="0"/>
              </a:spcBef>
              <a:buNone/>
            </a:pPr>
            <a:endParaRPr lang="en-US" altLang="zh-CN" sz="2900" b="1" dirty="0"/>
          </a:p>
          <a:p>
            <a:pPr marL="1071563" indent="-1071563">
              <a:lnSpc>
                <a:spcPct val="150000"/>
              </a:lnSpc>
              <a:spcBef>
                <a:spcPts val="0"/>
              </a:spcBef>
              <a:buNone/>
            </a:pPr>
            <a:r>
              <a:rPr lang="zh-CN" altLang="en-US" sz="2900" b="1" dirty="0"/>
              <a:t>分布函数为： </a:t>
            </a:r>
            <a:endParaRPr lang="zh-CN" altLang="en-US" sz="4400" b="1" dirty="0"/>
          </a:p>
        </p:txBody>
      </p:sp>
      <p:sp>
        <p:nvSpPr>
          <p:cNvPr id="57350" name="AutoShape 6" descr="49E$65I8`4V{8GK13`JSR">
            <a:extLst>
              <a:ext uri="{FF2B5EF4-FFF2-40B4-BE49-F238E27FC236}">
                <a16:creationId xmlns:a16="http://schemas.microsoft.com/office/drawing/2014/main" id="{9DBE42D7-026E-4890-847C-0BFEC7F38278}"/>
              </a:ext>
            </a:extLst>
          </p:cNvPr>
          <p:cNvSpPr>
            <a:spLocks noChangeAspect="1" noChangeArrowheads="1"/>
          </p:cNvSpPr>
          <p:nvPr/>
        </p:nvSpPr>
        <p:spPr bwMode="auto">
          <a:xfrm>
            <a:off x="4562475" y="39973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p:sp>
        <p:nvSpPr>
          <p:cNvPr id="57351" name="AutoShape 7" descr="49E$65I8`4V{8GK13`JSR">
            <a:extLst>
              <a:ext uri="{FF2B5EF4-FFF2-40B4-BE49-F238E27FC236}">
                <a16:creationId xmlns:a16="http://schemas.microsoft.com/office/drawing/2014/main" id="{51791237-695F-4C85-9EFF-CA0EFA76C329}"/>
              </a:ext>
            </a:extLst>
          </p:cNvPr>
          <p:cNvSpPr>
            <a:spLocks noChangeAspect="1" noChangeArrowheads="1"/>
          </p:cNvSpPr>
          <p:nvPr/>
        </p:nvSpPr>
        <p:spPr bwMode="auto">
          <a:xfrm>
            <a:off x="4562475" y="39973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1800" b="0">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1B7A2DC-F425-4FDE-8B07-8F7273403546}"/>
                  </a:ext>
                </a:extLst>
              </p:cNvPr>
              <p:cNvSpPr txBox="1"/>
              <p:nvPr/>
            </p:nvSpPr>
            <p:spPr>
              <a:xfrm>
                <a:off x="3120189" y="3140968"/>
                <a:ext cx="5812617" cy="1375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f>
                                <m:fPr>
                                  <m:ctrlPr>
                                    <a:rPr lang="en-US" altLang="zh-CN" i="1">
                                      <a:latin typeface="Cambria Math" panose="02040503050406030204" pitchFamily="18" charset="0"/>
                                    </a:rPr>
                                  </m:ctrlPr>
                                </m:fPr>
                                <m:num>
                                  <m:r>
                                    <a:rPr lang="en-US" altLang="zh-CN" i="1">
                                      <a:latin typeface="Cambria Math" panose="02040503050406030204" pitchFamily="18" charset="0"/>
                                    </a:rPr>
                                    <m:t>𝒌</m:t>
                                  </m:r>
                                </m:num>
                                <m:den>
                                  <m:r>
                                    <a:rPr lang="zh-CN" altLang="en-US" i="1">
                                      <a:latin typeface="Cambria Math" panose="02040503050406030204" pitchFamily="18" charset="0"/>
                                    </a:rPr>
                                    <m:t>𝝀</m:t>
                                  </m:r>
                                </m:den>
                              </m:f>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𝒙</m:t>
                                          </m:r>
                                        </m:num>
                                        <m:den>
                                          <m:r>
                                            <a:rPr lang="zh-CN" altLang="en-US" i="1">
                                              <a:latin typeface="Cambria Math" panose="02040503050406030204" pitchFamily="18" charset="0"/>
                                            </a:rPr>
                                            <m:t>𝝀</m:t>
                                          </m:r>
                                        </m:den>
                                      </m:f>
                                    </m:e>
                                  </m:d>
                                </m:e>
                                <m:sup>
                                  <m:r>
                                    <a:rPr lang="en-US" altLang="zh-CN" i="1">
                                      <a:latin typeface="Cambria Math" panose="02040503050406030204" pitchFamily="18" charset="0"/>
                                    </a:rPr>
                                    <m:t>𝒌</m:t>
                                  </m:r>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𝒆</m:t>
                                  </m:r>
                                </m:e>
                                <m: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𝒙</m:t>
                                          </m:r>
                                        </m:num>
                                        <m:den>
                                          <m:r>
                                            <a:rPr lang="zh-CN" altLang="en-US" i="1">
                                              <a:latin typeface="Cambria Math" panose="02040503050406030204" pitchFamily="18" charset="0"/>
                                              <a:ea typeface="Cambria Math" panose="02040503050406030204" pitchFamily="18" charset="0"/>
                                            </a:rPr>
                                            <m:t>𝝀</m:t>
                                          </m:r>
                                        </m:den>
                                      </m:f>
                                    </m:e>
                                    <m:sup>
                                      <m:r>
                                        <a:rPr lang="en-US" altLang="zh-CN" i="1">
                                          <a:latin typeface="Cambria Math" panose="02040503050406030204" pitchFamily="18" charset="0"/>
                                          <a:ea typeface="Cambria Math" panose="02040503050406030204" pitchFamily="18" charset="0"/>
                                        </a:rPr>
                                        <m:t>𝒌</m:t>
                                      </m:r>
                                    </m:sup>
                                  </m:sSup>
                                </m:sup>
                              </m:sSup>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𝒙</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𝟎</m:t>
                              </m:r>
                            </m:e>
                            <m:e>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rPr>
                                <m:t>&lt;</m:t>
                              </m:r>
                              <m:r>
                                <a:rPr lang="en-US" altLang="zh-CN" b="1" i="1" smtClean="0">
                                  <a:latin typeface="Cambria Math" panose="02040503050406030204" pitchFamily="18" charset="0"/>
                                </a:rPr>
                                <m:t>𝟎</m:t>
                              </m:r>
                            </m:e>
                          </m:eqArr>
                        </m:e>
                      </m:d>
                    </m:oMath>
                  </m:oMathPara>
                </a14:m>
                <a:endParaRPr lang="zh-CN" altLang="en-US" dirty="0"/>
              </a:p>
            </p:txBody>
          </p:sp>
        </mc:Choice>
        <mc:Fallback xmlns="">
          <p:sp>
            <p:nvSpPr>
              <p:cNvPr id="2" name="文本框 1">
                <a:extLst>
                  <a:ext uri="{FF2B5EF4-FFF2-40B4-BE49-F238E27FC236}">
                    <a16:creationId xmlns:a16="http://schemas.microsoft.com/office/drawing/2014/main" id="{C1B7A2DC-F425-4FDE-8B07-8F7273403546}"/>
                  </a:ext>
                </a:extLst>
              </p:cNvPr>
              <p:cNvSpPr txBox="1">
                <a:spLocks noRot="1" noChangeAspect="1" noMove="1" noResize="1" noEditPoints="1" noAdjustHandles="1" noChangeArrowheads="1" noChangeShapeType="1" noTextEdit="1"/>
              </p:cNvSpPr>
              <p:nvPr/>
            </p:nvSpPr>
            <p:spPr>
              <a:xfrm>
                <a:off x="3120189" y="3140968"/>
                <a:ext cx="5812617" cy="137563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1FB3CAA-6DC5-4298-96CC-5B373FF6777D}"/>
                  </a:ext>
                </a:extLst>
              </p:cNvPr>
              <p:cNvSpPr txBox="1"/>
              <p:nvPr/>
            </p:nvSpPr>
            <p:spPr>
              <a:xfrm>
                <a:off x="3120189" y="4898815"/>
                <a:ext cx="3199146" cy="527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zh-CN" altLang="en-US" b="1" i="1" smtClean="0">
                                      <a:latin typeface="Cambria Math" panose="02040503050406030204" pitchFamily="18" charset="0"/>
                                    </a:rPr>
                                    <m:t>𝝀</m:t>
                                  </m:r>
                                </m:e>
                              </m:d>
                            </m:e>
                            <m:sup>
                              <m:r>
                                <a:rPr lang="en-US" altLang="zh-CN" b="1" i="1" smtClean="0">
                                  <a:latin typeface="Cambria Math" panose="02040503050406030204" pitchFamily="18" charset="0"/>
                                </a:rPr>
                                <m:t>𝒌</m:t>
                              </m:r>
                            </m:sup>
                          </m:sSup>
                        </m:sup>
                      </m:sSup>
                    </m:oMath>
                  </m:oMathPara>
                </a14:m>
                <a:endParaRPr lang="zh-CN" altLang="en-US" dirty="0"/>
              </a:p>
            </p:txBody>
          </p:sp>
        </mc:Choice>
        <mc:Fallback xmlns="">
          <p:sp>
            <p:nvSpPr>
              <p:cNvPr id="3" name="文本框 2">
                <a:extLst>
                  <a:ext uri="{FF2B5EF4-FFF2-40B4-BE49-F238E27FC236}">
                    <a16:creationId xmlns:a16="http://schemas.microsoft.com/office/drawing/2014/main" id="{A1FB3CAA-6DC5-4298-96CC-5B373FF6777D}"/>
                  </a:ext>
                </a:extLst>
              </p:cNvPr>
              <p:cNvSpPr txBox="1">
                <a:spLocks noRot="1" noChangeAspect="1" noMove="1" noResize="1" noEditPoints="1" noAdjustHandles="1" noChangeArrowheads="1" noChangeShapeType="1" noTextEdit="1"/>
              </p:cNvSpPr>
              <p:nvPr/>
            </p:nvSpPr>
            <p:spPr>
              <a:xfrm>
                <a:off x="3120189" y="4898815"/>
                <a:ext cx="3199146" cy="527260"/>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A5F2D27-8B82-4C5F-B854-8FCFC6093674}"/>
              </a:ext>
            </a:extLst>
          </p:cNvPr>
          <p:cNvSpPr>
            <a:spLocks noGrp="1" noChangeArrowheads="1"/>
          </p:cNvSpPr>
          <p:nvPr>
            <p:ph type="subTitle" idx="4294967295"/>
          </p:nvPr>
        </p:nvSpPr>
        <p:spPr>
          <a:xfrm>
            <a:off x="0" y="3886200"/>
            <a:ext cx="6400800" cy="1752600"/>
          </a:xfrm>
        </p:spPr>
        <p:txBody>
          <a:bodyPr/>
          <a:lstStyle/>
          <a:p>
            <a:r>
              <a:rPr lang="en-US" altLang="zh-CN" sz="3200"/>
              <a:t>  </a:t>
            </a:r>
          </a:p>
        </p:txBody>
      </p:sp>
      <p:sp>
        <p:nvSpPr>
          <p:cNvPr id="79875" name="Rectangle 3">
            <a:extLst>
              <a:ext uri="{FF2B5EF4-FFF2-40B4-BE49-F238E27FC236}">
                <a16:creationId xmlns:a16="http://schemas.microsoft.com/office/drawing/2014/main" id="{FE4EC857-B07D-474B-AF7B-261936FF3CC0}"/>
              </a:ext>
            </a:extLst>
          </p:cNvPr>
          <p:cNvSpPr>
            <a:spLocks noChangeArrowheads="1"/>
          </p:cNvSpPr>
          <p:nvPr/>
        </p:nvSpPr>
        <p:spPr bwMode="auto">
          <a:xfrm>
            <a:off x="0" y="476251"/>
            <a:ext cx="6480175" cy="7921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r>
              <a:rPr lang="zh-CN" altLang="zh-CN" sz="3600" dirty="0">
                <a:solidFill>
                  <a:srgbClr val="E313ED"/>
                </a:solidFill>
                <a:latin typeface="Times New Roman" panose="02020603050405020304" pitchFamily="18" charset="0"/>
              </a:rPr>
              <a:t>韦伯分布的参数及</a:t>
            </a:r>
            <a:r>
              <a:rPr lang="zh-CN" altLang="en-US" sz="3600" dirty="0">
                <a:solidFill>
                  <a:srgbClr val="E313ED"/>
                </a:solidFill>
                <a:latin typeface="Times New Roman" panose="02020603050405020304" pitchFamily="18" charset="0"/>
              </a:rPr>
              <a:t>性质</a:t>
            </a:r>
            <a:r>
              <a:rPr lang="en-US" altLang="zh-CN" sz="3600" dirty="0">
                <a:solidFill>
                  <a:srgbClr val="E313ED"/>
                </a:solidFill>
                <a:latin typeface="Times New Roman" panose="02020603050405020304" pitchFamily="18" charset="0"/>
              </a:rPr>
              <a:t>:</a:t>
            </a:r>
          </a:p>
        </p:txBody>
      </p:sp>
      <p:sp>
        <p:nvSpPr>
          <p:cNvPr id="79876" name="Rectangle 3">
            <a:extLst>
              <a:ext uri="{FF2B5EF4-FFF2-40B4-BE49-F238E27FC236}">
                <a16:creationId xmlns:a16="http://schemas.microsoft.com/office/drawing/2014/main" id="{4CA04BF8-E11E-45FF-B1E2-57C40B678271}"/>
              </a:ext>
            </a:extLst>
          </p:cNvPr>
          <p:cNvSpPr>
            <a:spLocks noChangeArrowheads="1"/>
          </p:cNvSpPr>
          <p:nvPr/>
        </p:nvSpPr>
        <p:spPr bwMode="auto">
          <a:xfrm>
            <a:off x="431800" y="1448594"/>
            <a:ext cx="8280400"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0638" indent="-20638" algn="ctr">
              <a:spcBef>
                <a:spcPct val="20000"/>
              </a:spcBef>
              <a:defRPr sz="3200">
                <a:solidFill>
                  <a:schemeClr val="tx1"/>
                </a:solidFill>
                <a:latin typeface="Arial" panose="020B0604020202020204" pitchFamily="34" charset="0"/>
                <a:ea typeface="宋体" panose="02010600030101010101" pitchFamily="2" charset="-122"/>
              </a:defRPr>
            </a:lvl1pPr>
            <a:lvl2pPr marL="935038" indent="-285750" algn="ctr">
              <a:spcBef>
                <a:spcPct val="20000"/>
              </a:spcBef>
              <a:defRPr sz="2800">
                <a:solidFill>
                  <a:schemeClr val="tx1"/>
                </a:solidFill>
                <a:latin typeface="Arial" panose="020B0604020202020204" pitchFamily="34" charset="0"/>
                <a:ea typeface="宋体" panose="02010600030101010101" pitchFamily="2" charset="-122"/>
              </a:defRPr>
            </a:lvl2pPr>
            <a:lvl3pPr marL="1343025" indent="-228600" algn="ctr">
              <a:spcBef>
                <a:spcPct val="20000"/>
              </a:spcBef>
              <a:defRPr sz="2400">
                <a:solidFill>
                  <a:schemeClr val="tx1"/>
                </a:solidFill>
                <a:latin typeface="Arial" panose="020B0604020202020204" pitchFamily="34" charset="0"/>
                <a:ea typeface="宋体" panose="02010600030101010101" pitchFamily="2" charset="-122"/>
              </a:defRPr>
            </a:lvl3pPr>
            <a:lvl4pPr marL="1751013" indent="-228600" algn="ctr">
              <a:spcBef>
                <a:spcPct val="20000"/>
              </a:spcBef>
              <a:defRPr sz="2000">
                <a:solidFill>
                  <a:schemeClr val="tx1"/>
                </a:solidFill>
                <a:latin typeface="Arial" panose="020B0604020202020204" pitchFamily="34" charset="0"/>
                <a:ea typeface="宋体" panose="02010600030101010101" pitchFamily="2" charset="-122"/>
              </a:defRPr>
            </a:lvl4pPr>
            <a:lvl5pPr marL="2159000" indent="-228600" algn="ctr">
              <a:spcBef>
                <a:spcPct val="20000"/>
              </a:spcBef>
              <a:defRPr sz="2000">
                <a:solidFill>
                  <a:schemeClr val="tx1"/>
                </a:solidFill>
                <a:latin typeface="Arial" panose="020B0604020202020204" pitchFamily="34" charset="0"/>
                <a:ea typeface="宋体" panose="02010600030101010101" pitchFamily="2" charset="-122"/>
              </a:defRPr>
            </a:lvl5pPr>
            <a:lvl6pPr marL="26162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30734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5306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9878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l">
              <a:lnSpc>
                <a:spcPct val="150000"/>
              </a:lnSpc>
            </a:pPr>
            <a:r>
              <a:rPr lang="en-US" altLang="zh-CN" sz="2800" dirty="0">
                <a:latin typeface="Times New Roman" panose="02020603050405020304" pitchFamily="18" charset="0"/>
              </a:rPr>
              <a:t>          </a:t>
            </a:r>
            <a:r>
              <a:rPr lang="en-US" altLang="zh-CN" i="1"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&gt; 0</a:t>
            </a:r>
            <a:r>
              <a:rPr lang="zh-CN" altLang="en-US" dirty="0">
                <a:latin typeface="Times New Roman" panose="02020603050405020304" pitchFamily="18" charset="0"/>
              </a:rPr>
              <a:t>是比例参数，</a:t>
            </a:r>
            <a:r>
              <a:rPr lang="en-US" altLang="zh-CN" i="1" dirty="0">
                <a:latin typeface="Times New Roman" panose="02020603050405020304" pitchFamily="18" charset="0"/>
              </a:rPr>
              <a:t>k </a:t>
            </a:r>
            <a:r>
              <a:rPr lang="en-US" altLang="zh-CN" dirty="0">
                <a:latin typeface="Times New Roman" panose="02020603050405020304" pitchFamily="18" charset="0"/>
              </a:rPr>
              <a:t>&gt; 0</a:t>
            </a:r>
            <a:r>
              <a:rPr lang="zh-CN" altLang="en-US" dirty="0">
                <a:latin typeface="Times New Roman" panose="02020603050405020304" pitchFamily="18" charset="0"/>
              </a:rPr>
              <a:t>是形参。它的累积分布函数是扩展的指数分布函数。</a:t>
            </a:r>
          </a:p>
          <a:p>
            <a:pPr algn="l">
              <a:lnSpc>
                <a:spcPct val="150000"/>
              </a:lnSpc>
            </a:pPr>
            <a:r>
              <a:rPr lang="zh-CN" altLang="en-US" dirty="0">
                <a:latin typeface="Times New Roman" panose="02020603050405020304" pitchFamily="18" charset="0"/>
              </a:rPr>
              <a:t>         当</a:t>
            </a:r>
            <a:r>
              <a:rPr lang="en-US" altLang="zh-CN" i="1" dirty="0">
                <a:latin typeface="Times New Roman" panose="02020603050405020304" pitchFamily="18" charset="0"/>
              </a:rPr>
              <a:t>k </a:t>
            </a:r>
            <a:r>
              <a:rPr lang="en-US" altLang="zh-CN" dirty="0">
                <a:latin typeface="Times New Roman" panose="02020603050405020304" pitchFamily="18" charset="0"/>
              </a:rPr>
              <a:t>= 1</a:t>
            </a:r>
            <a:r>
              <a:rPr lang="zh-CN" altLang="en-US" dirty="0">
                <a:latin typeface="Times New Roman" panose="02020603050405020304" pitchFamily="18" charset="0"/>
              </a:rPr>
              <a:t>时，它是 </a:t>
            </a:r>
            <a:r>
              <a:rPr lang="zh-CN" altLang="en-US" u="sng" dirty="0">
                <a:solidFill>
                  <a:srgbClr val="FFFF00"/>
                </a:solidFill>
                <a:latin typeface="Times New Roman" panose="02020603050405020304" pitchFamily="18" charset="0"/>
              </a:rPr>
              <a:t>指数分布</a:t>
            </a:r>
            <a:r>
              <a:rPr lang="zh-CN" altLang="en-US" dirty="0">
                <a:latin typeface="Times New Roman" panose="02020603050405020304" pitchFamily="18" charset="0"/>
              </a:rPr>
              <a:t>；</a:t>
            </a:r>
            <a:r>
              <a:rPr lang="en-US" altLang="zh-CN" i="1" dirty="0">
                <a:latin typeface="Times New Roman" panose="02020603050405020304" pitchFamily="18" charset="0"/>
              </a:rPr>
              <a:t>k </a:t>
            </a:r>
            <a:r>
              <a:rPr lang="en-US" altLang="zh-CN" dirty="0">
                <a:latin typeface="Times New Roman" panose="02020603050405020304" pitchFamily="18" charset="0"/>
              </a:rPr>
              <a:t>= 2</a:t>
            </a:r>
            <a:r>
              <a:rPr lang="zh-CN" altLang="en-US" dirty="0">
                <a:latin typeface="Times New Roman" panose="02020603050405020304" pitchFamily="18" charset="0"/>
              </a:rPr>
              <a:t>时，它是</a:t>
            </a:r>
            <a:r>
              <a:rPr lang="zh-CN" altLang="en-US" dirty="0">
                <a:solidFill>
                  <a:srgbClr val="FFFF00"/>
                </a:solidFill>
                <a:latin typeface="Times New Roman" panose="02020603050405020304" pitchFamily="18" charset="0"/>
                <a:hlinkClick r:id="rId2">
                  <a:extLst>
                    <a:ext uri="{A12FA001-AC4F-418D-AE19-62706E023703}">
                      <ahyp:hlinkClr xmlns:ahyp="http://schemas.microsoft.com/office/drawing/2018/hyperlinkcolor" val="tx"/>
                    </a:ext>
                  </a:extLst>
                </a:hlinkClick>
              </a:rPr>
              <a:t>瑞利分布</a:t>
            </a:r>
            <a:r>
              <a:rPr lang="zh-CN" altLang="en-US"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875"/>
                                        </p:tgtEl>
                                        <p:attrNameLst>
                                          <p:attrName>style.visibility</p:attrName>
                                        </p:attrNameLst>
                                      </p:cBhvr>
                                      <p:to>
                                        <p:strVal val="visible"/>
                                      </p:to>
                                    </p:set>
                                    <p:anim calcmode="lin" valueType="num">
                                      <p:cBhvr additive="base">
                                        <p:cTn id="7" dur="2000" fill="hold"/>
                                        <p:tgtEl>
                                          <p:spTgt spid="79875"/>
                                        </p:tgtEl>
                                        <p:attrNameLst>
                                          <p:attrName>ppt_x</p:attrName>
                                        </p:attrNameLst>
                                      </p:cBhvr>
                                      <p:tavLst>
                                        <p:tav tm="0">
                                          <p:val>
                                            <p:strVal val="#ppt_x"/>
                                          </p:val>
                                        </p:tav>
                                        <p:tav tm="100000">
                                          <p:val>
                                            <p:strVal val="#ppt_x"/>
                                          </p:val>
                                        </p:tav>
                                      </p:tavLst>
                                    </p:anim>
                                    <p:anim calcmode="lin" valueType="num">
                                      <p:cBhvr additive="base">
                                        <p:cTn id="8" dur="2000" fill="hold"/>
                                        <p:tgtEl>
                                          <p:spTgt spid="798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1D27BE0-EB5A-4612-8C02-B90A89435A1F}"/>
              </a:ext>
            </a:extLst>
          </p:cNvPr>
          <p:cNvSpPr>
            <a:spLocks noChangeArrowheads="1"/>
          </p:cNvSpPr>
          <p:nvPr/>
        </p:nvSpPr>
        <p:spPr bwMode="auto">
          <a:xfrm>
            <a:off x="0" y="404813"/>
            <a:ext cx="69850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3600" dirty="0">
                <a:solidFill>
                  <a:schemeClr val="tx1"/>
                </a:solidFill>
                <a:latin typeface="Times New Roman" panose="02020603050405020304" pitchFamily="18" charset="0"/>
              </a:rPr>
              <a:t>9. </a:t>
            </a:r>
            <a:r>
              <a:rPr lang="zh-CN" altLang="en-US" sz="3600" dirty="0">
                <a:solidFill>
                  <a:schemeClr val="tx1"/>
                </a:solidFill>
                <a:latin typeface="Times New Roman" panose="02020603050405020304" pitchFamily="18" charset="0"/>
              </a:rPr>
              <a:t>三角分布</a:t>
            </a:r>
            <a:r>
              <a:rPr lang="en-US" altLang="zh-CN" sz="3600" dirty="0">
                <a:solidFill>
                  <a:schemeClr val="tx1"/>
                </a:solidFill>
                <a:latin typeface="Times New Roman" panose="02020603050405020304" pitchFamily="18" charset="0"/>
              </a:rPr>
              <a:t>(Triangle distribution) </a:t>
            </a:r>
          </a:p>
        </p:txBody>
      </p:sp>
      <p:sp>
        <p:nvSpPr>
          <p:cNvPr id="58372" name="Rectangle 3">
            <a:extLst>
              <a:ext uri="{FF2B5EF4-FFF2-40B4-BE49-F238E27FC236}">
                <a16:creationId xmlns:a16="http://schemas.microsoft.com/office/drawing/2014/main" id="{6843DDC7-C990-4910-A3E1-7CE759198AAD}"/>
              </a:ext>
            </a:extLst>
          </p:cNvPr>
          <p:cNvSpPr>
            <a:spLocks noChangeArrowheads="1"/>
          </p:cNvSpPr>
          <p:nvPr/>
        </p:nvSpPr>
        <p:spPr bwMode="auto">
          <a:xfrm>
            <a:off x="0" y="1484784"/>
            <a:ext cx="8001000" cy="333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985838" indent="-985838">
              <a:lnSpc>
                <a:spcPct val="150000"/>
              </a:lnSpc>
              <a:spcBef>
                <a:spcPts val="0"/>
              </a:spcBef>
              <a:buNone/>
            </a:pPr>
            <a:r>
              <a:rPr lang="zh-CN" altLang="en-US" sz="2800" dirty="0">
                <a:solidFill>
                  <a:srgbClr val="E313ED"/>
                </a:solidFill>
                <a:latin typeface="Times New Roman" panose="02020603050405020304" pitchFamily="18" charset="0"/>
                <a:cs typeface="Times New Roman" panose="02020603050405020304" pitchFamily="18" charset="0"/>
              </a:rPr>
              <a:t>定义：</a:t>
            </a:r>
            <a:r>
              <a:rPr lang="zh-CN" altLang="en-US" sz="2800" dirty="0">
                <a:latin typeface="Times New Roman" panose="02020603050405020304" pitchFamily="18" charset="0"/>
                <a:cs typeface="Times New Roman" panose="02020603050405020304" pitchFamily="18" charset="0"/>
              </a:rPr>
              <a:t>三角形分布是低限为 </a:t>
            </a:r>
            <a:r>
              <a:rPr lang="en-US" altLang="zh-CN" sz="2800" i="1"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、最高点为 </a:t>
            </a:r>
            <a:r>
              <a:rPr lang="en-US" altLang="zh-CN" sz="2800" i="1" dirty="0">
                <a:latin typeface="Times New Roman" panose="02020603050405020304" pitchFamily="18" charset="0"/>
                <a:cs typeface="Times New Roman" panose="02020603050405020304" pitchFamily="18" charset="0"/>
              </a:rPr>
              <a:t>c</a:t>
            </a:r>
            <a:r>
              <a:rPr lang="zh-CN" altLang="en-US" sz="2800" dirty="0">
                <a:latin typeface="Times New Roman" panose="02020603050405020304" pitchFamily="18" charset="0"/>
                <a:cs typeface="Times New Roman" panose="02020603050405020304" pitchFamily="18" charset="0"/>
              </a:rPr>
              <a:t>、上限为 </a:t>
            </a:r>
            <a:r>
              <a:rPr lang="en-US" altLang="zh-CN" sz="2800" i="1" dirty="0">
                <a:latin typeface="Times New Roman" panose="02020603050405020304" pitchFamily="18" charset="0"/>
                <a:cs typeface="Times New Roman" panose="02020603050405020304" pitchFamily="18" charset="0"/>
              </a:rPr>
              <a:t>b</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的连续</a:t>
            </a:r>
            <a:r>
              <a:rPr lang="zh-CN" altLang="en-US" sz="2800" dirty="0">
                <a:latin typeface="Times New Roman" panose="02020603050405020304" pitchFamily="18" charset="0"/>
                <a:cs typeface="Times New Roman" panose="02020603050405020304" pitchFamily="18" charset="0"/>
                <a:hlinkClick r:id="rId2" tooltip="概率分布">
                  <a:extLst>
                    <a:ext uri="{A12FA001-AC4F-418D-AE19-62706E023703}">
                      <ahyp:hlinkClr xmlns:ahyp="http://schemas.microsoft.com/office/drawing/2018/hyperlinkcolor" val="tx"/>
                    </a:ext>
                  </a:extLst>
                </a:hlinkClick>
              </a:rPr>
              <a:t>概率分布</a:t>
            </a:r>
            <a:r>
              <a:rPr lang="zh-CN" altLang="en-US" sz="2800" dirty="0">
                <a:latin typeface="Times New Roman" panose="02020603050405020304" pitchFamily="18" charset="0"/>
                <a:cs typeface="Times New Roman" panose="02020603050405020304" pitchFamily="18" charset="0"/>
              </a:rPr>
              <a:t>。 </a:t>
            </a:r>
          </a:p>
        </p:txBody>
      </p:sp>
      <p:pic>
        <p:nvPicPr>
          <p:cNvPr id="58374" name="Picture 6">
            <a:extLst>
              <a:ext uri="{FF2B5EF4-FFF2-40B4-BE49-F238E27FC236}">
                <a16:creationId xmlns:a16="http://schemas.microsoft.com/office/drawing/2014/main" id="{02156A58-B3F8-4387-B270-0D77F6F988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60" y="4679333"/>
            <a:ext cx="2946844" cy="2119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66D84D0-C18A-492E-90C0-03D982CB1711}"/>
                  </a:ext>
                </a:extLst>
              </p:cNvPr>
              <p:cNvSpPr txBox="1"/>
              <p:nvPr/>
            </p:nvSpPr>
            <p:spPr>
              <a:xfrm>
                <a:off x="853385" y="2726661"/>
                <a:ext cx="7437229" cy="19424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𝒇</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r>
                            <a:rPr lang="en-US" altLang="zh-CN" b="1" i="1" smtClean="0">
                              <a:latin typeface="Cambria Math" panose="02040503050406030204" pitchFamily="18" charset="0"/>
                            </a:rPr>
                            <m:t>,</m:t>
                          </m:r>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𝒄</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𝟐</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e>
                                  </m:d>
                                </m:num>
                                <m:den>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e>
                                  </m:d>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𝒄</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e>
                                  </m:d>
                                </m:den>
                              </m:f>
                              <m:r>
                                <a:rPr lang="en-US" altLang="zh-CN" b="1" i="1" smtClean="0">
                                  <a:latin typeface="Cambria Math" panose="02040503050406030204" pitchFamily="18" charset="0"/>
                                </a:rPr>
                                <m:t>          </m:t>
                              </m:r>
                              <m:r>
                                <a:rPr lang="en-US" altLang="zh-CN" b="1" i="1" smtClean="0">
                                  <a:latin typeface="Cambria Math" panose="02040503050406030204" pitchFamily="18" charset="0"/>
                                </a:rPr>
                                <m:t>𝒂</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𝒄</m:t>
                              </m:r>
                            </m:e>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𝟐</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d>
                                </m:num>
                                <m:den>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𝒂</m:t>
                                      </m:r>
                                    </m:e>
                                  </m:d>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𝒄</m:t>
                                      </m:r>
                                    </m:e>
                                  </m:d>
                                </m:den>
                              </m:f>
                              <m:r>
                                <a:rPr lang="en-US" altLang="zh-CN" b="1" i="1" smtClean="0">
                                  <a:latin typeface="Cambria Math" panose="02040503050406030204" pitchFamily="18" charset="0"/>
                                </a:rPr>
                                <m:t>          </m:t>
                              </m:r>
                              <m:r>
                                <a:rPr lang="en-US" altLang="zh-CN" b="1" i="1" smtClean="0">
                                  <a:latin typeface="Cambria Math" panose="02040503050406030204" pitchFamily="18" charset="0"/>
                                </a:rPr>
                                <m:t>𝒄</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𝒃</m:t>
                              </m:r>
                            </m:e>
                          </m:eqArr>
                        </m:e>
                      </m:d>
                    </m:oMath>
                  </m:oMathPara>
                </a14:m>
                <a:endParaRPr lang="zh-CN" altLang="en-US" dirty="0"/>
              </a:p>
            </p:txBody>
          </p:sp>
        </mc:Choice>
        <mc:Fallback xmlns="">
          <p:sp>
            <p:nvSpPr>
              <p:cNvPr id="4" name="文本框 3">
                <a:extLst>
                  <a:ext uri="{FF2B5EF4-FFF2-40B4-BE49-F238E27FC236}">
                    <a16:creationId xmlns:a16="http://schemas.microsoft.com/office/drawing/2014/main" id="{F66D84D0-C18A-492E-90C0-03D982CB1711}"/>
                  </a:ext>
                </a:extLst>
              </p:cNvPr>
              <p:cNvSpPr txBox="1">
                <a:spLocks noRot="1" noChangeAspect="1" noMove="1" noResize="1" noEditPoints="1" noAdjustHandles="1" noChangeArrowheads="1" noChangeShapeType="1" noTextEdit="1"/>
              </p:cNvSpPr>
              <p:nvPr/>
            </p:nvSpPr>
            <p:spPr>
              <a:xfrm>
                <a:off x="853385" y="2726661"/>
                <a:ext cx="7437229" cy="1942455"/>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a:extLst>
              <a:ext uri="{FF2B5EF4-FFF2-40B4-BE49-F238E27FC236}">
                <a16:creationId xmlns:a16="http://schemas.microsoft.com/office/drawing/2014/main" id="{6ACF58EC-C211-4191-8C5E-0F782990A33A}"/>
              </a:ext>
            </a:extLst>
          </p:cNvPr>
          <p:cNvSpPr>
            <a:spLocks noChangeArrowheads="1"/>
          </p:cNvSpPr>
          <p:nvPr/>
        </p:nvSpPr>
        <p:spPr bwMode="auto">
          <a:xfrm>
            <a:off x="395288" y="1196975"/>
            <a:ext cx="8253412" cy="532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1443038"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851025"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2259013"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6670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3124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35814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4038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4495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5000"/>
              </a:lnSpc>
            </a:pPr>
            <a:r>
              <a:rPr lang="en-US" altLang="zh-CN" sz="2800" dirty="0">
                <a:latin typeface="宋体" panose="02010600030101010101" pitchFamily="2" charset="-122"/>
              </a:rPr>
              <a:t>   </a:t>
            </a:r>
            <a:r>
              <a:rPr lang="zh-CN" altLang="en-US" sz="2800" dirty="0">
                <a:latin typeface="宋体" panose="02010600030101010101" pitchFamily="2" charset="-122"/>
              </a:rPr>
              <a:t>三角形分布经常用于商务</a:t>
            </a:r>
            <a:r>
              <a:rPr lang="zh-CN" altLang="en-US" sz="2800" dirty="0">
                <a:latin typeface="宋体" panose="02010600030101010101" pitchFamily="2" charset="-122"/>
                <a:hlinkClick r:id="rId2" tooltip="决策"/>
              </a:rPr>
              <a:t>决策</a:t>
            </a:r>
            <a:r>
              <a:rPr lang="zh-CN" altLang="en-US" sz="2800" dirty="0">
                <a:latin typeface="宋体" panose="02010600030101010101" pitchFamily="2" charset="-122"/>
              </a:rPr>
              <a:t>，尤其是</a:t>
            </a:r>
            <a:r>
              <a:rPr lang="zh-CN" altLang="en-US" sz="2800" dirty="0">
                <a:latin typeface="宋体" panose="02010600030101010101" pitchFamily="2" charset="-122"/>
                <a:hlinkClick r:id="rId3" tooltip="计算机模拟"/>
              </a:rPr>
              <a:t>计算机模拟</a:t>
            </a:r>
            <a:r>
              <a:rPr lang="zh-CN" altLang="en-US" sz="2800" dirty="0">
                <a:latin typeface="宋体" panose="02010600030101010101" pitchFamily="2" charset="-122"/>
              </a:rPr>
              <a:t>领域。通常，如果对结果的</a:t>
            </a:r>
            <a:r>
              <a:rPr lang="zh-CN" altLang="en-US" sz="2800" dirty="0">
                <a:latin typeface="宋体" panose="02010600030101010101" pitchFamily="2" charset="-122"/>
                <a:hlinkClick r:id="rId4" tooltip="概率分布"/>
              </a:rPr>
              <a:t>概率分布</a:t>
            </a:r>
            <a:r>
              <a:rPr lang="zh-CN" altLang="en-US" sz="2800" dirty="0">
                <a:latin typeface="宋体" panose="02010600030101010101" pitchFamily="2" charset="-122"/>
              </a:rPr>
              <a:t>所知信息很少，例如仅仅知道最大值与最小值，那么可以使用</a:t>
            </a:r>
            <a:r>
              <a:rPr lang="zh-CN" altLang="en-US" sz="2800" dirty="0">
                <a:latin typeface="宋体" panose="02010600030101010101" pitchFamily="2" charset="-122"/>
                <a:hlinkClick r:id="rId5" tooltip="平均分布（页面不存在）"/>
              </a:rPr>
              <a:t>平均分布</a:t>
            </a:r>
            <a:r>
              <a:rPr lang="zh-CN" altLang="en-US" sz="2800" dirty="0">
                <a:latin typeface="宋体" panose="02010600030101010101" pitchFamily="2" charset="-122"/>
              </a:rPr>
              <a:t>模型。但是，如果已经知道了最可能出现的结果，那么就可以用三角形分布进行模拟。</a:t>
            </a:r>
          </a:p>
          <a:p>
            <a:pPr>
              <a:lnSpc>
                <a:spcPct val="125000"/>
              </a:lnSpc>
            </a:pPr>
            <a:r>
              <a:rPr lang="zh-CN" altLang="en-US" sz="2800" dirty="0">
                <a:latin typeface="宋体" panose="02010600030101010101" pitchFamily="2" charset="-122"/>
              </a:rPr>
              <a:t>   三角形分布以及</a:t>
            </a:r>
            <a:r>
              <a:rPr lang="en-US" altLang="zh-CN" sz="2800" dirty="0">
                <a:latin typeface="宋体" panose="02010600030101010101" pitchFamily="2" charset="-122"/>
                <a:hlinkClick r:id="rId6" tooltip="Beta分布（页面不存在）"/>
              </a:rPr>
              <a:t>Beta</a:t>
            </a:r>
            <a:r>
              <a:rPr lang="zh-CN" altLang="en-US" sz="2800" dirty="0">
                <a:latin typeface="宋体" panose="02010600030101010101" pitchFamily="2" charset="-122"/>
                <a:hlinkClick r:id="rId6" tooltip="Beta分布（页面不存在）"/>
              </a:rPr>
              <a:t>分布</a:t>
            </a:r>
            <a:r>
              <a:rPr lang="zh-CN" altLang="en-US" sz="2800" dirty="0">
                <a:latin typeface="宋体" panose="02010600030101010101" pitchFamily="2" charset="-122"/>
              </a:rPr>
              <a:t>在</a:t>
            </a:r>
            <a:r>
              <a:rPr lang="zh-CN" altLang="en-US" sz="2800" dirty="0">
                <a:latin typeface="宋体" panose="02010600030101010101" pitchFamily="2" charset="-122"/>
                <a:hlinkClick r:id="rId7" tooltip="项目管理"/>
              </a:rPr>
              <a:t>项目管理</a:t>
            </a:r>
            <a:r>
              <a:rPr lang="zh-CN" altLang="en-US" sz="2800" dirty="0">
                <a:latin typeface="宋体" panose="02010600030101010101" pitchFamily="2" charset="-122"/>
              </a:rPr>
              <a:t>中大量地用作</a:t>
            </a:r>
            <a:r>
              <a:rPr lang="zh-CN" altLang="en-US" sz="2800" dirty="0">
                <a:latin typeface="宋体" panose="02010600030101010101" pitchFamily="2" charset="-122"/>
                <a:hlinkClick r:id="rId8" tooltip="项目评估与审核技术（页面不存在）"/>
              </a:rPr>
              <a:t>项目评估与审核技术</a:t>
            </a:r>
            <a:r>
              <a:rPr lang="zh-CN" altLang="en-US" sz="2800" dirty="0">
                <a:latin typeface="宋体" panose="02010600030101010101" pitchFamily="2" charset="-122"/>
              </a:rPr>
              <a:t>以及</a:t>
            </a:r>
            <a:r>
              <a:rPr lang="zh-CN" altLang="en-US" sz="2800" dirty="0">
                <a:latin typeface="宋体" panose="02010600030101010101" pitchFamily="2" charset="-122"/>
                <a:hlinkClick r:id="rId9" tooltip="关键途径（页面不存在）"/>
              </a:rPr>
              <a:t>关键途径</a:t>
            </a:r>
            <a:r>
              <a:rPr lang="zh-CN" altLang="en-US" sz="2800" dirty="0">
                <a:latin typeface="宋体" panose="02010600030101010101" pitchFamily="2" charset="-122"/>
              </a:rPr>
              <a:t>的输入信息，以建立在最大值与最小值之间事件发生的概率模型。</a:t>
            </a:r>
          </a:p>
        </p:txBody>
      </p:sp>
      <p:sp>
        <p:nvSpPr>
          <p:cNvPr id="80904" name="Rectangle 8">
            <a:extLst>
              <a:ext uri="{FF2B5EF4-FFF2-40B4-BE49-F238E27FC236}">
                <a16:creationId xmlns:a16="http://schemas.microsoft.com/office/drawing/2014/main" id="{5803F97B-1E91-40F5-8956-2235F7793263}"/>
              </a:ext>
            </a:extLst>
          </p:cNvPr>
          <p:cNvSpPr>
            <a:spLocks noChangeArrowheads="1"/>
          </p:cNvSpPr>
          <p:nvPr/>
        </p:nvSpPr>
        <p:spPr bwMode="auto">
          <a:xfrm>
            <a:off x="0" y="188913"/>
            <a:ext cx="6480175" cy="7921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r>
              <a:rPr lang="zh-CN" altLang="zh-CN" sz="3600">
                <a:solidFill>
                  <a:srgbClr val="E313ED"/>
                </a:solidFill>
                <a:latin typeface="Times New Roman" panose="02020603050405020304" pitchFamily="18" charset="0"/>
              </a:rPr>
              <a:t>三角形分布的应用</a:t>
            </a:r>
            <a:r>
              <a:rPr lang="en-US" altLang="zh-CN" sz="3600">
                <a:solidFill>
                  <a:srgbClr val="E313ED"/>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904"/>
                                        </p:tgtEl>
                                        <p:attrNameLst>
                                          <p:attrName>style.visibility</p:attrName>
                                        </p:attrNameLst>
                                      </p:cBhvr>
                                      <p:to>
                                        <p:strVal val="visible"/>
                                      </p:to>
                                    </p:set>
                                    <p:anim calcmode="lin" valueType="num">
                                      <p:cBhvr additive="base">
                                        <p:cTn id="7" dur="2000" fill="hold"/>
                                        <p:tgtEl>
                                          <p:spTgt spid="80904"/>
                                        </p:tgtEl>
                                        <p:attrNameLst>
                                          <p:attrName>ppt_x</p:attrName>
                                        </p:attrNameLst>
                                      </p:cBhvr>
                                      <p:tavLst>
                                        <p:tav tm="0">
                                          <p:val>
                                            <p:strVal val="#ppt_x"/>
                                          </p:val>
                                        </p:tav>
                                        <p:tav tm="100000">
                                          <p:val>
                                            <p:strVal val="#ppt_x"/>
                                          </p:val>
                                        </p:tav>
                                      </p:tavLst>
                                    </p:anim>
                                    <p:anim calcmode="lin" valueType="num">
                                      <p:cBhvr additive="base">
                                        <p:cTn id="8" dur="2000" fill="hold"/>
                                        <p:tgtEl>
                                          <p:spTgt spid="809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a:extLst>
              <a:ext uri="{FF2B5EF4-FFF2-40B4-BE49-F238E27FC236}">
                <a16:creationId xmlns:a16="http://schemas.microsoft.com/office/drawing/2014/main" id="{083D42AD-6F1B-413E-A1EC-C0904DCC75BF}"/>
              </a:ext>
            </a:extLst>
          </p:cNvPr>
          <p:cNvSpPr txBox="1">
            <a:spLocks noChangeArrowheads="1"/>
          </p:cNvSpPr>
          <p:nvPr/>
        </p:nvSpPr>
        <p:spPr bwMode="auto">
          <a:xfrm>
            <a:off x="0" y="357103"/>
            <a:ext cx="78597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rgbClr val="996633"/>
              </a:buClr>
              <a:buFont typeface="Wingdings" panose="05000000000000000000" pitchFamily="2" charset="2"/>
              <a:buNone/>
            </a:pPr>
            <a:r>
              <a:rPr lang="zh-CN" altLang="en-US" sz="3600" dirty="0">
                <a:solidFill>
                  <a:srgbClr val="E313ED"/>
                </a:solidFill>
              </a:rPr>
              <a:t>四、三大抽样分布</a:t>
            </a:r>
          </a:p>
        </p:txBody>
      </p:sp>
      <p:sp>
        <p:nvSpPr>
          <p:cNvPr id="88067" name="Text Box 3">
            <a:extLst>
              <a:ext uri="{FF2B5EF4-FFF2-40B4-BE49-F238E27FC236}">
                <a16:creationId xmlns:a16="http://schemas.microsoft.com/office/drawing/2014/main" id="{8F47D219-420A-4DDC-BC81-0BB8E9D807BF}"/>
              </a:ext>
            </a:extLst>
          </p:cNvPr>
          <p:cNvSpPr txBox="1">
            <a:spLocks noChangeArrowheads="1"/>
          </p:cNvSpPr>
          <p:nvPr/>
        </p:nvSpPr>
        <p:spPr bwMode="auto">
          <a:xfrm>
            <a:off x="250825" y="1196975"/>
            <a:ext cx="8286750" cy="5794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spcAft>
                <a:spcPct val="10000"/>
              </a:spcAft>
            </a:pPr>
            <a:r>
              <a:rPr kumimoji="1" lang="en-US" altLang="zh-CN" sz="3200" dirty="0">
                <a:latin typeface="Times New Roman" panose="02020603050405020304" pitchFamily="18" charset="0"/>
              </a:rPr>
              <a:t>1. </a:t>
            </a:r>
            <a:r>
              <a:rPr kumimoji="1" lang="zh-CN" altLang="en-US" sz="3200" dirty="0">
                <a:latin typeface="Times New Roman" panose="02020603050405020304" pitchFamily="18" charset="0"/>
              </a:rPr>
              <a:t>卡方分布       </a:t>
            </a:r>
          </a:p>
        </p:txBody>
      </p:sp>
      <mc:AlternateContent xmlns:mc="http://schemas.openxmlformats.org/markup-compatibility/2006" xmlns:a14="http://schemas.microsoft.com/office/drawing/2010/main">
        <mc:Choice Requires="a14">
          <p:sp>
            <p:nvSpPr>
              <p:cNvPr id="88074" name="Rectangle 3">
                <a:extLst>
                  <a:ext uri="{FF2B5EF4-FFF2-40B4-BE49-F238E27FC236}">
                    <a16:creationId xmlns:a16="http://schemas.microsoft.com/office/drawing/2014/main" id="{9805F36C-6157-4CB0-AE5F-C07C54323C7E}"/>
                  </a:ext>
                </a:extLst>
              </p:cNvPr>
              <p:cNvSpPr>
                <a:spLocks noChangeArrowheads="1"/>
              </p:cNvSpPr>
              <p:nvPr/>
            </p:nvSpPr>
            <p:spPr bwMode="auto">
              <a:xfrm>
                <a:off x="611188" y="1889125"/>
                <a:ext cx="8001000" cy="49688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935038"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343025"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751013"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1590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61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30734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530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987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5000"/>
                  </a:lnSpc>
                  <a:buFontTx/>
                  <a:buNone/>
                </a:pPr>
                <a:r>
                  <a:rPr lang="zh-CN" altLang="en-US" sz="2800" dirty="0">
                    <a:solidFill>
                      <a:schemeClr val="accent2"/>
                    </a:solidFill>
                    <a:latin typeface="Times New Roman" panose="02020603050405020304" pitchFamily="18" charset="0"/>
                  </a:rPr>
                  <a:t>定义：</a:t>
                </a:r>
                <a:r>
                  <a:rPr lang="zh-CN" altLang="en-US" sz="2800" dirty="0">
                    <a:latin typeface="Times New Roman" panose="02020603050405020304" pitchFamily="18" charset="0"/>
                  </a:rPr>
                  <a:t>若 </a:t>
                </a:r>
                <a:r>
                  <a:rPr lang="en-US" altLang="zh-CN" sz="2800" i="1" dirty="0">
                    <a:latin typeface="Times New Roman" panose="02020603050405020304" pitchFamily="18" charset="0"/>
                  </a:rPr>
                  <a:t>k </a:t>
                </a:r>
                <a:r>
                  <a:rPr lang="zh-CN" altLang="en-US" sz="2800" dirty="0">
                    <a:latin typeface="Times New Roman" panose="02020603050405020304" pitchFamily="18" charset="0"/>
                  </a:rPr>
                  <a:t>个随机变量</a:t>
                </a:r>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a:t>
                </a:r>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 </a:t>
                </a:r>
                <a:r>
                  <a:rPr lang="en-US" altLang="zh-CN" sz="2800" i="1" dirty="0" err="1">
                    <a:latin typeface="Times New Roman" panose="02020603050405020304" pitchFamily="18" charset="0"/>
                  </a:rPr>
                  <a:t>z</a:t>
                </a:r>
                <a:r>
                  <a:rPr lang="en-US" altLang="zh-CN" sz="2800" i="1" baseline="-25000" dirty="0" err="1">
                    <a:latin typeface="Times New Roman" panose="02020603050405020304" pitchFamily="18" charset="0"/>
                  </a:rPr>
                  <a:t>k</a:t>
                </a:r>
                <a:r>
                  <a:rPr lang="en-US" altLang="zh-CN" sz="2800" i="1" baseline="-25000" dirty="0">
                    <a:latin typeface="Times New Roman" panose="02020603050405020304" pitchFamily="18" charset="0"/>
                  </a:rPr>
                  <a:t> </a:t>
                </a:r>
                <a:r>
                  <a:rPr lang="zh-CN" altLang="en-US" sz="2800" dirty="0">
                    <a:latin typeface="Times New Roman" panose="02020603050405020304" pitchFamily="18" charset="0"/>
                  </a:rPr>
                  <a:t>相互独立，且服从标准正态分布，则随机变量：</a:t>
                </a:r>
                <a14:m>
                  <m:oMath xmlns:m="http://schemas.openxmlformats.org/officeDocument/2006/math">
                    <m:sSup>
                      <m:sSupPr>
                        <m:ctrlPr>
                          <a:rPr lang="en-US" altLang="zh-CN" sz="2800" i="1" smtClean="0">
                            <a:latin typeface="Cambria Math" panose="02040503050406030204" pitchFamily="18" charset="0"/>
                          </a:rPr>
                        </m:ctrlPr>
                      </m:sSupPr>
                      <m:e>
                        <m:r>
                          <a:rPr lang="en-US" altLang="zh-CN" sz="2800" b="1" i="1" smtClean="0">
                            <a:latin typeface="Cambria Math" panose="02040503050406030204" pitchFamily="18" charset="0"/>
                          </a:rPr>
                          <m:t>𝑿</m:t>
                        </m:r>
                      </m:e>
                      <m:sup>
                        <m:r>
                          <a:rPr lang="en-US" altLang="zh-CN" sz="2800" b="1" i="1" smtClean="0">
                            <a:latin typeface="Cambria Math" panose="02040503050406030204" pitchFamily="18" charset="0"/>
                          </a:rPr>
                          <m:t>𝟐</m:t>
                        </m:r>
                      </m:sup>
                    </m:sSup>
                    <m:r>
                      <a:rPr lang="en-US" altLang="zh-CN" sz="2800" b="1" i="1" smtClean="0">
                        <a:latin typeface="Cambria Math" panose="02040503050406030204" pitchFamily="18" charset="0"/>
                      </a:rPr>
                      <m:t>=</m:t>
                    </m:r>
                    <m:nary>
                      <m:naryPr>
                        <m:chr m:val="∑"/>
                        <m:limLoc m:val="subSup"/>
                        <m:ctrlPr>
                          <a:rPr lang="en-US" altLang="zh-CN" sz="2800" b="1" i="1" smtClean="0">
                            <a:latin typeface="Cambria Math" panose="02040503050406030204" pitchFamily="18" charset="0"/>
                          </a:rPr>
                        </m:ctrlPr>
                      </m:naryPr>
                      <m:sub>
                        <m:r>
                          <m:rPr>
                            <m:brk m:alnAt="25"/>
                          </m:rPr>
                          <a:rPr lang="en-US" altLang="zh-CN" sz="2800" b="1" i="1" smtClean="0">
                            <a:latin typeface="Cambria Math" panose="02040503050406030204" pitchFamily="18" charset="0"/>
                          </a:rPr>
                          <m:t>𝒏</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b>
                      <m:sup>
                        <m:r>
                          <a:rPr lang="en-US" altLang="zh-CN" sz="2800" b="1" i="1" smtClean="0">
                            <a:latin typeface="Cambria Math" panose="02040503050406030204" pitchFamily="18" charset="0"/>
                          </a:rPr>
                          <m:t>𝒌</m:t>
                        </m:r>
                      </m:sup>
                      <m:e>
                        <m:sSubSup>
                          <m:sSubSupPr>
                            <m:ctrlPr>
                              <a:rPr lang="en-US" altLang="zh-CN" sz="2800" b="1" i="1" smtClean="0">
                                <a:latin typeface="Cambria Math" panose="02040503050406030204" pitchFamily="18" charset="0"/>
                              </a:rPr>
                            </m:ctrlPr>
                          </m:sSubSupPr>
                          <m:e>
                            <m:r>
                              <a:rPr lang="en-US" altLang="zh-CN" sz="2800" b="1" i="1" smtClean="0">
                                <a:latin typeface="Cambria Math" panose="02040503050406030204" pitchFamily="18" charset="0"/>
                              </a:rPr>
                              <m:t>𝒁</m:t>
                            </m:r>
                          </m:e>
                          <m:sub>
                            <m:r>
                              <a:rPr lang="en-US" altLang="zh-CN" sz="2800" b="1" i="1" smtClean="0">
                                <a:latin typeface="Cambria Math" panose="02040503050406030204" pitchFamily="18" charset="0"/>
                              </a:rPr>
                              <m:t>𝒏</m:t>
                            </m:r>
                          </m:sub>
                          <m:sup>
                            <m:r>
                              <a:rPr lang="en-US" altLang="zh-CN" sz="2800" b="1" i="1" smtClean="0">
                                <a:latin typeface="Cambria Math" panose="02040503050406030204" pitchFamily="18" charset="0"/>
                              </a:rPr>
                              <m:t>𝟐</m:t>
                            </m:r>
                          </m:sup>
                        </m:sSubSup>
                      </m:e>
                    </m:nary>
                  </m:oMath>
                </a14:m>
                <a:r>
                  <a:rPr lang="zh-CN" altLang="en-US" sz="2800" dirty="0">
                    <a:latin typeface="Times New Roman" panose="02020603050405020304" pitchFamily="18" charset="0"/>
                  </a:rPr>
                  <a:t>            称为自由度为 </a:t>
                </a:r>
                <a:r>
                  <a:rPr lang="en-US" altLang="zh-CN" sz="2800" i="1" dirty="0">
                    <a:latin typeface="Times New Roman" panose="02020603050405020304" pitchFamily="18" charset="0"/>
                  </a:rPr>
                  <a:t>k </a:t>
                </a:r>
                <a:r>
                  <a:rPr lang="zh-CN" altLang="en-US" sz="2800" dirty="0">
                    <a:latin typeface="Times New Roman" panose="02020603050405020304" pitchFamily="18" charset="0"/>
                  </a:rPr>
                  <a:t>的卡方分布，记作：</a:t>
                </a:r>
                <a:r>
                  <a:rPr lang="en-US" altLang="zh-CN" sz="2800" i="1"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 </a:t>
                </a:r>
                <a:r>
                  <a:rPr lang="en-US" altLang="zh-CN" sz="2800" baseline="30000" dirty="0">
                    <a:latin typeface="Times New Roman" panose="02020603050405020304" pitchFamily="18" charset="0"/>
                    <a:sym typeface="Symbol" panose="05050102010706020507" pitchFamily="18" charset="2"/>
                  </a:rPr>
                  <a:t>2</a:t>
                </a:r>
                <a:r>
                  <a:rPr lang="en-US" altLang="zh-CN" sz="2800"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sym typeface="Symbol" panose="05050102010706020507" pitchFamily="18" charset="2"/>
                  </a:rPr>
                  <a:t>k</a:t>
                </a:r>
                <a:r>
                  <a:rPr lang="en-US" altLang="zh-CN" sz="280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a:t>
                </a:r>
                <a:endParaRPr lang="zh-CN" altLang="en-US" sz="2800" dirty="0">
                  <a:latin typeface="Times New Roman" panose="02020603050405020304" pitchFamily="18" charset="0"/>
                </a:endParaRPr>
              </a:p>
              <a:p>
                <a:pPr>
                  <a:lnSpc>
                    <a:spcPct val="90000"/>
                  </a:lnSpc>
                  <a:buFontTx/>
                  <a:buNone/>
                </a:pPr>
                <a:endParaRPr lang="zh-CN" altLang="en-US" sz="2800" dirty="0">
                  <a:latin typeface="Times New Roman" panose="02020603050405020304" pitchFamily="18" charset="0"/>
                </a:endParaRPr>
              </a:p>
              <a:p>
                <a:pPr>
                  <a:lnSpc>
                    <a:spcPct val="90000"/>
                  </a:lnSpc>
                  <a:buFontTx/>
                  <a:buNone/>
                </a:pPr>
                <a:endParaRPr lang="zh-CN" altLang="en-US" sz="2800" dirty="0">
                  <a:latin typeface="Times New Roman" panose="02020603050405020304" pitchFamily="18" charset="0"/>
                </a:endParaRPr>
              </a:p>
              <a:p>
                <a:pPr>
                  <a:lnSpc>
                    <a:spcPct val="90000"/>
                  </a:lnSpc>
                  <a:buFontTx/>
                  <a:buNone/>
                </a:pPr>
                <a:endParaRPr lang="zh-CN" altLang="en-US" sz="2800" dirty="0">
                  <a:latin typeface="Times New Roman" panose="02020603050405020304" pitchFamily="18" charset="0"/>
                </a:endParaRPr>
              </a:p>
              <a:p>
                <a:pPr>
                  <a:lnSpc>
                    <a:spcPct val="90000"/>
                  </a:lnSpc>
                  <a:buFontTx/>
                  <a:buNone/>
                </a:pPr>
                <a:r>
                  <a:rPr lang="zh-CN" altLang="en-US" sz="2800" dirty="0">
                    <a:solidFill>
                      <a:schemeClr val="accent2"/>
                    </a:solidFill>
                    <a:latin typeface="Times New Roman" panose="02020603050405020304" pitchFamily="18" charset="0"/>
                  </a:rPr>
                  <a:t>应用：</a:t>
                </a:r>
                <a:r>
                  <a:rPr lang="zh-CN" altLang="en-US" sz="2800" dirty="0">
                    <a:latin typeface="Times New Roman" panose="02020603050405020304" pitchFamily="18" charset="0"/>
                  </a:rPr>
                  <a:t>常用于假设检验和置信区间的计算。</a:t>
                </a:r>
              </a:p>
            </p:txBody>
          </p:sp>
        </mc:Choice>
        <mc:Fallback xmlns="">
          <p:sp>
            <p:nvSpPr>
              <p:cNvPr id="88074" name="Rectangle 3">
                <a:extLst>
                  <a:ext uri="{FF2B5EF4-FFF2-40B4-BE49-F238E27FC236}">
                    <a16:creationId xmlns:a16="http://schemas.microsoft.com/office/drawing/2014/main" id="{9805F36C-6157-4CB0-AE5F-C07C54323C7E}"/>
                  </a:ext>
                </a:extLst>
              </p:cNvPr>
              <p:cNvSpPr>
                <a:spLocks noRot="1" noChangeAspect="1" noMove="1" noResize="1" noEditPoints="1" noAdjustHandles="1" noChangeArrowheads="1" noChangeShapeType="1" noTextEdit="1"/>
              </p:cNvSpPr>
              <p:nvPr/>
            </p:nvSpPr>
            <p:spPr bwMode="auto">
              <a:xfrm>
                <a:off x="611188" y="1889125"/>
                <a:ext cx="8001000" cy="4968875"/>
              </a:xfrm>
              <a:prstGeom prst="rect">
                <a:avLst/>
              </a:prstGeom>
              <a:blipFill>
                <a:blip r:embed="rId2"/>
                <a:stretch>
                  <a:fillRect l="-1523" t="-613" r="-144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0C621A1-CC7D-4293-89A8-58AE2A5E4256}"/>
                  </a:ext>
                </a:extLst>
              </p:cNvPr>
              <p:cNvSpPr txBox="1"/>
              <p:nvPr/>
            </p:nvSpPr>
            <p:spPr>
              <a:xfrm>
                <a:off x="2173431" y="3789040"/>
                <a:ext cx="4441537" cy="9546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𝒌</m:t>
                          </m:r>
                        </m:sub>
                      </m:sSub>
                      <m:d>
                        <m:dPr>
                          <m:ctrlPr>
                            <a:rPr lang="en-US" altLang="zh-CN"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e>
                              </m:d>
                            </m:e>
                            <m:sup>
                              <m:r>
                                <a:rPr lang="en-US" altLang="zh-CN" b="1" i="1" smtClean="0">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sup>
                          </m:sSup>
                        </m:num>
                        <m:den>
                          <m:r>
                            <a:rPr lang="zh-CN" altLang="en-US" b="1" i="1" smtClean="0">
                              <a:latin typeface="Cambria Math" panose="02040503050406030204" pitchFamily="18" charset="0"/>
                            </a:rPr>
                            <m:t>𝚪</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e>
                          </m:d>
                        </m:den>
                      </m:f>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𝒙</m:t>
                          </m:r>
                        </m:e>
                        <m:sup>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𝒌</m:t>
                              </m:r>
                            </m:num>
                            <m:den>
                              <m:r>
                                <a:rPr lang="en-US" altLang="zh-CN" b="1" i="1" smtClean="0">
                                  <a:latin typeface="Cambria Math" panose="02040503050406030204" pitchFamily="18" charset="0"/>
                                </a:rPr>
                                <m:t>𝟐</m:t>
                              </m:r>
                            </m:den>
                          </m:f>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p>
                      </m:sSup>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𝒆</m:t>
                          </m:r>
                        </m:e>
                        <m:sup>
                          <m:r>
                            <a:rPr lang="en-US" altLang="zh-CN" b="1" i="1" smtClean="0">
                              <a:latin typeface="Cambria Math" panose="02040503050406030204" pitchFamily="18" charset="0"/>
                            </a:rPr>
                            <m:t>−</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sup>
                      </m:sSup>
                    </m:oMath>
                  </m:oMathPara>
                </a14:m>
                <a:endParaRPr lang="zh-CN" altLang="en-US" dirty="0"/>
              </a:p>
            </p:txBody>
          </p:sp>
        </mc:Choice>
        <mc:Fallback xmlns="">
          <p:sp>
            <p:nvSpPr>
              <p:cNvPr id="4" name="文本框 3">
                <a:extLst>
                  <a:ext uri="{FF2B5EF4-FFF2-40B4-BE49-F238E27FC236}">
                    <a16:creationId xmlns:a16="http://schemas.microsoft.com/office/drawing/2014/main" id="{00C621A1-CC7D-4293-89A8-58AE2A5E4256}"/>
                  </a:ext>
                </a:extLst>
              </p:cNvPr>
              <p:cNvSpPr txBox="1">
                <a:spLocks noRot="1" noChangeAspect="1" noMove="1" noResize="1" noEditPoints="1" noAdjustHandles="1" noChangeArrowheads="1" noChangeShapeType="1" noTextEdit="1"/>
              </p:cNvSpPr>
              <p:nvPr/>
            </p:nvSpPr>
            <p:spPr>
              <a:xfrm>
                <a:off x="2173431" y="3789040"/>
                <a:ext cx="4441537" cy="954685"/>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067"/>
                                        </p:tgtEl>
                                        <p:attrNameLst>
                                          <p:attrName>style.visibility</p:attrName>
                                        </p:attrNameLst>
                                      </p:cBhvr>
                                      <p:to>
                                        <p:strVal val="visible"/>
                                      </p:to>
                                    </p:set>
                                    <p:anim calcmode="lin" valueType="num">
                                      <p:cBhvr additive="base">
                                        <p:cTn id="7" dur="500" fill="hold"/>
                                        <p:tgtEl>
                                          <p:spTgt spid="88067"/>
                                        </p:tgtEl>
                                        <p:attrNameLst>
                                          <p:attrName>ppt_x</p:attrName>
                                        </p:attrNameLst>
                                      </p:cBhvr>
                                      <p:tavLst>
                                        <p:tav tm="0">
                                          <p:val>
                                            <p:strVal val="1+#ppt_w/2"/>
                                          </p:val>
                                        </p:tav>
                                        <p:tav tm="100000">
                                          <p:val>
                                            <p:strVal val="#ppt_x"/>
                                          </p:val>
                                        </p:tav>
                                      </p:tavLst>
                                    </p:anim>
                                    <p:anim calcmode="lin" valueType="num">
                                      <p:cBhvr additive="base">
                                        <p:cTn id="8" dur="500" fill="hold"/>
                                        <p:tgtEl>
                                          <p:spTgt spid="880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a:extLst>
              <a:ext uri="{FF2B5EF4-FFF2-40B4-BE49-F238E27FC236}">
                <a16:creationId xmlns:a16="http://schemas.microsoft.com/office/drawing/2014/main" id="{41747833-6F90-48D1-855F-71E20CF7031C}"/>
              </a:ext>
            </a:extLst>
          </p:cNvPr>
          <p:cNvSpPr>
            <a:spLocks noGrp="1" noChangeArrowheads="1"/>
          </p:cNvSpPr>
          <p:nvPr>
            <p:ph type="title"/>
          </p:nvPr>
        </p:nvSpPr>
        <p:spPr>
          <a:xfrm>
            <a:off x="446439" y="488366"/>
            <a:ext cx="8229600" cy="609600"/>
          </a:xfrm>
        </p:spPr>
        <p:txBody>
          <a:bodyPr anchor="b"/>
          <a:lstStyle/>
          <a:p>
            <a:pPr algn="l"/>
            <a:r>
              <a:rPr lang="en-US" altLang="zh-CN" sz="3200" b="1" dirty="0">
                <a:solidFill>
                  <a:schemeClr val="tx1"/>
                </a:solidFill>
                <a:latin typeface="Times New Roman" panose="02020603050405020304" pitchFamily="18" charset="0"/>
              </a:rPr>
              <a:t>2.   </a:t>
            </a:r>
            <a:r>
              <a:rPr lang="en-US" altLang="zh-CN" sz="3200" b="1" i="1" dirty="0">
                <a:solidFill>
                  <a:schemeClr val="tx1"/>
                </a:solidFill>
                <a:latin typeface="Times New Roman" panose="02020603050405020304" pitchFamily="18" charset="0"/>
              </a:rPr>
              <a:t>F </a:t>
            </a:r>
            <a:r>
              <a:rPr lang="zh-CN" altLang="en-US" sz="3200" b="1" dirty="0">
                <a:solidFill>
                  <a:schemeClr val="tx1"/>
                </a:solidFill>
                <a:latin typeface="Times New Roman" panose="02020603050405020304" pitchFamily="18" charset="0"/>
              </a:rPr>
              <a:t>分布</a:t>
            </a:r>
          </a:p>
        </p:txBody>
      </p:sp>
      <p:sp>
        <p:nvSpPr>
          <p:cNvPr id="89093" name="Rectangle 3">
            <a:extLst>
              <a:ext uri="{FF2B5EF4-FFF2-40B4-BE49-F238E27FC236}">
                <a16:creationId xmlns:a16="http://schemas.microsoft.com/office/drawing/2014/main" id="{6327720F-9486-4395-9D07-FEA363302C1C}"/>
              </a:ext>
            </a:extLst>
          </p:cNvPr>
          <p:cNvSpPr>
            <a:spLocks noGrp="1" noChangeArrowheads="1"/>
          </p:cNvSpPr>
          <p:nvPr>
            <p:ph idx="1"/>
          </p:nvPr>
        </p:nvSpPr>
        <p:spPr/>
        <p:txBody>
          <a:bodyPr/>
          <a:lstStyle/>
          <a:p>
            <a:pPr marL="1071563" indent="-1071563">
              <a:lnSpc>
                <a:spcPct val="150000"/>
              </a:lnSpc>
              <a:spcBef>
                <a:spcPts val="0"/>
              </a:spcBef>
              <a:buFontTx/>
              <a:buNone/>
            </a:pPr>
            <a:r>
              <a:rPr lang="zh-CN" altLang="en-US" sz="2800" b="1" dirty="0">
                <a:solidFill>
                  <a:srgbClr val="E313ED"/>
                </a:solidFill>
                <a:latin typeface="Times New Roman" panose="02020603050405020304" pitchFamily="18" charset="0"/>
              </a:rPr>
              <a:t>定义：</a:t>
            </a:r>
            <a:r>
              <a:rPr lang="zh-CN" altLang="en-US" sz="2800" b="1" dirty="0">
                <a:latin typeface="Times New Roman" panose="02020603050405020304" pitchFamily="18" charset="0"/>
              </a:rPr>
              <a:t>设 </a:t>
            </a:r>
            <a:r>
              <a:rPr lang="en-US" altLang="zh-CN" sz="2800" b="1" i="1" dirty="0">
                <a:latin typeface="Times New Roman" panose="02020603050405020304" pitchFamily="18" charset="0"/>
              </a:rPr>
              <a:t>X</a:t>
            </a:r>
            <a:r>
              <a:rPr lang="en-US" altLang="zh-CN" sz="2800" b="1" baseline="-25000" dirty="0">
                <a:latin typeface="Times New Roman" panose="02020603050405020304" pitchFamily="18" charset="0"/>
              </a:rPr>
              <a:t>1 </a:t>
            </a:r>
            <a:r>
              <a:rPr lang="zh-CN" altLang="en-US" sz="2800" b="1" dirty="0">
                <a:latin typeface="Times New Roman" panose="02020603050405020304" pitchFamily="18" charset="0"/>
              </a:rPr>
              <a:t>服从自由度为</a:t>
            </a:r>
            <a:r>
              <a:rPr lang="en-US" altLang="zh-CN" sz="2800" b="1" i="1" dirty="0">
                <a:latin typeface="Times New Roman" panose="02020603050405020304" pitchFamily="18" charset="0"/>
              </a:rPr>
              <a:t>n</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的</a:t>
            </a:r>
            <a:r>
              <a:rPr lang="zh-CN" altLang="en-US" sz="2800" b="1" dirty="0">
                <a:latin typeface="Times New Roman" panose="02020603050405020304" pitchFamily="18" charset="0"/>
                <a:sym typeface="Symbol" panose="05050102010706020507" pitchFamily="18" charset="2"/>
              </a:rPr>
              <a:t></a:t>
            </a:r>
            <a:r>
              <a:rPr lang="en-US" altLang="zh-CN" sz="2800" b="1" baseline="30000" dirty="0">
                <a:latin typeface="Times New Roman" panose="02020603050405020304" pitchFamily="18" charset="0"/>
                <a:sym typeface="Symbol" panose="05050102010706020507" pitchFamily="18" charset="2"/>
              </a:rPr>
              <a:t>2</a:t>
            </a:r>
            <a:r>
              <a:rPr lang="zh-CN" altLang="en-US" sz="2800" b="1" dirty="0">
                <a:latin typeface="Times New Roman" panose="02020603050405020304" pitchFamily="18" charset="0"/>
                <a:sym typeface="Symbol" panose="05050102010706020507" pitchFamily="18" charset="2"/>
              </a:rPr>
              <a:t>分布，</a:t>
            </a:r>
            <a:r>
              <a:rPr lang="zh-CN" altLang="en-US" sz="2800" b="1" dirty="0">
                <a:latin typeface="Times New Roman" panose="02020603050405020304" pitchFamily="18" charset="0"/>
              </a:rPr>
              <a:t>设</a:t>
            </a:r>
            <a:r>
              <a:rPr lang="en-US" altLang="zh-CN" sz="2800" b="1" i="1" dirty="0">
                <a:latin typeface="Times New Roman" panose="02020603050405020304" pitchFamily="18" charset="0"/>
              </a:rPr>
              <a:t>X</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服从自由度为</a:t>
            </a:r>
            <a:r>
              <a:rPr lang="en-US" altLang="zh-CN" sz="2800" b="1" i="1" dirty="0">
                <a:latin typeface="Times New Roman" panose="02020603050405020304" pitchFamily="18" charset="0"/>
              </a:rPr>
              <a:t>n</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的</a:t>
            </a:r>
            <a:r>
              <a:rPr lang="zh-CN" altLang="en-US" sz="2800" b="1" dirty="0">
                <a:latin typeface="Times New Roman" panose="02020603050405020304" pitchFamily="18" charset="0"/>
                <a:sym typeface="Symbol" panose="05050102010706020507" pitchFamily="18" charset="2"/>
              </a:rPr>
              <a:t></a:t>
            </a:r>
            <a:r>
              <a:rPr lang="en-US" altLang="zh-CN" sz="2800" b="1" baseline="30000" dirty="0">
                <a:latin typeface="Times New Roman" panose="02020603050405020304" pitchFamily="18" charset="0"/>
                <a:sym typeface="Symbol" panose="05050102010706020507" pitchFamily="18" charset="2"/>
              </a:rPr>
              <a:t>2</a:t>
            </a:r>
            <a:r>
              <a:rPr lang="zh-CN" altLang="en-US" sz="2800" b="1" dirty="0">
                <a:latin typeface="Times New Roman" panose="02020603050405020304" pitchFamily="18" charset="0"/>
                <a:sym typeface="Symbol" panose="05050102010706020507" pitchFamily="18" charset="2"/>
              </a:rPr>
              <a:t>分布，且</a:t>
            </a:r>
            <a:r>
              <a:rPr lang="en-US" altLang="zh-CN" sz="2800" b="1" i="1" dirty="0">
                <a:latin typeface="Times New Roman" panose="02020603050405020304" pitchFamily="18" charset="0"/>
                <a:sym typeface="Symbol" panose="05050102010706020507" pitchFamily="18" charset="2"/>
              </a:rPr>
              <a:t>X</a:t>
            </a:r>
            <a:r>
              <a:rPr lang="en-US" altLang="zh-CN" sz="2800" b="1" baseline="-25000" dirty="0">
                <a:latin typeface="Times New Roman" panose="02020603050405020304" pitchFamily="18" charset="0"/>
                <a:sym typeface="Symbol" panose="05050102010706020507" pitchFamily="18" charset="2"/>
              </a:rPr>
              <a:t>1</a:t>
            </a:r>
            <a:r>
              <a:rPr lang="en-US" altLang="zh-CN" sz="2800" b="1"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sym typeface="Symbol" panose="05050102010706020507" pitchFamily="18" charset="2"/>
              </a:rPr>
              <a:t>X</a:t>
            </a:r>
            <a:r>
              <a:rPr lang="en-US" altLang="zh-CN" sz="2800" b="1" baseline="-25000" dirty="0">
                <a:latin typeface="Times New Roman" panose="02020603050405020304" pitchFamily="18" charset="0"/>
                <a:sym typeface="Symbol" panose="05050102010706020507" pitchFamily="18" charset="2"/>
              </a:rPr>
              <a:t>2</a:t>
            </a:r>
            <a:r>
              <a:rPr lang="zh-CN" altLang="en-US" sz="2800" b="1" dirty="0">
                <a:latin typeface="Times New Roman" panose="02020603050405020304" pitchFamily="18" charset="0"/>
                <a:sym typeface="Symbol" panose="05050102010706020507" pitchFamily="18" charset="2"/>
              </a:rPr>
              <a:t>相互独立，则称</a:t>
            </a:r>
            <a:endParaRPr lang="en-US" altLang="zh-CN" sz="2800" b="1" dirty="0">
              <a:latin typeface="Times New Roman" panose="02020603050405020304" pitchFamily="18" charset="0"/>
              <a:sym typeface="Symbol" panose="05050102010706020507" pitchFamily="18" charset="2"/>
            </a:endParaRPr>
          </a:p>
          <a:p>
            <a:pPr marL="1071563" indent="-1071563">
              <a:lnSpc>
                <a:spcPct val="150000"/>
              </a:lnSpc>
              <a:spcBef>
                <a:spcPts val="0"/>
              </a:spcBef>
              <a:buFontTx/>
              <a:buNone/>
            </a:pPr>
            <a:r>
              <a:rPr lang="en-US" altLang="zh-CN" sz="2800" b="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变量： </a:t>
            </a:r>
            <a:endParaRPr lang="en-US" altLang="zh-CN" sz="2800" b="1" dirty="0">
              <a:latin typeface="Times New Roman" panose="02020603050405020304" pitchFamily="18" charset="0"/>
              <a:sym typeface="Symbol" panose="05050102010706020507" pitchFamily="18" charset="2"/>
            </a:endParaRPr>
          </a:p>
          <a:p>
            <a:pPr marL="1071563" indent="-1071563">
              <a:lnSpc>
                <a:spcPct val="150000"/>
              </a:lnSpc>
              <a:spcBef>
                <a:spcPts val="0"/>
              </a:spcBef>
              <a:buFontTx/>
              <a:buNone/>
            </a:pPr>
            <a:endParaRPr lang="en-US" altLang="zh-CN" sz="2800" b="1" dirty="0">
              <a:latin typeface="Times New Roman" panose="02020603050405020304" pitchFamily="18" charset="0"/>
              <a:sym typeface="Symbol" panose="05050102010706020507" pitchFamily="18" charset="2"/>
            </a:endParaRPr>
          </a:p>
          <a:p>
            <a:pPr marL="1071563" indent="-1071563">
              <a:lnSpc>
                <a:spcPct val="150000"/>
              </a:lnSpc>
              <a:spcBef>
                <a:spcPts val="0"/>
              </a:spcBef>
              <a:buFontTx/>
              <a:buNone/>
            </a:pPr>
            <a:r>
              <a:rPr lang="zh-CN" altLang="en-US" sz="2800" b="1" dirty="0">
                <a:latin typeface="Times New Roman" panose="02020603050405020304" pitchFamily="18" charset="0"/>
                <a:sym typeface="Symbol" panose="05050102010706020507" pitchFamily="18" charset="2"/>
              </a:rPr>
              <a:t>            服从</a:t>
            </a:r>
            <a:r>
              <a:rPr lang="en-US" altLang="zh-CN" sz="2800" b="1" i="1" dirty="0">
                <a:latin typeface="Times New Roman" panose="02020603050405020304" pitchFamily="18" charset="0"/>
                <a:sym typeface="Symbol" panose="05050102010706020507" pitchFamily="18" charset="2"/>
              </a:rPr>
              <a:t>F </a:t>
            </a:r>
            <a:r>
              <a:rPr lang="zh-CN" altLang="en-US" sz="2800" b="1" dirty="0">
                <a:latin typeface="Times New Roman" panose="02020603050405020304" pitchFamily="18" charset="0"/>
                <a:sym typeface="Symbol" panose="05050102010706020507" pitchFamily="18" charset="2"/>
              </a:rPr>
              <a:t>分布，自由度为</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sym typeface="Symbol" panose="05050102010706020507" pitchFamily="18" charset="2"/>
              </a:rPr>
              <a:t>n</a:t>
            </a:r>
            <a:r>
              <a:rPr lang="en-US" altLang="zh-CN" sz="2800" b="1" baseline="-25000" dirty="0">
                <a:latin typeface="Times New Roman" panose="02020603050405020304" pitchFamily="18" charset="0"/>
                <a:sym typeface="Symbol" panose="05050102010706020507" pitchFamily="18" charset="2"/>
              </a:rPr>
              <a:t>1</a:t>
            </a:r>
            <a:r>
              <a:rPr lang="en-US" altLang="zh-CN" sz="2800" b="1"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sym typeface="Symbol" panose="05050102010706020507" pitchFamily="18" charset="2"/>
              </a:rPr>
              <a:t>n</a:t>
            </a:r>
            <a:r>
              <a:rPr lang="en-US" altLang="zh-CN" sz="2800" b="1" baseline="-25000" dirty="0">
                <a:latin typeface="Times New Roman" panose="02020603050405020304" pitchFamily="18" charset="0"/>
                <a:sym typeface="Symbol" panose="05050102010706020507" pitchFamily="18" charset="2"/>
              </a:rPr>
              <a:t>2</a:t>
            </a:r>
            <a:r>
              <a:rPr lang="en-US" altLang="zh-CN"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sym typeface="Symbol" panose="05050102010706020507" pitchFamily="18" charset="2"/>
              </a:rPr>
              <a:t>。  </a:t>
            </a:r>
            <a:endParaRPr lang="en-US" altLang="zh-CN" sz="2800" b="1" dirty="0">
              <a:latin typeface="Times New Roman" panose="02020603050405020304" pitchFamily="18" charset="0"/>
              <a:sym typeface="Symbol" panose="05050102010706020507" pitchFamily="18" charset="2"/>
            </a:endParaRPr>
          </a:p>
          <a:p>
            <a:pPr marL="1071563" indent="-1071563">
              <a:lnSpc>
                <a:spcPct val="150000"/>
              </a:lnSpc>
              <a:spcBef>
                <a:spcPts val="0"/>
              </a:spcBef>
              <a:buFontTx/>
              <a:buNone/>
            </a:pPr>
            <a:r>
              <a:rPr lang="zh-CN" altLang="en-US" sz="2800" b="1" dirty="0">
                <a:solidFill>
                  <a:srgbClr val="E313ED"/>
                </a:solidFill>
                <a:latin typeface="Times New Roman" panose="02020603050405020304" pitchFamily="18" charset="0"/>
                <a:sym typeface="Symbol" panose="05050102010706020507" pitchFamily="18" charset="2"/>
              </a:rPr>
              <a:t>应用：</a:t>
            </a:r>
            <a:r>
              <a:rPr lang="zh-CN" altLang="en-US" sz="2800" b="1" dirty="0">
                <a:latin typeface="Times New Roman" panose="02020603050405020304" pitchFamily="18" charset="0"/>
                <a:sym typeface="Symbol" panose="05050102010706020507" pitchFamily="18" charset="2"/>
              </a:rPr>
              <a:t>假设检验。</a:t>
            </a:r>
            <a:endParaRPr lang="zh-CN" altLang="en-US" sz="2800" b="1" baseline="-25000" dirty="0">
              <a:latin typeface="Times New Roman" panose="02020603050405020304" pitchFamily="18" charset="0"/>
              <a:sym typeface="Symbol" panose="05050102010706020507" pitchFamily="18" charset="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56BBE3E-BBF6-42AE-96F1-6D055893922F}"/>
                  </a:ext>
                </a:extLst>
              </p:cNvPr>
              <p:cNvSpPr txBox="1"/>
              <p:nvPr/>
            </p:nvSpPr>
            <p:spPr>
              <a:xfrm>
                <a:off x="3491880" y="3284984"/>
                <a:ext cx="1797030" cy="890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𝑿</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𝒏</m:t>
                              </m:r>
                            </m:e>
                            <m:sub>
                              <m:r>
                                <a:rPr lang="en-US" altLang="zh-CN" b="1" i="1" smtClean="0">
                                  <a:latin typeface="Cambria Math" panose="02040503050406030204" pitchFamily="18" charset="0"/>
                                </a:rPr>
                                <m:t>𝟏</m:t>
                              </m:r>
                            </m:sub>
                          </m:sSub>
                        </m:num>
                        <m:den>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𝑿</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𝒏</m:t>
                              </m:r>
                            </m:e>
                            <m:sub>
                              <m:r>
                                <a:rPr lang="en-US" altLang="zh-CN" b="1" i="1" smtClean="0">
                                  <a:latin typeface="Cambria Math" panose="02040503050406030204" pitchFamily="18" charset="0"/>
                                </a:rPr>
                                <m:t>𝟐</m:t>
                              </m:r>
                            </m:sub>
                          </m:sSub>
                        </m:den>
                      </m:f>
                    </m:oMath>
                  </m:oMathPara>
                </a14:m>
                <a:endParaRPr lang="zh-CN" altLang="en-US" dirty="0"/>
              </a:p>
            </p:txBody>
          </p:sp>
        </mc:Choice>
        <mc:Fallback xmlns="">
          <p:sp>
            <p:nvSpPr>
              <p:cNvPr id="2" name="文本框 1">
                <a:extLst>
                  <a:ext uri="{FF2B5EF4-FFF2-40B4-BE49-F238E27FC236}">
                    <a16:creationId xmlns:a16="http://schemas.microsoft.com/office/drawing/2014/main" id="{D56BBE3E-BBF6-42AE-96F1-6D055893922F}"/>
                  </a:ext>
                </a:extLst>
              </p:cNvPr>
              <p:cNvSpPr txBox="1">
                <a:spLocks noRot="1" noChangeAspect="1" noMove="1" noResize="1" noEditPoints="1" noAdjustHandles="1" noChangeArrowheads="1" noChangeShapeType="1" noTextEdit="1"/>
              </p:cNvSpPr>
              <p:nvPr/>
            </p:nvSpPr>
            <p:spPr>
              <a:xfrm>
                <a:off x="3491880" y="3284984"/>
                <a:ext cx="1797030" cy="890821"/>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B8B816E-F640-453B-A6C6-4A808EA329A2}"/>
              </a:ext>
            </a:extLst>
          </p:cNvPr>
          <p:cNvSpPr>
            <a:spLocks noGrp="1" noChangeArrowheads="1"/>
          </p:cNvSpPr>
          <p:nvPr>
            <p:ph type="subTitle" idx="4294967295"/>
          </p:nvPr>
        </p:nvSpPr>
        <p:spPr>
          <a:xfrm>
            <a:off x="0" y="3886200"/>
            <a:ext cx="6400800" cy="1752600"/>
          </a:xfrm>
        </p:spPr>
        <p:txBody>
          <a:bodyPr/>
          <a:lstStyle/>
          <a:p>
            <a:r>
              <a:rPr lang="en-US" altLang="zh-CN" sz="3200"/>
              <a:t>  </a:t>
            </a:r>
          </a:p>
        </p:txBody>
      </p:sp>
      <p:sp>
        <p:nvSpPr>
          <p:cNvPr id="91139" name="Rectangle 3">
            <a:extLst>
              <a:ext uri="{FF2B5EF4-FFF2-40B4-BE49-F238E27FC236}">
                <a16:creationId xmlns:a16="http://schemas.microsoft.com/office/drawing/2014/main" id="{4B61C95C-1133-4B8D-9280-06B4EFF6B2B8}"/>
              </a:ext>
            </a:extLst>
          </p:cNvPr>
          <p:cNvSpPr>
            <a:spLocks noChangeArrowheads="1"/>
          </p:cNvSpPr>
          <p:nvPr/>
        </p:nvSpPr>
        <p:spPr bwMode="auto">
          <a:xfrm>
            <a:off x="179512" y="476251"/>
            <a:ext cx="6480175" cy="7921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r>
              <a:rPr lang="zh-CN" altLang="zh-CN" sz="3600" i="1">
                <a:solidFill>
                  <a:srgbClr val="E313ED"/>
                </a:solidFill>
                <a:latin typeface="Times New Roman" panose="02020603050405020304" pitchFamily="18" charset="0"/>
              </a:rPr>
              <a:t>F</a:t>
            </a:r>
            <a:r>
              <a:rPr lang="zh-CN" altLang="zh-CN" sz="3600">
                <a:solidFill>
                  <a:srgbClr val="E313ED"/>
                </a:solidFill>
                <a:latin typeface="Times New Roman" panose="02020603050405020304" pitchFamily="18" charset="0"/>
              </a:rPr>
              <a:t>分布与正态分布的关系</a:t>
            </a:r>
            <a:r>
              <a:rPr lang="en-US" altLang="zh-CN" sz="3600">
                <a:solidFill>
                  <a:srgbClr val="E313ED"/>
                </a:solidFill>
                <a:latin typeface="Times New Roman" panose="02020603050405020304" pitchFamily="18" charset="0"/>
              </a:rPr>
              <a:t>:</a:t>
            </a:r>
          </a:p>
        </p:txBody>
      </p:sp>
      <p:sp>
        <p:nvSpPr>
          <p:cNvPr id="91140" name="Rectangle 3">
            <a:extLst>
              <a:ext uri="{FF2B5EF4-FFF2-40B4-BE49-F238E27FC236}">
                <a16:creationId xmlns:a16="http://schemas.microsoft.com/office/drawing/2014/main" id="{7A258AEC-E992-46FE-8899-DD08E77B73D6}"/>
              </a:ext>
            </a:extLst>
          </p:cNvPr>
          <p:cNvSpPr>
            <a:spLocks noChangeArrowheads="1"/>
          </p:cNvSpPr>
          <p:nvPr/>
        </p:nvSpPr>
        <p:spPr bwMode="auto">
          <a:xfrm>
            <a:off x="468313" y="1268413"/>
            <a:ext cx="828040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0638" indent="-20638" algn="ctr">
              <a:spcBef>
                <a:spcPct val="20000"/>
              </a:spcBef>
              <a:defRPr sz="3200">
                <a:solidFill>
                  <a:schemeClr val="tx1"/>
                </a:solidFill>
                <a:latin typeface="Arial" panose="020B0604020202020204" pitchFamily="34" charset="0"/>
                <a:ea typeface="宋体" panose="02010600030101010101" pitchFamily="2" charset="-122"/>
              </a:defRPr>
            </a:lvl1pPr>
            <a:lvl2pPr marL="935038" indent="-285750" algn="ctr">
              <a:spcBef>
                <a:spcPct val="20000"/>
              </a:spcBef>
              <a:defRPr sz="2800">
                <a:solidFill>
                  <a:schemeClr val="tx1"/>
                </a:solidFill>
                <a:latin typeface="Arial" panose="020B0604020202020204" pitchFamily="34" charset="0"/>
                <a:ea typeface="宋体" panose="02010600030101010101" pitchFamily="2" charset="-122"/>
              </a:defRPr>
            </a:lvl2pPr>
            <a:lvl3pPr marL="1343025" indent="-228600" algn="ctr">
              <a:spcBef>
                <a:spcPct val="20000"/>
              </a:spcBef>
              <a:defRPr sz="2400">
                <a:solidFill>
                  <a:schemeClr val="tx1"/>
                </a:solidFill>
                <a:latin typeface="Arial" panose="020B0604020202020204" pitchFamily="34" charset="0"/>
                <a:ea typeface="宋体" panose="02010600030101010101" pitchFamily="2" charset="-122"/>
              </a:defRPr>
            </a:lvl3pPr>
            <a:lvl4pPr marL="1751013" indent="-228600" algn="ctr">
              <a:spcBef>
                <a:spcPct val="20000"/>
              </a:spcBef>
              <a:defRPr sz="2000">
                <a:solidFill>
                  <a:schemeClr val="tx1"/>
                </a:solidFill>
                <a:latin typeface="Arial" panose="020B0604020202020204" pitchFamily="34" charset="0"/>
                <a:ea typeface="宋体" panose="02010600030101010101" pitchFamily="2" charset="-122"/>
              </a:defRPr>
            </a:lvl4pPr>
            <a:lvl5pPr marL="2159000" indent="-228600" algn="ctr">
              <a:spcBef>
                <a:spcPct val="20000"/>
              </a:spcBef>
              <a:defRPr sz="2000">
                <a:solidFill>
                  <a:schemeClr val="tx1"/>
                </a:solidFill>
                <a:latin typeface="Arial" panose="020B0604020202020204" pitchFamily="34" charset="0"/>
                <a:ea typeface="宋体" panose="02010600030101010101" pitchFamily="2" charset="-122"/>
              </a:defRPr>
            </a:lvl5pPr>
            <a:lvl6pPr marL="26162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30734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5306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9878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l">
              <a:lnSpc>
                <a:spcPct val="125000"/>
              </a:lnSpc>
            </a:pPr>
            <a:r>
              <a:rPr lang="en-US" altLang="zh-CN" sz="2800"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自一个正态分布中随机抽取数量为</a:t>
            </a:r>
            <a:r>
              <a:rPr lang="en-US" altLang="zh-CN" i="1" dirty="0">
                <a:latin typeface="Times New Roman" panose="02020603050405020304" pitchFamily="18" charset="0"/>
                <a:sym typeface="Symbol" panose="05050102010706020507" pitchFamily="18" charset="2"/>
              </a:rPr>
              <a:t>n</a:t>
            </a:r>
            <a:r>
              <a:rPr lang="en-US" altLang="zh-CN" baseline="-25000" dirty="0">
                <a:latin typeface="Times New Roman" panose="02020603050405020304" pitchFamily="18" charset="0"/>
                <a:sym typeface="Symbol" panose="05050102010706020507" pitchFamily="18" charset="2"/>
              </a:rPr>
              <a:t>1</a:t>
            </a:r>
            <a:r>
              <a:rPr lang="zh-CN" altLang="en-US" dirty="0">
                <a:latin typeface="Times New Roman" panose="02020603050405020304" pitchFamily="18" charset="0"/>
                <a:sym typeface="Symbol" panose="05050102010706020507" pitchFamily="18" charset="2"/>
              </a:rPr>
              <a:t>及</a:t>
            </a:r>
            <a:r>
              <a:rPr lang="en-US" altLang="zh-CN" i="1" dirty="0">
                <a:latin typeface="Times New Roman" panose="02020603050405020304" pitchFamily="18" charset="0"/>
                <a:sym typeface="Symbol" panose="05050102010706020507" pitchFamily="18" charset="2"/>
              </a:rPr>
              <a:t>n</a:t>
            </a:r>
            <a:r>
              <a:rPr lang="en-US" altLang="zh-CN" baseline="-25000" dirty="0">
                <a:latin typeface="Times New Roman" panose="02020603050405020304" pitchFamily="18" charset="0"/>
                <a:sym typeface="Symbol" panose="05050102010706020507" pitchFamily="18" charset="2"/>
              </a:rPr>
              <a:t>2</a:t>
            </a:r>
            <a:r>
              <a:rPr lang="zh-CN" altLang="en-US" dirty="0">
                <a:latin typeface="Times New Roman" panose="02020603050405020304" pitchFamily="18" charset="0"/>
                <a:sym typeface="Symbol" panose="05050102010706020507" pitchFamily="18" charset="2"/>
              </a:rPr>
              <a:t>的两个样本，其方差的比值服从 </a:t>
            </a:r>
            <a:r>
              <a:rPr lang="en-US" altLang="zh-CN" i="1" dirty="0">
                <a:latin typeface="Times New Roman" panose="02020603050405020304" pitchFamily="18" charset="0"/>
                <a:sym typeface="Symbol" panose="05050102010706020507" pitchFamily="18" charset="2"/>
              </a:rPr>
              <a:t>F </a:t>
            </a:r>
            <a:r>
              <a:rPr lang="zh-CN" altLang="en-US" dirty="0">
                <a:latin typeface="Times New Roman" panose="02020603050405020304" pitchFamily="18" charset="0"/>
                <a:sym typeface="Symbol" panose="05050102010706020507" pitchFamily="18" charset="2"/>
              </a:rPr>
              <a:t>分布，分子的自由度为 </a:t>
            </a:r>
            <a:r>
              <a:rPr lang="en-US" altLang="zh-CN" i="1" dirty="0">
                <a:latin typeface="Times New Roman" panose="02020603050405020304" pitchFamily="18" charset="0"/>
                <a:sym typeface="Symbol" panose="05050102010706020507" pitchFamily="18" charset="2"/>
              </a:rPr>
              <a:t>n</a:t>
            </a:r>
            <a:r>
              <a:rPr lang="en-US" altLang="zh-CN" baseline="-25000" dirty="0">
                <a:latin typeface="Times New Roman" panose="02020603050405020304" pitchFamily="18" charset="0"/>
                <a:sym typeface="Symbol" panose="05050102010706020507" pitchFamily="18" charset="2"/>
              </a:rPr>
              <a:t>1</a:t>
            </a:r>
            <a:r>
              <a:rPr lang="en-US" altLang="zh-CN" dirty="0">
                <a:latin typeface="Times New Roman" panose="02020603050405020304" pitchFamily="18" charset="0"/>
                <a:sym typeface="Symbol" panose="05050102010706020507" pitchFamily="18" charset="2"/>
              </a:rPr>
              <a:t>-1</a:t>
            </a:r>
            <a:r>
              <a:rPr lang="zh-CN" altLang="en-US" dirty="0">
                <a:latin typeface="Times New Roman" panose="02020603050405020304" pitchFamily="18" charset="0"/>
                <a:sym typeface="Symbol" panose="05050102010706020507" pitchFamily="18" charset="2"/>
              </a:rPr>
              <a:t>，分母的自由度为 </a:t>
            </a:r>
            <a:r>
              <a:rPr lang="en-US" altLang="zh-CN" i="1" dirty="0">
                <a:latin typeface="Times New Roman" panose="02020603050405020304" pitchFamily="18" charset="0"/>
                <a:sym typeface="Symbol" panose="05050102010706020507" pitchFamily="18" charset="2"/>
              </a:rPr>
              <a:t>n</a:t>
            </a:r>
            <a:r>
              <a:rPr lang="en-US" altLang="zh-CN" baseline="-25000" dirty="0">
                <a:latin typeface="Times New Roman" panose="02020603050405020304" pitchFamily="18" charset="0"/>
                <a:sym typeface="Symbol" panose="05050102010706020507" pitchFamily="18" charset="2"/>
              </a:rPr>
              <a:t>2</a:t>
            </a:r>
            <a:r>
              <a:rPr lang="en-US" altLang="zh-CN" dirty="0">
                <a:latin typeface="Times New Roman" panose="02020603050405020304" pitchFamily="18" charset="0"/>
                <a:sym typeface="Symbol" panose="05050102010706020507" pitchFamily="18" charset="2"/>
              </a:rPr>
              <a:t>-1</a:t>
            </a:r>
            <a:r>
              <a:rPr lang="zh-CN" altLang="en-US" dirty="0">
                <a:latin typeface="Times New Roman" panose="02020603050405020304" pitchFamily="18" charset="0"/>
                <a:sym typeface="Symbol" panose="05050102010706020507" pitchFamily="18" charset="2"/>
              </a:rPr>
              <a:t>。</a:t>
            </a:r>
          </a:p>
          <a:p>
            <a:pPr algn="l">
              <a:lnSpc>
                <a:spcPct val="125000"/>
              </a:lnSpc>
            </a:pPr>
            <a:endParaRPr lang="zh-CN" altLang="en-US" dirty="0">
              <a:latin typeface="Times New Roman" panose="02020603050405020304" pitchFamily="18" charset="0"/>
              <a:sym typeface="Symbol" panose="05050102010706020507" pitchFamily="18" charset="2"/>
            </a:endParaRPr>
          </a:p>
          <a:p>
            <a:pPr algn="l">
              <a:lnSpc>
                <a:spcPct val="125000"/>
              </a:lnSpc>
            </a:pPr>
            <a:endParaRPr lang="zh-CN" altLang="en-US" dirty="0">
              <a:latin typeface="Times New Roman" panose="02020603050405020304" pitchFamily="18" charset="0"/>
              <a:sym typeface="Symbol" panose="05050102010706020507" pitchFamily="18" charset="2"/>
            </a:endParaRPr>
          </a:p>
          <a:p>
            <a:pPr algn="l">
              <a:lnSpc>
                <a:spcPct val="125000"/>
              </a:lnSpc>
            </a:pPr>
            <a:r>
              <a:rPr lang="zh-CN" altLang="en-US" dirty="0">
                <a:latin typeface="Times New Roman" panose="02020603050405020304" pitchFamily="18" charset="0"/>
              </a:rPr>
              <a:t>         这样，可通过分析任意两样本方差，判断它们是否服从同一正态分布。</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804B37A-C924-4587-9864-3B7D09D18C92}"/>
                  </a:ext>
                </a:extLst>
              </p:cNvPr>
              <p:cNvSpPr txBox="1"/>
              <p:nvPr/>
            </p:nvSpPr>
            <p:spPr>
              <a:xfrm>
                <a:off x="2900838" y="3427929"/>
                <a:ext cx="1671162" cy="10816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𝑺</m:t>
                              </m:r>
                            </m:e>
                            <m:sub>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𝒏</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𝟐</m:t>
                              </m:r>
                            </m:sup>
                          </m:sSubSup>
                        </m:num>
                        <m:den>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𝑺</m:t>
                              </m:r>
                            </m:e>
                            <m:sub>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𝒏</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𝟐</m:t>
                              </m:r>
                            </m:sup>
                          </m:sSubSup>
                        </m:den>
                      </m:f>
                    </m:oMath>
                  </m:oMathPara>
                </a14:m>
                <a:endParaRPr lang="zh-CN" altLang="en-US" dirty="0"/>
              </a:p>
            </p:txBody>
          </p:sp>
        </mc:Choice>
        <mc:Fallback xmlns="">
          <p:sp>
            <p:nvSpPr>
              <p:cNvPr id="2" name="文本框 1">
                <a:extLst>
                  <a:ext uri="{FF2B5EF4-FFF2-40B4-BE49-F238E27FC236}">
                    <a16:creationId xmlns:a16="http://schemas.microsoft.com/office/drawing/2014/main" id="{8804B37A-C924-4587-9864-3B7D09D18C92}"/>
                  </a:ext>
                </a:extLst>
              </p:cNvPr>
              <p:cNvSpPr txBox="1">
                <a:spLocks noRot="1" noChangeAspect="1" noMove="1" noResize="1" noEditPoints="1" noAdjustHandles="1" noChangeArrowheads="1" noChangeShapeType="1" noTextEdit="1"/>
              </p:cNvSpPr>
              <p:nvPr/>
            </p:nvSpPr>
            <p:spPr>
              <a:xfrm>
                <a:off x="2900838" y="3427929"/>
                <a:ext cx="1671162" cy="1081643"/>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39"/>
                                        </p:tgtEl>
                                        <p:attrNameLst>
                                          <p:attrName>style.visibility</p:attrName>
                                        </p:attrNameLst>
                                      </p:cBhvr>
                                      <p:to>
                                        <p:strVal val="visible"/>
                                      </p:to>
                                    </p:set>
                                    <p:anim calcmode="lin" valueType="num">
                                      <p:cBhvr additive="base">
                                        <p:cTn id="7" dur="2000" fill="hold"/>
                                        <p:tgtEl>
                                          <p:spTgt spid="91139"/>
                                        </p:tgtEl>
                                        <p:attrNameLst>
                                          <p:attrName>ppt_x</p:attrName>
                                        </p:attrNameLst>
                                      </p:cBhvr>
                                      <p:tavLst>
                                        <p:tav tm="0">
                                          <p:val>
                                            <p:strVal val="#ppt_x"/>
                                          </p:val>
                                        </p:tav>
                                        <p:tav tm="100000">
                                          <p:val>
                                            <p:strVal val="#ppt_x"/>
                                          </p:val>
                                        </p:tav>
                                      </p:tavLst>
                                    </p:anim>
                                    <p:anim calcmode="lin" valueType="num">
                                      <p:cBhvr additive="base">
                                        <p:cTn id="8" dur="2000" fill="hold"/>
                                        <p:tgtEl>
                                          <p:spTgt spid="91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a:extLst>
              <a:ext uri="{FF2B5EF4-FFF2-40B4-BE49-F238E27FC236}">
                <a16:creationId xmlns:a16="http://schemas.microsoft.com/office/drawing/2014/main" id="{3371ABF1-93D0-4077-A779-363AE7A58C3A}"/>
              </a:ext>
            </a:extLst>
          </p:cNvPr>
          <p:cNvSpPr>
            <a:spLocks noGrp="1" noChangeArrowheads="1"/>
          </p:cNvSpPr>
          <p:nvPr>
            <p:ph type="title"/>
          </p:nvPr>
        </p:nvSpPr>
        <p:spPr>
          <a:xfrm>
            <a:off x="244893" y="604837"/>
            <a:ext cx="8229600" cy="609600"/>
          </a:xfrm>
        </p:spPr>
        <p:txBody>
          <a:bodyPr anchor="b"/>
          <a:lstStyle/>
          <a:p>
            <a:pPr algn="l"/>
            <a:r>
              <a:rPr lang="en-US" altLang="zh-CN" sz="3200" b="1" dirty="0">
                <a:solidFill>
                  <a:schemeClr val="tx1"/>
                </a:solidFill>
                <a:latin typeface="Times New Roman" panose="02020603050405020304" pitchFamily="18" charset="0"/>
              </a:rPr>
              <a:t>3.   </a:t>
            </a:r>
            <a:r>
              <a:rPr lang="en-US" altLang="zh-CN" sz="3200" b="1" i="1" dirty="0">
                <a:solidFill>
                  <a:schemeClr val="tx1"/>
                </a:solidFill>
                <a:latin typeface="Times New Roman" panose="02020603050405020304" pitchFamily="18" charset="0"/>
              </a:rPr>
              <a:t>t</a:t>
            </a:r>
            <a:r>
              <a:rPr lang="en-US" altLang="zh-CN" sz="3200" b="1" dirty="0">
                <a:solidFill>
                  <a:schemeClr val="tx1"/>
                </a:solidFill>
                <a:latin typeface="Times New Roman" panose="02020603050405020304" pitchFamily="18" charset="0"/>
              </a:rPr>
              <a:t> </a:t>
            </a:r>
            <a:r>
              <a:rPr lang="zh-CN" altLang="en-US" sz="3200" b="1" dirty="0">
                <a:solidFill>
                  <a:schemeClr val="tx1"/>
                </a:solidFill>
                <a:latin typeface="Times New Roman" panose="02020603050405020304" pitchFamily="18" charset="0"/>
              </a:rPr>
              <a:t>分布</a:t>
            </a:r>
          </a:p>
        </p:txBody>
      </p:sp>
      <p:sp>
        <p:nvSpPr>
          <p:cNvPr id="92165" name="Rectangle 3">
            <a:extLst>
              <a:ext uri="{FF2B5EF4-FFF2-40B4-BE49-F238E27FC236}">
                <a16:creationId xmlns:a16="http://schemas.microsoft.com/office/drawing/2014/main" id="{D964D9B8-7737-4923-9C4F-98E7CF206AF8}"/>
              </a:ext>
            </a:extLst>
          </p:cNvPr>
          <p:cNvSpPr>
            <a:spLocks noGrp="1" noChangeArrowheads="1"/>
          </p:cNvSpPr>
          <p:nvPr>
            <p:ph idx="1"/>
          </p:nvPr>
        </p:nvSpPr>
        <p:spPr>
          <a:xfrm>
            <a:off x="230188" y="1344613"/>
            <a:ext cx="8229600" cy="4495800"/>
          </a:xfrm>
        </p:spPr>
        <p:txBody>
          <a:bodyPr/>
          <a:lstStyle/>
          <a:p>
            <a:pPr marL="1071563" indent="-1071563">
              <a:lnSpc>
                <a:spcPct val="150000"/>
              </a:lnSpc>
              <a:spcBef>
                <a:spcPts val="0"/>
              </a:spcBef>
              <a:buFontTx/>
              <a:buNone/>
            </a:pPr>
            <a:r>
              <a:rPr lang="zh-CN" altLang="en-US" sz="2800" b="1" dirty="0">
                <a:solidFill>
                  <a:srgbClr val="E313ED"/>
                </a:solidFill>
                <a:latin typeface="Times New Roman" panose="02020603050405020304" pitchFamily="18" charset="0"/>
              </a:rPr>
              <a:t>定义：</a:t>
            </a:r>
            <a:r>
              <a:rPr lang="zh-CN" altLang="en-US" sz="2800" b="1" dirty="0">
                <a:latin typeface="Times New Roman" panose="02020603050405020304" pitchFamily="18" charset="0"/>
              </a:rPr>
              <a:t>设</a:t>
            </a:r>
            <a:r>
              <a:rPr lang="en-US" altLang="zh-CN" sz="2800" b="1" i="1" dirty="0">
                <a:latin typeface="Times New Roman" panose="02020603050405020304" pitchFamily="18" charset="0"/>
              </a:rPr>
              <a:t>X</a:t>
            </a:r>
            <a:r>
              <a:rPr lang="en-US" altLang="zh-CN" sz="2800" b="1" baseline="-25000" dirty="0">
                <a:latin typeface="Times New Roman" panose="02020603050405020304" pitchFamily="18" charset="0"/>
              </a:rPr>
              <a:t>1</a:t>
            </a:r>
            <a:r>
              <a:rPr lang="zh-CN" altLang="en-US" sz="2800" b="1" dirty="0">
                <a:latin typeface="Times New Roman" panose="02020603050405020304" pitchFamily="18" charset="0"/>
              </a:rPr>
              <a:t>服从标准正态分布</a:t>
            </a:r>
            <a:r>
              <a:rPr lang="en-US" altLang="zh-CN" sz="2800" b="1" i="1" dirty="0">
                <a:latin typeface="Times New Roman" panose="02020603050405020304" pitchFamily="18" charset="0"/>
              </a:rPr>
              <a:t>N</a:t>
            </a:r>
            <a:r>
              <a:rPr lang="en-US" altLang="zh-CN" sz="2800" b="1" dirty="0">
                <a:latin typeface="Times New Roman" panose="02020603050405020304" pitchFamily="18" charset="0"/>
              </a:rPr>
              <a:t>(0,1)</a:t>
            </a:r>
            <a:r>
              <a:rPr lang="zh-CN" altLang="en-US"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rPr>
              <a:t>服从自由度为</a:t>
            </a:r>
            <a:r>
              <a:rPr lang="en-US" altLang="zh-CN" sz="2800" b="1" i="1" dirty="0">
                <a:latin typeface="Times New Roman" panose="02020603050405020304" pitchFamily="18" charset="0"/>
              </a:rPr>
              <a:t>n</a:t>
            </a:r>
            <a:r>
              <a:rPr lang="zh-CN" altLang="en-US" sz="2800" b="1" dirty="0">
                <a:latin typeface="Times New Roman" panose="02020603050405020304" pitchFamily="18" charset="0"/>
              </a:rPr>
              <a:t>的</a:t>
            </a:r>
            <a:r>
              <a:rPr lang="zh-CN" altLang="en-US" sz="2800" b="1" dirty="0">
                <a:latin typeface="Times New Roman" panose="02020603050405020304" pitchFamily="18" charset="0"/>
                <a:sym typeface="Symbol" panose="05050102010706020507" pitchFamily="18" charset="2"/>
              </a:rPr>
              <a:t></a:t>
            </a:r>
            <a:r>
              <a:rPr lang="en-US" altLang="zh-CN" sz="2800" b="1" baseline="30000" dirty="0">
                <a:latin typeface="Times New Roman" panose="02020603050405020304" pitchFamily="18" charset="0"/>
                <a:sym typeface="Symbol" panose="05050102010706020507" pitchFamily="18" charset="2"/>
              </a:rPr>
              <a:t>2</a:t>
            </a:r>
            <a:r>
              <a:rPr lang="zh-CN" altLang="en-US" sz="2800" b="1" dirty="0">
                <a:latin typeface="Times New Roman" panose="02020603050405020304" pitchFamily="18" charset="0"/>
                <a:sym typeface="Symbol" panose="05050102010706020507" pitchFamily="18" charset="2"/>
              </a:rPr>
              <a:t>分布，且</a:t>
            </a:r>
            <a:r>
              <a:rPr lang="en-US" altLang="zh-CN" sz="2800" b="1" i="1" dirty="0">
                <a:latin typeface="Times New Roman" panose="02020603050405020304" pitchFamily="18" charset="0"/>
                <a:sym typeface="Symbol" panose="05050102010706020507" pitchFamily="18" charset="2"/>
              </a:rPr>
              <a:t>X</a:t>
            </a:r>
            <a:r>
              <a:rPr lang="en-US" altLang="zh-CN" sz="2800" b="1" baseline="-25000" dirty="0">
                <a:latin typeface="Times New Roman" panose="02020603050405020304" pitchFamily="18" charset="0"/>
                <a:sym typeface="Symbol" panose="05050102010706020507" pitchFamily="18" charset="2"/>
              </a:rPr>
              <a:t>1</a:t>
            </a:r>
            <a:r>
              <a:rPr lang="zh-CN" altLang="en-US"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sym typeface="Symbol" panose="05050102010706020507" pitchFamily="18" charset="2"/>
              </a:rPr>
              <a:t>X</a:t>
            </a:r>
            <a:r>
              <a:rPr lang="en-US" altLang="zh-CN" sz="2800" b="1" baseline="-25000" dirty="0">
                <a:latin typeface="Times New Roman" panose="02020603050405020304" pitchFamily="18" charset="0"/>
                <a:sym typeface="Symbol" panose="05050102010706020507" pitchFamily="18" charset="2"/>
              </a:rPr>
              <a:t>2</a:t>
            </a:r>
            <a:r>
              <a:rPr lang="zh-CN" altLang="en-US" sz="2800" b="1" dirty="0">
                <a:latin typeface="Times New Roman" panose="02020603050405020304" pitchFamily="18" charset="0"/>
                <a:sym typeface="Symbol" panose="05050102010706020507" pitchFamily="18" charset="2"/>
              </a:rPr>
              <a:t>相互独立，则称变量：</a:t>
            </a:r>
          </a:p>
          <a:p>
            <a:pPr marL="1071563" indent="-1071563">
              <a:lnSpc>
                <a:spcPct val="150000"/>
              </a:lnSpc>
              <a:spcBef>
                <a:spcPts val="0"/>
              </a:spcBef>
              <a:buFontTx/>
              <a:buNone/>
            </a:pPr>
            <a:r>
              <a:rPr lang="zh-CN" altLang="en-US" sz="2800" b="1" dirty="0">
                <a:latin typeface="Times New Roman" panose="02020603050405020304" pitchFamily="18" charset="0"/>
                <a:sym typeface="Symbol" panose="05050102010706020507" pitchFamily="18" charset="2"/>
              </a:rPr>
              <a:t>                   </a:t>
            </a:r>
            <a:endParaRPr lang="en-US" altLang="zh-CN" sz="2800" b="1" dirty="0">
              <a:latin typeface="Times New Roman" panose="02020603050405020304" pitchFamily="18" charset="0"/>
              <a:sym typeface="Symbol" panose="05050102010706020507" pitchFamily="18" charset="2"/>
            </a:endParaRPr>
          </a:p>
          <a:p>
            <a:pPr marL="1071563" indent="-1071563">
              <a:lnSpc>
                <a:spcPct val="150000"/>
              </a:lnSpc>
              <a:spcBef>
                <a:spcPts val="0"/>
              </a:spcBef>
              <a:buFontTx/>
              <a:buNone/>
            </a:pPr>
            <a:r>
              <a:rPr lang="en-US" altLang="zh-CN" sz="2800" b="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服从自由度为 </a:t>
            </a:r>
            <a:r>
              <a:rPr lang="en-US" altLang="zh-CN" sz="2800" b="1" i="1" dirty="0">
                <a:latin typeface="Times New Roman" panose="02020603050405020304" pitchFamily="18" charset="0"/>
                <a:sym typeface="Symbol" panose="05050102010706020507" pitchFamily="18" charset="2"/>
              </a:rPr>
              <a:t>n </a:t>
            </a:r>
            <a:r>
              <a:rPr lang="zh-CN" altLang="en-US" sz="2800" b="1" dirty="0">
                <a:latin typeface="Times New Roman" panose="02020603050405020304" pitchFamily="18" charset="0"/>
                <a:sym typeface="Symbol" panose="05050102010706020507" pitchFamily="18" charset="2"/>
              </a:rPr>
              <a:t>的 </a:t>
            </a:r>
            <a:r>
              <a:rPr lang="en-US" altLang="zh-CN" sz="2800" b="1" i="1" dirty="0">
                <a:latin typeface="Times New Roman" panose="02020603050405020304" pitchFamily="18" charset="0"/>
                <a:sym typeface="Symbol" panose="05050102010706020507" pitchFamily="18" charset="2"/>
              </a:rPr>
              <a:t>t </a:t>
            </a:r>
            <a:r>
              <a:rPr lang="zh-CN" altLang="en-US" sz="2800" b="1" dirty="0">
                <a:latin typeface="Times New Roman" panose="02020603050405020304" pitchFamily="18" charset="0"/>
                <a:sym typeface="Symbol" panose="05050102010706020507" pitchFamily="18" charset="2"/>
              </a:rPr>
              <a:t>分布。</a:t>
            </a:r>
            <a:endParaRPr lang="en-US" altLang="zh-CN" sz="2800" b="1" dirty="0">
              <a:latin typeface="Times New Roman" panose="02020603050405020304" pitchFamily="18" charset="0"/>
              <a:sym typeface="Symbol" panose="05050102010706020507" pitchFamily="18" charset="2"/>
            </a:endParaRPr>
          </a:p>
          <a:p>
            <a:pPr marL="0" lvl="0" indent="0">
              <a:buClr>
                <a:srgbClr val="33CCCC"/>
              </a:buClr>
              <a:buNone/>
            </a:pPr>
            <a:r>
              <a:rPr lang="zh-CN" altLang="en-US" sz="2800" b="1" dirty="0">
                <a:solidFill>
                  <a:srgbClr val="E313ED"/>
                </a:solidFill>
                <a:latin typeface="Times New Roman" panose="02020603050405020304" pitchFamily="18" charset="0"/>
                <a:ea typeface="宋体" panose="02010600030101010101" pitchFamily="2" charset="-122"/>
              </a:rPr>
              <a:t>应用：</a:t>
            </a:r>
            <a:r>
              <a:rPr lang="zh-CN" altLang="en-US" sz="2800" b="1" dirty="0">
                <a:solidFill>
                  <a:srgbClr val="FFFFFF"/>
                </a:solidFill>
                <a:latin typeface="Times New Roman" panose="02020603050405020304" pitchFamily="18" charset="0"/>
                <a:ea typeface="宋体" panose="02010600030101010101" pitchFamily="2" charset="-122"/>
              </a:rPr>
              <a:t>假设检验。</a:t>
            </a:r>
          </a:p>
          <a:p>
            <a:pPr marL="1071563" indent="-1071563">
              <a:lnSpc>
                <a:spcPct val="150000"/>
              </a:lnSpc>
              <a:spcBef>
                <a:spcPts val="0"/>
              </a:spcBef>
              <a:buFontTx/>
              <a:buNone/>
            </a:pPr>
            <a:endParaRPr lang="zh-CN" altLang="en-US" sz="2800" b="1" dirty="0">
              <a:latin typeface="Times New Roman" panose="02020603050405020304" pitchFamily="18" charset="0"/>
              <a:sym typeface="Symbol" panose="05050102010706020507" pitchFamily="18" charset="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0E1F94D-3737-4618-AE1B-F86C68D0E552}"/>
                  </a:ext>
                </a:extLst>
              </p:cNvPr>
              <p:cNvSpPr txBox="1"/>
              <p:nvPr/>
            </p:nvSpPr>
            <p:spPr>
              <a:xfrm>
                <a:off x="3059832" y="2935243"/>
                <a:ext cx="1813189" cy="9875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𝒕</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𝑿</m:t>
                              </m:r>
                            </m:e>
                            <m:sub>
                              <m:r>
                                <a:rPr lang="en-US" altLang="zh-CN" b="1" i="1" smtClean="0">
                                  <a:latin typeface="Cambria Math" panose="02040503050406030204" pitchFamily="18" charset="0"/>
                                </a:rPr>
                                <m:t>𝟏</m:t>
                              </m:r>
                            </m:sub>
                          </m:sSub>
                        </m:num>
                        <m:den>
                          <m:rad>
                            <m:radPr>
                              <m:degHide m:val="on"/>
                              <m:ctrlPr>
                                <a:rPr lang="en-US" altLang="zh-CN" b="1" i="1" smtClean="0">
                                  <a:latin typeface="Cambria Math" panose="02040503050406030204" pitchFamily="18" charset="0"/>
                                </a:rPr>
                              </m:ctrlPr>
                            </m:radPr>
                            <m:deg/>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𝑿</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𝒏</m:t>
                              </m:r>
                            </m:e>
                          </m:rad>
                        </m:den>
                      </m:f>
                    </m:oMath>
                  </m:oMathPara>
                </a14:m>
                <a:endParaRPr lang="zh-CN" altLang="en-US" dirty="0"/>
              </a:p>
            </p:txBody>
          </p:sp>
        </mc:Choice>
        <mc:Fallback xmlns="">
          <p:sp>
            <p:nvSpPr>
              <p:cNvPr id="2" name="文本框 1">
                <a:extLst>
                  <a:ext uri="{FF2B5EF4-FFF2-40B4-BE49-F238E27FC236}">
                    <a16:creationId xmlns:a16="http://schemas.microsoft.com/office/drawing/2014/main" id="{20E1F94D-3737-4618-AE1B-F86C68D0E552}"/>
                  </a:ext>
                </a:extLst>
              </p:cNvPr>
              <p:cNvSpPr txBox="1">
                <a:spLocks noRot="1" noChangeAspect="1" noMove="1" noResize="1" noEditPoints="1" noAdjustHandles="1" noChangeArrowheads="1" noChangeShapeType="1" noTextEdit="1"/>
              </p:cNvSpPr>
              <p:nvPr/>
            </p:nvSpPr>
            <p:spPr>
              <a:xfrm>
                <a:off x="3059832" y="2935243"/>
                <a:ext cx="1813189" cy="987514"/>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222C3650-1429-467F-A255-FCDC6C920710}"/>
              </a:ext>
            </a:extLst>
          </p:cNvPr>
          <p:cNvSpPr>
            <a:spLocks noGrp="1" noChangeArrowheads="1"/>
          </p:cNvSpPr>
          <p:nvPr>
            <p:ph type="subTitle" idx="4294967295"/>
          </p:nvPr>
        </p:nvSpPr>
        <p:spPr>
          <a:xfrm>
            <a:off x="0" y="3886200"/>
            <a:ext cx="6400800" cy="1752600"/>
          </a:xfrm>
        </p:spPr>
        <p:txBody>
          <a:bodyPr/>
          <a:lstStyle/>
          <a:p>
            <a:r>
              <a:rPr lang="en-US" altLang="zh-CN" sz="3200"/>
              <a:t>  </a:t>
            </a:r>
          </a:p>
        </p:txBody>
      </p:sp>
      <p:sp>
        <p:nvSpPr>
          <p:cNvPr id="93187" name="Rectangle 3">
            <a:extLst>
              <a:ext uri="{FF2B5EF4-FFF2-40B4-BE49-F238E27FC236}">
                <a16:creationId xmlns:a16="http://schemas.microsoft.com/office/drawing/2014/main" id="{4EAF41FB-F73D-460E-A9E8-978CB6B7EB45}"/>
              </a:ext>
            </a:extLst>
          </p:cNvPr>
          <p:cNvSpPr>
            <a:spLocks noChangeArrowheads="1"/>
          </p:cNvSpPr>
          <p:nvPr/>
        </p:nvSpPr>
        <p:spPr bwMode="auto">
          <a:xfrm>
            <a:off x="0" y="296069"/>
            <a:ext cx="6480175" cy="79216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r>
              <a:rPr lang="zh-CN" altLang="zh-CN" sz="3600" i="1" dirty="0">
                <a:solidFill>
                  <a:srgbClr val="E313ED"/>
                </a:solidFill>
                <a:latin typeface="Times New Roman" panose="02020603050405020304" pitchFamily="18" charset="0"/>
              </a:rPr>
              <a:t>t</a:t>
            </a:r>
            <a:r>
              <a:rPr lang="zh-CN" altLang="zh-CN" sz="3600" dirty="0">
                <a:solidFill>
                  <a:srgbClr val="E313ED"/>
                </a:solidFill>
                <a:latin typeface="Times New Roman" panose="02020603050405020304" pitchFamily="18" charset="0"/>
              </a:rPr>
              <a:t>分布与正态分布的关系</a:t>
            </a:r>
            <a:r>
              <a:rPr lang="en-US" altLang="zh-CN" sz="3600" dirty="0">
                <a:solidFill>
                  <a:srgbClr val="E313ED"/>
                </a:solidFill>
                <a:latin typeface="Times New Roman" panose="02020603050405020304" pitchFamily="18" charset="0"/>
              </a:rPr>
              <a:t>:</a:t>
            </a:r>
          </a:p>
        </p:txBody>
      </p:sp>
      <p:sp>
        <p:nvSpPr>
          <p:cNvPr id="93188" name="Rectangle 3">
            <a:extLst>
              <a:ext uri="{FF2B5EF4-FFF2-40B4-BE49-F238E27FC236}">
                <a16:creationId xmlns:a16="http://schemas.microsoft.com/office/drawing/2014/main" id="{3600FCE2-D0E3-4D28-862E-66DB82643452}"/>
              </a:ext>
            </a:extLst>
          </p:cNvPr>
          <p:cNvSpPr>
            <a:spLocks noChangeArrowheads="1"/>
          </p:cNvSpPr>
          <p:nvPr/>
        </p:nvSpPr>
        <p:spPr bwMode="auto">
          <a:xfrm>
            <a:off x="323528" y="1041187"/>
            <a:ext cx="8280400"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0638" indent="-20638" algn="ctr">
              <a:spcBef>
                <a:spcPct val="20000"/>
              </a:spcBef>
              <a:defRPr sz="3200">
                <a:solidFill>
                  <a:schemeClr val="tx1"/>
                </a:solidFill>
                <a:latin typeface="Arial" panose="020B0604020202020204" pitchFamily="34" charset="0"/>
                <a:ea typeface="宋体" panose="02010600030101010101" pitchFamily="2" charset="-122"/>
              </a:defRPr>
            </a:lvl1pPr>
            <a:lvl2pPr marL="935038" indent="-285750" algn="ctr">
              <a:spcBef>
                <a:spcPct val="20000"/>
              </a:spcBef>
              <a:defRPr sz="2800">
                <a:solidFill>
                  <a:schemeClr val="tx1"/>
                </a:solidFill>
                <a:latin typeface="Arial" panose="020B0604020202020204" pitchFamily="34" charset="0"/>
                <a:ea typeface="宋体" panose="02010600030101010101" pitchFamily="2" charset="-122"/>
              </a:defRPr>
            </a:lvl2pPr>
            <a:lvl3pPr marL="1343025" indent="-228600" algn="ctr">
              <a:spcBef>
                <a:spcPct val="20000"/>
              </a:spcBef>
              <a:defRPr sz="2400">
                <a:solidFill>
                  <a:schemeClr val="tx1"/>
                </a:solidFill>
                <a:latin typeface="Arial" panose="020B0604020202020204" pitchFamily="34" charset="0"/>
                <a:ea typeface="宋体" panose="02010600030101010101" pitchFamily="2" charset="-122"/>
              </a:defRPr>
            </a:lvl3pPr>
            <a:lvl4pPr marL="1751013" indent="-228600" algn="ctr">
              <a:spcBef>
                <a:spcPct val="20000"/>
              </a:spcBef>
              <a:defRPr sz="2000">
                <a:solidFill>
                  <a:schemeClr val="tx1"/>
                </a:solidFill>
                <a:latin typeface="Arial" panose="020B0604020202020204" pitchFamily="34" charset="0"/>
                <a:ea typeface="宋体" panose="02010600030101010101" pitchFamily="2" charset="-122"/>
              </a:defRPr>
            </a:lvl4pPr>
            <a:lvl5pPr marL="2159000" indent="-228600" algn="ctr">
              <a:spcBef>
                <a:spcPct val="20000"/>
              </a:spcBef>
              <a:defRPr sz="2000">
                <a:solidFill>
                  <a:schemeClr val="tx1"/>
                </a:solidFill>
                <a:latin typeface="Arial" panose="020B0604020202020204" pitchFamily="34" charset="0"/>
                <a:ea typeface="宋体" panose="02010600030101010101" pitchFamily="2" charset="-122"/>
              </a:defRPr>
            </a:lvl5pPr>
            <a:lvl6pPr marL="26162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30734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5306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9878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l">
              <a:lnSpc>
                <a:spcPct val="125000"/>
              </a:lnSpc>
            </a:pPr>
            <a:r>
              <a:rPr lang="en-US" altLang="zh-CN" sz="2800" dirty="0">
                <a:latin typeface="Times New Roman" panose="02020603050405020304" pitchFamily="18" charset="0"/>
              </a:rPr>
              <a:t>         </a:t>
            </a:r>
            <a:r>
              <a:rPr lang="en-US" altLang="zh-CN" sz="2800" i="1" dirty="0">
                <a:latin typeface="Times New Roman" panose="02020603050405020304" pitchFamily="18" charset="0"/>
                <a:sym typeface="Symbol" panose="05050102010706020507" pitchFamily="18" charset="2"/>
              </a:rPr>
              <a:t>t </a:t>
            </a:r>
            <a:r>
              <a:rPr lang="zh-CN" altLang="en-US" sz="2800" dirty="0">
                <a:latin typeface="Times New Roman" panose="02020603050405020304" pitchFamily="18" charset="0"/>
                <a:sym typeface="Symbol" panose="05050102010706020507" pitchFamily="18" charset="2"/>
              </a:rPr>
              <a:t>分布曲线形态与自由度</a:t>
            </a:r>
            <a:r>
              <a:rPr lang="en-US" altLang="zh-CN" sz="2800" i="1" dirty="0">
                <a:latin typeface="Times New Roman" panose="02020603050405020304" pitchFamily="18" charset="0"/>
                <a:sym typeface="Symbol" panose="05050102010706020507" pitchFamily="18" charset="2"/>
              </a:rPr>
              <a:t>n</a:t>
            </a:r>
            <a:r>
              <a:rPr lang="zh-CN" altLang="en-US" sz="2800" dirty="0">
                <a:latin typeface="Times New Roman" panose="02020603050405020304" pitchFamily="18" charset="0"/>
                <a:sym typeface="Symbol" panose="05050102010706020507" pitchFamily="18" charset="2"/>
              </a:rPr>
              <a:t>大小有关。与标准正态分布曲线相比，自由度</a:t>
            </a:r>
            <a:r>
              <a:rPr lang="en-US" altLang="zh-CN" sz="2800" i="1" dirty="0">
                <a:latin typeface="Times New Roman" panose="02020603050405020304" pitchFamily="18" charset="0"/>
                <a:sym typeface="Symbol" panose="05050102010706020507" pitchFamily="18" charset="2"/>
              </a:rPr>
              <a:t>n</a:t>
            </a:r>
            <a:r>
              <a:rPr lang="zh-CN" altLang="en-US" sz="2800" dirty="0">
                <a:latin typeface="Times New Roman" panose="02020603050405020304" pitchFamily="18" charset="0"/>
                <a:sym typeface="Symbol" panose="05050102010706020507" pitchFamily="18" charset="2"/>
              </a:rPr>
              <a:t>越小，</a:t>
            </a:r>
            <a:r>
              <a:rPr lang="en-US" altLang="zh-CN" sz="2800" i="1" dirty="0">
                <a:latin typeface="Times New Roman" panose="02020603050405020304" pitchFamily="18" charset="0"/>
                <a:sym typeface="Symbol" panose="05050102010706020507" pitchFamily="18" charset="2"/>
              </a:rPr>
              <a:t>t </a:t>
            </a:r>
            <a:r>
              <a:rPr lang="zh-CN" altLang="en-US" sz="2800" dirty="0">
                <a:latin typeface="Times New Roman" panose="02020603050405020304" pitchFamily="18" charset="0"/>
                <a:sym typeface="Symbol" panose="05050102010706020507" pitchFamily="18" charset="2"/>
              </a:rPr>
              <a:t>分布曲线愈平坦，曲线中间愈低，曲线双侧尾部翘得愈高；自由度</a:t>
            </a:r>
            <a:r>
              <a:rPr lang="en-US" altLang="zh-CN" sz="2800" i="1" dirty="0">
                <a:latin typeface="Times New Roman" panose="02020603050405020304" pitchFamily="18" charset="0"/>
                <a:sym typeface="Symbol" panose="05050102010706020507" pitchFamily="18" charset="2"/>
              </a:rPr>
              <a:t>n</a:t>
            </a:r>
            <a:r>
              <a:rPr lang="zh-CN" altLang="en-US" sz="2800" dirty="0">
                <a:latin typeface="Times New Roman" panose="02020603050405020304" pitchFamily="18" charset="0"/>
                <a:sym typeface="Symbol" panose="05050102010706020507" pitchFamily="18" charset="2"/>
              </a:rPr>
              <a:t>愈大，</a:t>
            </a:r>
            <a:r>
              <a:rPr lang="en-US" altLang="zh-CN" sz="2800" i="1" dirty="0">
                <a:latin typeface="Times New Roman" panose="02020603050405020304" pitchFamily="18" charset="0"/>
                <a:sym typeface="Symbol" panose="05050102010706020507" pitchFamily="18" charset="2"/>
              </a:rPr>
              <a:t>t </a:t>
            </a:r>
            <a:r>
              <a:rPr lang="zh-CN" altLang="en-US" sz="2800" dirty="0">
                <a:latin typeface="Times New Roman" panose="02020603050405020304" pitchFamily="18" charset="0"/>
                <a:sym typeface="Symbol" panose="05050102010706020507" pitchFamily="18" charset="2"/>
              </a:rPr>
              <a:t>分布曲线愈接近正态分布曲线，当自由度</a:t>
            </a:r>
            <a:r>
              <a:rPr lang="en-US" altLang="zh-CN" sz="2800" i="1" dirty="0">
                <a:latin typeface="Times New Roman" panose="02020603050405020304" pitchFamily="18" charset="0"/>
                <a:sym typeface="Symbol" panose="05050102010706020507" pitchFamily="18" charset="2"/>
              </a:rPr>
              <a:t>n </a:t>
            </a:r>
            <a:r>
              <a:rPr lang="en-US" altLang="zh-CN" sz="2800" dirty="0">
                <a:latin typeface="Times New Roman" panose="02020603050405020304" pitchFamily="18" charset="0"/>
                <a:sym typeface="Symbol" panose="05050102010706020507" pitchFamily="18" charset="2"/>
              </a:rPr>
              <a:t>  </a:t>
            </a:r>
            <a:r>
              <a:rPr lang="zh-CN" altLang="en-US" sz="2800" dirty="0">
                <a:latin typeface="Times New Roman" panose="02020603050405020304" pitchFamily="18" charset="0"/>
                <a:sym typeface="Symbol" panose="05050102010706020507" pitchFamily="18" charset="2"/>
              </a:rPr>
              <a:t>时，</a:t>
            </a:r>
            <a:r>
              <a:rPr lang="en-US" altLang="zh-CN" sz="2800" i="1" dirty="0">
                <a:latin typeface="Times New Roman" panose="02020603050405020304" pitchFamily="18" charset="0"/>
                <a:sym typeface="Symbol" panose="05050102010706020507" pitchFamily="18" charset="2"/>
              </a:rPr>
              <a:t>t </a:t>
            </a:r>
            <a:r>
              <a:rPr lang="zh-CN" altLang="en-US" sz="2800" dirty="0">
                <a:latin typeface="Times New Roman" panose="02020603050405020304" pitchFamily="18" charset="0"/>
                <a:sym typeface="Symbol" panose="05050102010706020507" pitchFamily="18" charset="2"/>
              </a:rPr>
              <a:t>分布曲线变为标准正态分布曲线。</a:t>
            </a:r>
            <a:r>
              <a:rPr lang="zh-CN" altLang="en-US" dirty="0">
                <a:latin typeface="Times New Roman" panose="02020603050405020304" pitchFamily="18" charset="0"/>
              </a:rPr>
              <a:t>         </a:t>
            </a:r>
          </a:p>
        </p:txBody>
      </p:sp>
      <p:pic>
        <p:nvPicPr>
          <p:cNvPr id="93190" name="Picture 6">
            <a:extLst>
              <a:ext uri="{FF2B5EF4-FFF2-40B4-BE49-F238E27FC236}">
                <a16:creationId xmlns:a16="http://schemas.microsoft.com/office/drawing/2014/main" id="{CE1D5C9C-0853-4D60-BD6F-832A078A6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3933825"/>
            <a:ext cx="4657725" cy="2924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anim calcmode="lin" valueType="num">
                                      <p:cBhvr additive="base">
                                        <p:cTn id="7" dur="2000" fill="hold"/>
                                        <p:tgtEl>
                                          <p:spTgt spid="93187"/>
                                        </p:tgtEl>
                                        <p:attrNameLst>
                                          <p:attrName>ppt_x</p:attrName>
                                        </p:attrNameLst>
                                      </p:cBhvr>
                                      <p:tavLst>
                                        <p:tav tm="0">
                                          <p:val>
                                            <p:strVal val="#ppt_x"/>
                                          </p:val>
                                        </p:tav>
                                        <p:tav tm="100000">
                                          <p:val>
                                            <p:strVal val="#ppt_x"/>
                                          </p:val>
                                        </p:tav>
                                      </p:tavLst>
                                    </p:anim>
                                    <p:anim calcmode="lin" valueType="num">
                                      <p:cBhvr additive="base">
                                        <p:cTn id="8" dur="2000" fill="hold"/>
                                        <p:tgtEl>
                                          <p:spTgt spid="931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a:extLst>
              <a:ext uri="{FF2B5EF4-FFF2-40B4-BE49-F238E27FC236}">
                <a16:creationId xmlns:a16="http://schemas.microsoft.com/office/drawing/2014/main" id="{5BA67BFE-1110-4074-9BB0-F311B14E4660}"/>
              </a:ext>
            </a:extLst>
          </p:cNvPr>
          <p:cNvGraphicFramePr>
            <a:graphicFrameLocks noChangeAspect="1"/>
          </p:cNvGraphicFramePr>
          <p:nvPr/>
        </p:nvGraphicFramePr>
        <p:xfrm>
          <a:off x="4775200" y="5561013"/>
          <a:ext cx="203200" cy="444500"/>
        </p:xfrm>
        <a:graphic>
          <a:graphicData uri="http://schemas.openxmlformats.org/presentationml/2006/ole">
            <mc:AlternateContent xmlns:mc="http://schemas.openxmlformats.org/markup-compatibility/2006">
              <mc:Choice xmlns:v="urn:schemas-microsoft-com:vml" Requires="v">
                <p:oleObj name="Equation" r:id="rId2" imgW="203040" imgH="444240" progId="Equation.3">
                  <p:embed/>
                </p:oleObj>
              </mc:Choice>
              <mc:Fallback>
                <p:oleObj name="Equation" r:id="rId2" imgW="203040" imgH="44424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5200" y="5561013"/>
                        <a:ext cx="2032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4" name="Rectangle 4">
            <a:extLst>
              <a:ext uri="{FF2B5EF4-FFF2-40B4-BE49-F238E27FC236}">
                <a16:creationId xmlns:a16="http://schemas.microsoft.com/office/drawing/2014/main" id="{301432A7-8A36-4F88-AA66-2D203C68D3BC}"/>
              </a:ext>
            </a:extLst>
          </p:cNvPr>
          <p:cNvSpPr>
            <a:spLocks noChangeArrowheads="1"/>
          </p:cNvSpPr>
          <p:nvPr/>
        </p:nvSpPr>
        <p:spPr bwMode="auto">
          <a:xfrm>
            <a:off x="250825" y="1700213"/>
            <a:ext cx="8893175"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pPr>
            <a:r>
              <a:rPr kumimoji="1" lang="zh-CN" altLang="en-US" sz="3200" dirty="0">
                <a:latin typeface="Times New Roman" panose="02020603050405020304" pitchFamily="18" charset="0"/>
                <a:cs typeface="Times New Roman" panose="02020603050405020304" pitchFamily="18" charset="0"/>
              </a:rPr>
              <a:t>定理：设</a:t>
            </a:r>
            <a:r>
              <a:rPr kumimoji="1" lang="en-US" altLang="zh-CN" sz="3200" i="1" dirty="0">
                <a:latin typeface="Times New Roman" panose="02020603050405020304" pitchFamily="18" charset="0"/>
                <a:cs typeface="Times New Roman" panose="02020603050405020304" pitchFamily="18" charset="0"/>
              </a:rPr>
              <a:t>A</a:t>
            </a:r>
            <a:r>
              <a:rPr kumimoji="1" lang="zh-CN" altLang="en-US" sz="3200" dirty="0">
                <a:latin typeface="Times New Roman" panose="02020603050405020304" pitchFamily="18" charset="0"/>
                <a:cs typeface="Times New Roman" panose="02020603050405020304" pitchFamily="18" charset="0"/>
              </a:rPr>
              <a:t>，</a:t>
            </a:r>
            <a:r>
              <a:rPr kumimoji="1" lang="en-US" altLang="zh-CN" sz="3200" i="1" dirty="0">
                <a:latin typeface="Times New Roman" panose="02020603050405020304" pitchFamily="18" charset="0"/>
                <a:cs typeface="Times New Roman" panose="02020603050405020304" pitchFamily="18" charset="0"/>
              </a:rPr>
              <a:t>B</a:t>
            </a:r>
            <a:r>
              <a:rPr kumimoji="1" lang="zh-CN" altLang="en-US" sz="3200" dirty="0">
                <a:latin typeface="Times New Roman" panose="02020603050405020304" pitchFamily="18" charset="0"/>
                <a:cs typeface="Times New Roman" panose="02020603050405020304" pitchFamily="18" charset="0"/>
              </a:rPr>
              <a:t>是两个事件，且</a:t>
            </a:r>
            <a:r>
              <a:rPr kumimoji="1" lang="en-US" altLang="zh-CN" sz="3200" dirty="0">
                <a:latin typeface="Times New Roman" panose="02020603050405020304" pitchFamily="18" charset="0"/>
                <a:cs typeface="Times New Roman" panose="02020603050405020304" pitchFamily="18" charset="0"/>
              </a:rPr>
              <a:t>P(</a:t>
            </a:r>
            <a:r>
              <a:rPr kumimoji="1" lang="en-US" altLang="zh-CN" sz="3200" i="1" dirty="0">
                <a:latin typeface="Times New Roman" panose="02020603050405020304" pitchFamily="18" charset="0"/>
                <a:cs typeface="Times New Roman" panose="02020603050405020304" pitchFamily="18" charset="0"/>
              </a:rPr>
              <a:t>B</a:t>
            </a:r>
            <a:r>
              <a:rPr kumimoji="1" lang="en-US" altLang="zh-CN" sz="3200" dirty="0">
                <a:latin typeface="Times New Roman" panose="02020603050405020304" pitchFamily="18" charset="0"/>
                <a:cs typeface="Times New Roman" panose="02020603050405020304" pitchFamily="18" charset="0"/>
              </a:rPr>
              <a:t>) &gt; 0</a:t>
            </a:r>
            <a:r>
              <a:rPr kumimoji="1" lang="zh-CN" altLang="en-US" sz="3200" dirty="0">
                <a:latin typeface="Times New Roman" panose="02020603050405020304" pitchFamily="18" charset="0"/>
                <a:cs typeface="Times New Roman" panose="02020603050405020304" pitchFamily="18" charset="0"/>
              </a:rPr>
              <a:t>，称：</a:t>
            </a:r>
            <a:endParaRPr kumimoji="1" lang="en-US" altLang="zh-CN" sz="3200" dirty="0">
              <a:latin typeface="Times New Roman" panose="02020603050405020304" pitchFamily="18" charset="0"/>
              <a:cs typeface="Times New Roman" panose="02020603050405020304" pitchFamily="18" charset="0"/>
            </a:endParaRPr>
          </a:p>
          <a:p>
            <a:pPr>
              <a:spcBef>
                <a:spcPct val="20000"/>
              </a:spcBef>
            </a:pPr>
            <a:endParaRPr kumimoji="1" lang="en-US" altLang="zh-CN" sz="3200" dirty="0">
              <a:latin typeface="Times New Roman" panose="02020603050405020304" pitchFamily="18" charset="0"/>
              <a:cs typeface="Times New Roman" panose="02020603050405020304" pitchFamily="18" charset="0"/>
            </a:endParaRPr>
          </a:p>
          <a:p>
            <a:pPr>
              <a:spcBef>
                <a:spcPct val="20000"/>
              </a:spcBef>
            </a:pPr>
            <a:endParaRPr kumimoji="1" lang="en-US" altLang="zh-CN" sz="3200" dirty="0">
              <a:latin typeface="Times New Roman" panose="02020603050405020304" pitchFamily="18" charset="0"/>
              <a:cs typeface="Times New Roman" panose="02020603050405020304" pitchFamily="18" charset="0"/>
            </a:endParaRPr>
          </a:p>
          <a:p>
            <a:pPr>
              <a:spcBef>
                <a:spcPct val="20000"/>
              </a:spcBef>
            </a:pPr>
            <a:r>
              <a:rPr kumimoji="1" lang="en-US" altLang="zh-CN" sz="3200" dirty="0">
                <a:latin typeface="Times New Roman" panose="02020603050405020304" pitchFamily="18" charset="0"/>
                <a:cs typeface="Times New Roman" panose="02020603050405020304" pitchFamily="18" charset="0"/>
              </a:rPr>
              <a:t>             </a:t>
            </a:r>
            <a:r>
              <a:rPr kumimoji="1" lang="zh-CN" altLang="en-US" sz="3200" dirty="0">
                <a:latin typeface="Times New Roman" panose="02020603050405020304" pitchFamily="18" charset="0"/>
                <a:cs typeface="Times New Roman" panose="02020603050405020304" pitchFamily="18" charset="0"/>
              </a:rPr>
              <a:t>为事件 </a:t>
            </a:r>
            <a:r>
              <a:rPr kumimoji="1" lang="en-US" altLang="zh-CN" sz="3200" i="1" dirty="0">
                <a:latin typeface="Times New Roman" panose="02020603050405020304" pitchFamily="18" charset="0"/>
                <a:cs typeface="Times New Roman" panose="02020603050405020304" pitchFamily="18" charset="0"/>
              </a:rPr>
              <a:t>B </a:t>
            </a:r>
            <a:r>
              <a:rPr kumimoji="1" lang="zh-CN" altLang="en-US" sz="3200" dirty="0">
                <a:latin typeface="Times New Roman" panose="02020603050405020304" pitchFamily="18" charset="0"/>
                <a:cs typeface="Times New Roman" panose="02020603050405020304" pitchFamily="18" charset="0"/>
              </a:rPr>
              <a:t>发生的条件下，</a:t>
            </a:r>
            <a:r>
              <a:rPr kumimoji="1" lang="en-US" altLang="zh-CN" sz="3200" i="1" dirty="0">
                <a:latin typeface="Times New Roman" panose="02020603050405020304" pitchFamily="18" charset="0"/>
                <a:cs typeface="Times New Roman" panose="02020603050405020304" pitchFamily="18" charset="0"/>
              </a:rPr>
              <a:t>A </a:t>
            </a:r>
            <a:r>
              <a:rPr kumimoji="1" lang="zh-CN" altLang="en-US" sz="3200" dirty="0">
                <a:latin typeface="Times New Roman" panose="02020603050405020304" pitchFamily="18" charset="0"/>
                <a:cs typeface="Times New Roman" panose="02020603050405020304" pitchFamily="18" charset="0"/>
              </a:rPr>
              <a:t>发生的概率。 </a:t>
            </a:r>
          </a:p>
        </p:txBody>
      </p:sp>
      <p:sp>
        <p:nvSpPr>
          <p:cNvPr id="20496" name="Rectangle 16">
            <a:extLst>
              <a:ext uri="{FF2B5EF4-FFF2-40B4-BE49-F238E27FC236}">
                <a16:creationId xmlns:a16="http://schemas.microsoft.com/office/drawing/2014/main" id="{005FDA5A-3CD4-4A62-93A8-9187DBB338CB}"/>
              </a:ext>
            </a:extLst>
          </p:cNvPr>
          <p:cNvSpPr>
            <a:spLocks noChangeArrowheads="1"/>
          </p:cNvSpPr>
          <p:nvPr/>
        </p:nvSpPr>
        <p:spPr bwMode="auto">
          <a:xfrm>
            <a:off x="179512" y="4057781"/>
            <a:ext cx="8641655" cy="161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1250950" indent="-1250950">
              <a:lnSpc>
                <a:spcPct val="150000"/>
              </a:lnSpc>
              <a:spcBef>
                <a:spcPts val="0"/>
              </a:spcBef>
              <a:buFontTx/>
              <a:buNone/>
            </a:pPr>
            <a:r>
              <a:rPr lang="zh-CN" altLang="en-US" dirty="0">
                <a:solidFill>
                  <a:srgbClr val="FFFF00"/>
                </a:solidFill>
                <a:latin typeface="Times New Roman" panose="02020603050405020304" pitchFamily="18" charset="0"/>
                <a:cs typeface="Times New Roman" panose="02020603050405020304" pitchFamily="18" charset="0"/>
              </a:rPr>
              <a:t>例如：</a:t>
            </a:r>
            <a:r>
              <a:rPr lang="zh-CN" altLang="en-US" dirty="0">
                <a:latin typeface="Times New Roman" panose="02020603050405020304" pitchFamily="18" charset="0"/>
                <a:cs typeface="Times New Roman" panose="02020603050405020304" pitchFamily="18" charset="0"/>
              </a:rPr>
              <a:t>投掷骰子，观察点数，</a:t>
            </a:r>
            <a:r>
              <a:rPr lang="en-US" altLang="zh-CN" i="1"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表示“出现３点”，</a:t>
            </a:r>
            <a:r>
              <a:rPr lang="en-US" altLang="zh-CN" i="1"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表示“出现奇数点”，求</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及已知</a:t>
            </a:r>
            <a:r>
              <a:rPr lang="en-US" altLang="zh-CN" i="1"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发生的条件下</a:t>
            </a:r>
            <a:r>
              <a:rPr lang="en-US" altLang="zh-CN" i="1"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发生的概率</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p>
        </p:txBody>
      </p:sp>
      <p:sp>
        <p:nvSpPr>
          <p:cNvPr id="20498" name="Text Box 18">
            <a:extLst>
              <a:ext uri="{FF2B5EF4-FFF2-40B4-BE49-F238E27FC236}">
                <a16:creationId xmlns:a16="http://schemas.microsoft.com/office/drawing/2014/main" id="{BA071B46-1CF7-4B40-8993-7CE83C749F0D}"/>
              </a:ext>
            </a:extLst>
          </p:cNvPr>
          <p:cNvSpPr txBox="1">
            <a:spLocks noChangeArrowheads="1"/>
          </p:cNvSpPr>
          <p:nvPr/>
        </p:nvSpPr>
        <p:spPr bwMode="auto">
          <a:xfrm>
            <a:off x="250825" y="559593"/>
            <a:ext cx="78597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rgbClr val="996633"/>
              </a:buClr>
              <a:buFont typeface="Wingdings" panose="05000000000000000000" pitchFamily="2" charset="2"/>
              <a:buNone/>
            </a:pPr>
            <a:r>
              <a:rPr lang="zh-CN" altLang="en-US" sz="3600" dirty="0">
                <a:solidFill>
                  <a:srgbClr val="E313ED"/>
                </a:solidFill>
              </a:rPr>
              <a:t>五、条件概率与独立性原理</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385F275-AA62-4CC7-882D-69E9568656F7}"/>
                  </a:ext>
                </a:extLst>
              </p:cNvPr>
              <p:cNvSpPr txBox="1"/>
              <p:nvPr/>
            </p:nvSpPr>
            <p:spPr>
              <a:xfrm>
                <a:off x="3189955" y="2422686"/>
                <a:ext cx="2764090" cy="9126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𝑷</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𝑨</m:t>
                          </m:r>
                          <m:r>
                            <a:rPr lang="en-US" altLang="zh-CN" b="1" i="1" smtClean="0">
                              <a:latin typeface="Cambria Math" panose="02040503050406030204" pitchFamily="18" charset="0"/>
                            </a:rPr>
                            <m:t>|</m:t>
                          </m:r>
                          <m:r>
                            <a:rPr lang="en-US" altLang="zh-CN" b="1" i="1" smtClean="0">
                              <a:latin typeface="Cambria Math" panose="02040503050406030204" pitchFamily="18" charset="0"/>
                            </a:rPr>
                            <m:t>𝑩</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𝑷</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𝑨𝑩</m:t>
                              </m:r>
                            </m:e>
                          </m:d>
                        </m:num>
                        <m:den>
                          <m:r>
                            <a:rPr lang="en-US" altLang="zh-CN" b="1" i="1" smtClean="0">
                              <a:latin typeface="Cambria Math" panose="02040503050406030204" pitchFamily="18" charset="0"/>
                            </a:rPr>
                            <m:t>𝑷</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𝑩</m:t>
                              </m:r>
                            </m:e>
                          </m:d>
                        </m:den>
                      </m:f>
                    </m:oMath>
                  </m:oMathPara>
                </a14:m>
                <a:endParaRPr lang="zh-CN" altLang="en-US" dirty="0"/>
              </a:p>
            </p:txBody>
          </p:sp>
        </mc:Choice>
        <mc:Fallback xmlns="">
          <p:sp>
            <p:nvSpPr>
              <p:cNvPr id="4" name="文本框 3">
                <a:extLst>
                  <a:ext uri="{FF2B5EF4-FFF2-40B4-BE49-F238E27FC236}">
                    <a16:creationId xmlns:a16="http://schemas.microsoft.com/office/drawing/2014/main" id="{2385F275-AA62-4CC7-882D-69E9568656F7}"/>
                  </a:ext>
                </a:extLst>
              </p:cNvPr>
              <p:cNvSpPr txBox="1">
                <a:spLocks noRot="1" noChangeAspect="1" noMove="1" noResize="1" noEditPoints="1" noAdjustHandles="1" noChangeArrowheads="1" noChangeShapeType="1" noTextEdit="1"/>
              </p:cNvSpPr>
              <p:nvPr/>
            </p:nvSpPr>
            <p:spPr>
              <a:xfrm>
                <a:off x="3189955" y="2422686"/>
                <a:ext cx="2764090" cy="912622"/>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ransition>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530" name="Object 2">
                <a:extLst>
                  <a:ext uri="{FF2B5EF4-FFF2-40B4-BE49-F238E27FC236}">
                    <a16:creationId xmlns:a16="http://schemas.microsoft.com/office/drawing/2014/main" id="{7EA1D8D5-34F4-4426-947E-179191E7825E}"/>
                  </a:ext>
                </a:extLst>
              </p:cNvPr>
              <p:cNvSpPr txBox="1"/>
              <p:nvPr/>
            </p:nvSpPr>
            <p:spPr bwMode="auto">
              <a:xfrm>
                <a:off x="467544" y="568202"/>
                <a:ext cx="7904163" cy="2720847"/>
              </a:xfrm>
              <a:prstGeom prst="rect">
                <a:avLst/>
              </a:prstGeom>
              <a:noFill/>
              <a:ln>
                <a:noFill/>
              </a:ln>
              <a:effectLst/>
            </p:spPr>
            <p:txBody>
              <a:bodyPr>
                <a:normAutofit fontScale="92500"/>
              </a:bodyPr>
              <a:lstStyle/>
              <a:p>
                <a:pPr>
                  <a:lnSpc>
                    <a:spcPct val="150000"/>
                  </a:lnSpc>
                </a:pPr>
                <a14:m>
                  <m:oMathPara xmlns:m="http://schemas.openxmlformats.org/officeDocument/2006/math">
                    <m:oMathParaPr>
                      <m:jc m:val="left"/>
                    </m:oMathParaPr>
                    <m:oMath xmlns:m="http://schemas.openxmlformats.org/officeDocument/2006/math">
                      <m:r>
                        <a:rPr lang="zh-CN" altLang="en-US" i="1" smtClean="0">
                          <a:ln>
                            <a:solidFill>
                              <a:schemeClr val="tx1"/>
                            </a:solidFill>
                          </a:ln>
                          <a:solidFill>
                            <a:schemeClr val="tx1"/>
                          </a:solidFill>
                          <a:latin typeface="Cambria Math" panose="02040503050406030204" pitchFamily="18" charset="0"/>
                        </a:rPr>
                        <m:t>  </m:t>
                      </m:r>
                      <m:r>
                        <a:rPr lang="zh-CN" altLang="en-US" i="1" smtClean="0">
                          <a:ln>
                            <a:solidFill>
                              <a:schemeClr val="tx1"/>
                            </a:solidFill>
                          </a:ln>
                          <a:solidFill>
                            <a:schemeClr val="tx1"/>
                          </a:solidFill>
                          <a:latin typeface="Cambria Math" panose="02040503050406030204" pitchFamily="18" charset="0"/>
                        </a:rPr>
                        <m:t>𝑃</m:t>
                      </m:r>
                      <m:r>
                        <a:rPr lang="zh-CN" altLang="en-US" i="1" smtClean="0">
                          <a:ln>
                            <a:solidFill>
                              <a:schemeClr val="tx1"/>
                            </a:solidFill>
                          </a:ln>
                          <a:solidFill>
                            <a:schemeClr val="tx1"/>
                          </a:solidFill>
                          <a:latin typeface="Cambria Math" panose="02040503050406030204" pitchFamily="18" charset="0"/>
                        </a:rPr>
                        <m:t>(</m:t>
                      </m:r>
                      <m:r>
                        <a:rPr lang="zh-CN" altLang="en-US" i="1" smtClean="0">
                          <a:ln>
                            <a:solidFill>
                              <a:schemeClr val="tx1"/>
                            </a:solidFill>
                          </a:ln>
                          <a:solidFill>
                            <a:schemeClr val="tx1"/>
                          </a:solidFill>
                          <a:latin typeface="Cambria Math" panose="02040503050406030204" pitchFamily="18" charset="0"/>
                        </a:rPr>
                        <m:t>𝐴𝐵</m:t>
                      </m:r>
                      <m:r>
                        <a:rPr lang="zh-CN" altLang="en-US" i="1" smtClean="0">
                          <a:ln>
                            <a:solidFill>
                              <a:schemeClr val="tx1"/>
                            </a:solidFill>
                          </a:ln>
                          <a:solidFill>
                            <a:schemeClr val="tx1"/>
                          </a:solidFill>
                          <a:latin typeface="Cambria Math" panose="02040503050406030204" pitchFamily="18" charset="0"/>
                        </a:rPr>
                        <m:t>) ——</m:t>
                      </m:r>
                      <m:r>
                        <a:rPr lang="zh-CN" altLang="en-US" i="1" smtClean="0">
                          <a:ln>
                            <a:solidFill>
                              <a:schemeClr val="tx1"/>
                            </a:solidFill>
                          </a:ln>
                          <a:solidFill>
                            <a:schemeClr val="tx1"/>
                          </a:solidFill>
                          <a:latin typeface="Cambria Math" panose="02040503050406030204" pitchFamily="18" charset="0"/>
                        </a:rPr>
                        <m:t>联合概率，表示在样本空间</m:t>
                      </m:r>
                      <m:r>
                        <m:rPr>
                          <m:sty m:val="p"/>
                        </m:rPr>
                        <a:rPr lang="zh-CN" altLang="en-US" i="1" smtClean="0">
                          <a:ln>
                            <a:solidFill>
                              <a:schemeClr val="tx1"/>
                            </a:solidFill>
                          </a:ln>
                          <a:solidFill>
                            <a:schemeClr val="tx1"/>
                          </a:solidFill>
                          <a:latin typeface="Cambria Math" panose="02040503050406030204" pitchFamily="18" charset="0"/>
                        </a:rPr>
                        <m:t>Ω</m:t>
                      </m:r>
                      <m:r>
                        <a:rPr lang="zh-CN" altLang="en-US" i="1" smtClean="0">
                          <a:ln>
                            <a:solidFill>
                              <a:schemeClr val="tx1"/>
                            </a:solidFill>
                          </a:ln>
                          <a:solidFill>
                            <a:schemeClr val="tx1"/>
                          </a:solidFill>
                          <a:latin typeface="Cambria Math" panose="02040503050406030204" pitchFamily="18" charset="0"/>
                        </a:rPr>
                        <m:t>中</m:t>
                      </m:r>
                      <m:r>
                        <a:rPr lang="zh-CN" altLang="en-US" i="1" smtClean="0">
                          <a:ln>
                            <a:solidFill>
                              <a:schemeClr val="tx1"/>
                            </a:solidFill>
                          </a:ln>
                          <a:solidFill>
                            <a:schemeClr val="tx1"/>
                          </a:solidFill>
                          <a:latin typeface="Cambria Math" panose="02040503050406030204" pitchFamily="18" charset="0"/>
                        </a:rPr>
                        <m:t>,</m:t>
                      </m:r>
                    </m:oMath>
                    <m:oMath xmlns:m="http://schemas.openxmlformats.org/officeDocument/2006/math">
                      <m:r>
                        <a:rPr lang="zh-CN" altLang="en-US" i="1">
                          <a:ln>
                            <a:solidFill>
                              <a:schemeClr val="tx1"/>
                            </a:solidFill>
                          </a:ln>
                          <a:solidFill>
                            <a:schemeClr val="tx1"/>
                          </a:solidFill>
                          <a:latin typeface="Cambria Math" panose="02040503050406030204" pitchFamily="18" charset="0"/>
                        </a:rPr>
                        <m:t>𝐴𝐵</m:t>
                      </m:r>
                      <m:r>
                        <a:rPr lang="zh-CN" altLang="en-US" i="1">
                          <a:ln>
                            <a:solidFill>
                              <a:schemeClr val="tx1"/>
                            </a:solidFill>
                          </a:ln>
                          <a:solidFill>
                            <a:schemeClr val="tx1"/>
                          </a:solidFill>
                          <a:latin typeface="Cambria Math" panose="02040503050406030204" pitchFamily="18" charset="0"/>
                        </a:rPr>
                        <m:t>两个事件同时发生的概率，计算方法如下：</m:t>
                      </m:r>
                    </m:oMath>
                    <m:oMath xmlns:m="http://schemas.openxmlformats.org/officeDocument/2006/math">
                      <m:r>
                        <a:rPr lang="zh-CN" altLang="en-US" i="1">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𝑃</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𝐴𝐵</m:t>
                      </m:r>
                      <m:r>
                        <a:rPr lang="zh-CN" altLang="en-US" i="1">
                          <a:ln>
                            <a:solidFill>
                              <a:schemeClr val="tx1"/>
                            </a:solidFill>
                          </a:ln>
                          <a:solidFill>
                            <a:schemeClr val="tx1"/>
                          </a:solidFill>
                          <a:latin typeface="Cambria Math" panose="02040503050406030204" pitchFamily="18" charset="0"/>
                        </a:rPr>
                        <m:t>)=</m:t>
                      </m:r>
                      <m:f>
                        <m:fPr>
                          <m:ctrlPr>
                            <a:rPr lang="zh-CN" altLang="en-US" i="1">
                              <a:ln>
                                <a:solidFill>
                                  <a:schemeClr val="tx1"/>
                                </a:solidFill>
                              </a:ln>
                              <a:solidFill>
                                <a:schemeClr val="tx1"/>
                              </a:solidFill>
                              <a:latin typeface="Cambria Math" panose="02040503050406030204" pitchFamily="18" charset="0"/>
                            </a:rPr>
                          </m:ctrlPr>
                        </m:fPr>
                        <m:num>
                          <m:r>
                            <a:rPr lang="zh-CN" altLang="en-US" i="1">
                              <a:ln>
                                <a:solidFill>
                                  <a:schemeClr val="tx1"/>
                                </a:solidFill>
                              </a:ln>
                              <a:solidFill>
                                <a:schemeClr val="tx1"/>
                              </a:solidFill>
                              <a:latin typeface="Cambria Math" panose="02040503050406030204" pitchFamily="18" charset="0"/>
                            </a:rPr>
                            <m:t>𝐴𝐵</m:t>
                          </m:r>
                          <m:r>
                            <a:rPr lang="zh-CN" altLang="en-US" i="1">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中样本点数</m:t>
                          </m:r>
                        </m:num>
                        <m:den>
                          <m:r>
                            <m:rPr>
                              <m:sty m:val="p"/>
                            </m:rPr>
                            <a:rPr lang="zh-CN" altLang="en-US" i="1">
                              <a:ln>
                                <a:solidFill>
                                  <a:schemeClr val="tx1"/>
                                </a:solidFill>
                              </a:ln>
                              <a:solidFill>
                                <a:schemeClr val="tx1"/>
                              </a:solidFill>
                              <a:latin typeface="Cambria Math" panose="02040503050406030204" pitchFamily="18" charset="0"/>
                            </a:rPr>
                            <m:t>Ω</m:t>
                          </m:r>
                          <m:r>
                            <a:rPr lang="zh-CN" altLang="en-US" i="1">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中样本点数</m:t>
                          </m:r>
                        </m:den>
                      </m:f>
                    </m:oMath>
                  </m:oMathPara>
                </a14:m>
                <a:br>
                  <a:rPr lang="zh-CN" altLang="en-US" dirty="0">
                    <a:ln>
                      <a:solidFill>
                        <a:schemeClr val="tx1"/>
                      </a:solidFill>
                    </a:ln>
                    <a:solidFill>
                      <a:schemeClr val="tx1"/>
                    </a:solidFill>
                  </a:rPr>
                </a:br>
                <a:endParaRPr lang="zh-CN" altLang="en-US" dirty="0">
                  <a:ln>
                    <a:solidFill>
                      <a:schemeClr val="tx1"/>
                    </a:solidFill>
                  </a:ln>
                  <a:solidFill>
                    <a:schemeClr val="tx1"/>
                  </a:solidFill>
                </a:endParaRPr>
              </a:p>
            </p:txBody>
          </p:sp>
        </mc:Choice>
        <mc:Fallback xmlns="">
          <p:sp>
            <p:nvSpPr>
              <p:cNvPr id="22530" name="Object 2">
                <a:extLst>
                  <a:ext uri="{FF2B5EF4-FFF2-40B4-BE49-F238E27FC236}">
                    <a16:creationId xmlns:a16="http://schemas.microsoft.com/office/drawing/2014/main" id="{7EA1D8D5-34F4-4426-947E-179191E7825E}"/>
                  </a:ext>
                </a:extLst>
              </p:cNvPr>
              <p:cNvSpPr txBox="1">
                <a:spLocks noRot="1" noChangeAspect="1" noMove="1" noResize="1" noEditPoints="1" noAdjustHandles="1" noChangeArrowheads="1" noChangeShapeType="1" noTextEdit="1"/>
              </p:cNvSpPr>
              <p:nvPr/>
            </p:nvSpPr>
            <p:spPr bwMode="auto">
              <a:xfrm>
                <a:off x="467544" y="568202"/>
                <a:ext cx="7904163" cy="2720847"/>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32" name="Object 4">
                <a:extLst>
                  <a:ext uri="{FF2B5EF4-FFF2-40B4-BE49-F238E27FC236}">
                    <a16:creationId xmlns:a16="http://schemas.microsoft.com/office/drawing/2014/main" id="{8826AE6C-B2A0-4797-BBA6-79D9DA22A82D}"/>
                  </a:ext>
                </a:extLst>
              </p:cNvPr>
              <p:cNvSpPr txBox="1">
                <a:spLocks noGrp="1"/>
              </p:cNvSpPr>
              <p:nvPr>
                <p:ph idx="4294967295"/>
              </p:nvPr>
            </p:nvSpPr>
            <p:spPr bwMode="auto">
              <a:xfrm>
                <a:off x="772293" y="3289049"/>
                <a:ext cx="7904163" cy="2644775"/>
              </a:xfrm>
              <a:prstGeom prst="rect">
                <a:avLst/>
              </a:prstGeom>
              <a:noFill/>
              <a:ln>
                <a:noFill/>
              </a:ln>
              <a:effectLst/>
            </p:spPr>
            <p:txBody>
              <a:bodyPr>
                <a:normAutofit fontScale="77500" lnSpcReduction="20000"/>
              </a:bodyPr>
              <a:lstStyle/>
              <a:p>
                <a:pPr>
                  <a:lnSpc>
                    <a:spcPct val="150000"/>
                  </a:lnSpc>
                  <a:spcBef>
                    <a:spcPts val="0"/>
                  </a:spcBef>
                  <a:buNone/>
                </a:pPr>
                <a14:m>
                  <m:oMathPara xmlns:m="http://schemas.openxmlformats.org/officeDocument/2006/math">
                    <m:oMathParaPr>
                      <m:jc m:val="left"/>
                    </m:oMathParaPr>
                    <m:oMath xmlns:m="http://schemas.openxmlformats.org/officeDocument/2006/math">
                      <m:r>
                        <a:rPr lang="zh-CN" altLang="en-US" i="1" smtClean="0">
                          <a:ln>
                            <a:solidFill>
                              <a:schemeClr val="tx1"/>
                            </a:solidFill>
                          </a:ln>
                          <a:solidFill>
                            <a:schemeClr val="tx1"/>
                          </a:solidFill>
                          <a:latin typeface="Cambria Math" panose="02040503050406030204" pitchFamily="18" charset="0"/>
                        </a:rPr>
                        <m:t>  </m:t>
                      </m:r>
                      <m:r>
                        <a:rPr lang="zh-CN" altLang="en-US" i="1" smtClean="0">
                          <a:ln>
                            <a:solidFill>
                              <a:schemeClr val="tx1"/>
                            </a:solidFill>
                          </a:ln>
                          <a:solidFill>
                            <a:schemeClr val="tx1"/>
                          </a:solidFill>
                          <a:latin typeface="Cambria Math" panose="02040503050406030204" pitchFamily="18" charset="0"/>
                        </a:rPr>
                        <m:t>𝑃</m:t>
                      </m:r>
                      <m:r>
                        <a:rPr lang="zh-CN" altLang="en-US" i="1" smtClean="0">
                          <a:ln>
                            <a:solidFill>
                              <a:schemeClr val="tx1"/>
                            </a:solidFill>
                          </a:ln>
                          <a:solidFill>
                            <a:schemeClr val="tx1"/>
                          </a:solidFill>
                          <a:latin typeface="Cambria Math" panose="02040503050406030204" pitchFamily="18" charset="0"/>
                        </a:rPr>
                        <m:t>(</m:t>
                      </m:r>
                      <m:r>
                        <a:rPr lang="zh-CN" altLang="en-US" i="1" smtClean="0">
                          <a:ln>
                            <a:solidFill>
                              <a:schemeClr val="tx1"/>
                            </a:solidFill>
                          </a:ln>
                          <a:solidFill>
                            <a:schemeClr val="tx1"/>
                          </a:solidFill>
                          <a:latin typeface="Cambria Math" panose="02040503050406030204" pitchFamily="18" charset="0"/>
                        </a:rPr>
                        <m:t>𝐵</m:t>
                      </m:r>
                      <m:r>
                        <a:rPr lang="zh-CN" altLang="en-US" i="1" smtClean="0">
                          <a:ln>
                            <a:solidFill>
                              <a:schemeClr val="tx1"/>
                            </a:solidFill>
                          </a:ln>
                          <a:solidFill>
                            <a:schemeClr val="tx1"/>
                          </a:solidFill>
                          <a:latin typeface="Cambria Math" panose="02040503050406030204" pitchFamily="18" charset="0"/>
                        </a:rPr>
                        <m:t>) —</m:t>
                      </m:r>
                      <m:r>
                        <a:rPr lang="zh-CN" altLang="en-US" i="1" smtClean="0">
                          <a:ln>
                            <a:solidFill>
                              <a:schemeClr val="tx1"/>
                            </a:solidFill>
                          </a:ln>
                          <a:solidFill>
                            <a:schemeClr val="tx1"/>
                          </a:solidFill>
                          <a:latin typeface="Cambria Math" panose="02040503050406030204" pitchFamily="18" charset="0"/>
                        </a:rPr>
                        <m:t>全概率或者边缘概率，表示在样本</m:t>
                      </m:r>
                    </m:oMath>
                    <m:oMath xmlns:m="http://schemas.openxmlformats.org/officeDocument/2006/math">
                      <m:r>
                        <a:rPr lang="zh-CN" altLang="en-US" i="1">
                          <a:ln>
                            <a:solidFill>
                              <a:schemeClr val="tx1"/>
                            </a:solidFill>
                          </a:ln>
                          <a:solidFill>
                            <a:schemeClr val="tx1"/>
                          </a:solidFill>
                          <a:latin typeface="Cambria Math" panose="02040503050406030204" pitchFamily="18" charset="0"/>
                        </a:rPr>
                        <m:t>空间</m:t>
                      </m:r>
                      <m:r>
                        <m:rPr>
                          <m:sty m:val="p"/>
                        </m:rPr>
                        <a:rPr lang="zh-CN" altLang="en-US" i="1">
                          <a:ln>
                            <a:solidFill>
                              <a:schemeClr val="tx1"/>
                            </a:solidFill>
                          </a:ln>
                          <a:solidFill>
                            <a:schemeClr val="tx1"/>
                          </a:solidFill>
                          <a:latin typeface="Cambria Math" panose="02040503050406030204" pitchFamily="18" charset="0"/>
                        </a:rPr>
                        <m:t>Ω</m:t>
                      </m:r>
                      <m:r>
                        <a:rPr lang="zh-CN" altLang="en-US" i="1">
                          <a:ln>
                            <a:solidFill>
                              <a:schemeClr val="tx1"/>
                            </a:solidFill>
                          </a:ln>
                          <a:solidFill>
                            <a:schemeClr val="tx1"/>
                          </a:solidFill>
                          <a:latin typeface="Cambria Math" panose="02040503050406030204" pitchFamily="18" charset="0"/>
                        </a:rPr>
                        <m:t>中</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𝐵</m:t>
                      </m:r>
                      <m:r>
                        <a:rPr lang="zh-CN" altLang="en-US" i="1">
                          <a:ln>
                            <a:solidFill>
                              <a:schemeClr val="tx1"/>
                            </a:solidFill>
                          </a:ln>
                          <a:solidFill>
                            <a:schemeClr val="tx1"/>
                          </a:solidFill>
                          <a:latin typeface="Cambria Math" panose="02040503050406030204" pitchFamily="18" charset="0"/>
                        </a:rPr>
                        <m:t>事件发生的概率，计算方法如下：</m:t>
                      </m:r>
                    </m:oMath>
                    <m:oMath xmlns:m="http://schemas.openxmlformats.org/officeDocument/2006/math">
                      <m:r>
                        <a:rPr lang="zh-CN" altLang="en-US" i="1">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𝑃</m:t>
                      </m:r>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𝐵</m:t>
                      </m:r>
                      <m:r>
                        <a:rPr lang="zh-CN" altLang="en-US" i="1">
                          <a:ln>
                            <a:solidFill>
                              <a:schemeClr val="tx1"/>
                            </a:solidFill>
                          </a:ln>
                          <a:solidFill>
                            <a:schemeClr val="tx1"/>
                          </a:solidFill>
                          <a:latin typeface="Cambria Math" panose="02040503050406030204" pitchFamily="18" charset="0"/>
                        </a:rPr>
                        <m:t>)=</m:t>
                      </m:r>
                      <m:f>
                        <m:fPr>
                          <m:ctrlPr>
                            <a:rPr lang="zh-CN" altLang="en-US" i="1">
                              <a:ln>
                                <a:solidFill>
                                  <a:schemeClr val="tx1"/>
                                </a:solidFill>
                              </a:ln>
                              <a:solidFill>
                                <a:schemeClr val="tx1"/>
                              </a:solidFill>
                              <a:latin typeface="Cambria Math" panose="02040503050406030204" pitchFamily="18" charset="0"/>
                            </a:rPr>
                          </m:ctrlPr>
                        </m:fPr>
                        <m:num>
                          <m:r>
                            <a:rPr lang="zh-CN" altLang="en-US" i="1">
                              <a:ln>
                                <a:solidFill>
                                  <a:schemeClr val="tx1"/>
                                </a:solidFill>
                              </a:ln>
                              <a:solidFill>
                                <a:schemeClr val="tx1"/>
                              </a:solidFill>
                              <a:latin typeface="Cambria Math" panose="02040503050406030204" pitchFamily="18" charset="0"/>
                            </a:rPr>
                            <m:t>𝐵</m:t>
                          </m:r>
                          <m:r>
                            <a:rPr lang="zh-CN" altLang="en-US" i="1">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中样本点数</m:t>
                          </m:r>
                        </m:num>
                        <m:den>
                          <m:r>
                            <m:rPr>
                              <m:sty m:val="p"/>
                            </m:rPr>
                            <a:rPr lang="zh-CN" altLang="en-US" i="1">
                              <a:ln>
                                <a:solidFill>
                                  <a:schemeClr val="tx1"/>
                                </a:solidFill>
                              </a:ln>
                              <a:solidFill>
                                <a:schemeClr val="tx1"/>
                              </a:solidFill>
                              <a:latin typeface="Cambria Math" panose="02040503050406030204" pitchFamily="18" charset="0"/>
                            </a:rPr>
                            <m:t>Ω</m:t>
                          </m:r>
                          <m:r>
                            <a:rPr lang="zh-CN" altLang="en-US" i="1">
                              <a:ln>
                                <a:solidFill>
                                  <a:schemeClr val="tx1"/>
                                </a:solidFill>
                              </a:ln>
                              <a:solidFill>
                                <a:schemeClr val="tx1"/>
                              </a:solidFill>
                              <a:latin typeface="Cambria Math" panose="02040503050406030204" pitchFamily="18" charset="0"/>
                            </a:rPr>
                            <m:t> </m:t>
                          </m:r>
                          <m:r>
                            <a:rPr lang="zh-CN" altLang="en-US" i="1">
                              <a:ln>
                                <a:solidFill>
                                  <a:schemeClr val="tx1"/>
                                </a:solidFill>
                              </a:ln>
                              <a:solidFill>
                                <a:schemeClr val="tx1"/>
                              </a:solidFill>
                              <a:latin typeface="Cambria Math" panose="02040503050406030204" pitchFamily="18" charset="0"/>
                            </a:rPr>
                            <m:t>中样本点数</m:t>
                          </m:r>
                        </m:den>
                      </m:f>
                    </m:oMath>
                  </m:oMathPara>
                </a14:m>
                <a:br>
                  <a:rPr lang="zh-CN" altLang="en-US" dirty="0">
                    <a:ln>
                      <a:solidFill>
                        <a:schemeClr val="tx1"/>
                      </a:solidFill>
                    </a:ln>
                    <a:solidFill>
                      <a:schemeClr val="tx1"/>
                    </a:solidFill>
                  </a:rPr>
                </a:br>
                <a:endParaRPr lang="zh-CN" altLang="en-US" dirty="0">
                  <a:ln>
                    <a:solidFill>
                      <a:schemeClr val="tx1"/>
                    </a:solidFill>
                  </a:ln>
                  <a:solidFill>
                    <a:schemeClr val="tx1"/>
                  </a:solidFill>
                </a:endParaRPr>
              </a:p>
            </p:txBody>
          </p:sp>
        </mc:Choice>
        <mc:Fallback xmlns="">
          <p:sp>
            <p:nvSpPr>
              <p:cNvPr id="22532" name="Object 4">
                <a:extLst>
                  <a:ext uri="{FF2B5EF4-FFF2-40B4-BE49-F238E27FC236}">
                    <a16:creationId xmlns:a16="http://schemas.microsoft.com/office/drawing/2014/main" id="{8826AE6C-B2A0-4797-BBA6-79D9DA22A82D}"/>
                  </a:ext>
                </a:extLst>
              </p:cNvPr>
              <p:cNvSpPr txBox="1">
                <a:spLocks noRot="1" noChangeAspect="1" noMove="1" noResize="1" noEditPoints="1" noAdjustHandles="1" noChangeArrowheads="1" noChangeShapeType="1" noTextEdit="1"/>
              </p:cNvSpPr>
              <p:nvPr>
                <p:ph idx="4294967295"/>
              </p:nvPr>
            </p:nvSpPr>
            <p:spPr bwMode="auto">
              <a:xfrm>
                <a:off x="772293" y="3289049"/>
                <a:ext cx="7904163" cy="2644775"/>
              </a:xfrm>
              <a:prstGeom prst="rect">
                <a:avLst/>
              </a:prstGeom>
              <a:blipFill>
                <a:blip r:embed="rId3"/>
                <a:stretch>
                  <a:fillRect/>
                </a:stretch>
              </a:blipFill>
              <a:ln>
                <a:noFill/>
              </a:ln>
              <a:effectLst/>
              <a:extLst/>
            </p:spPr>
            <p:txBody>
              <a:bodyPr/>
              <a:lstStyle/>
              <a:p>
                <a:r>
                  <a:rPr lang="zh-CN" altLang="en-US">
                    <a:noFill/>
                  </a:rPr>
                  <a:t> </a:t>
                </a:r>
              </a:p>
            </p:txBody>
          </p:sp>
        </mc:Fallback>
      </mc:AlternateContent>
    </p:spTree>
  </p:cSld>
  <p:clrMapOvr>
    <a:masterClrMapping/>
  </p:clrMapOvr>
  <p:transition>
    <p:wipe/>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8D0369DB-F77B-414B-9E4F-5C490F0C041E}"/>
              </a:ext>
            </a:extLst>
          </p:cNvPr>
          <p:cNvSpPr txBox="1">
            <a:spLocks noChangeArrowheads="1"/>
          </p:cNvSpPr>
          <p:nvPr/>
        </p:nvSpPr>
        <p:spPr bwMode="auto">
          <a:xfrm>
            <a:off x="914400" y="3539580"/>
            <a:ext cx="7848600"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rPr>
              <a:t>设 </a:t>
            </a:r>
            <a:r>
              <a:rPr kumimoji="1" lang="en-US" altLang="zh-CN" i="1" dirty="0">
                <a:latin typeface="Times New Roman" panose="02020603050405020304" pitchFamily="18" charset="0"/>
              </a:rPr>
              <a:t>A</a:t>
            </a:r>
            <a:r>
              <a:rPr kumimoji="1" lang="en-US" altLang="zh-CN" sz="2400" baseline="-25000" dirty="0">
                <a:latin typeface="Times New Roman" panose="02020603050405020304" pitchFamily="18" charset="0"/>
              </a:rPr>
              <a:t>1</a:t>
            </a:r>
            <a:r>
              <a:rPr kumimoji="1" lang="zh-CN" altLang="en-US" sz="2400" dirty="0">
                <a:latin typeface="Times New Roman" panose="02020603050405020304" pitchFamily="18" charset="0"/>
              </a:rPr>
              <a:t>，</a:t>
            </a:r>
            <a:r>
              <a:rPr kumimoji="1" lang="en-US" altLang="zh-CN" i="1" dirty="0">
                <a:latin typeface="Times New Roman" panose="02020603050405020304" pitchFamily="18" charset="0"/>
              </a:rPr>
              <a:t>A</a:t>
            </a:r>
            <a:r>
              <a:rPr kumimoji="1" lang="en-US" altLang="zh-CN" baseline="-25000" dirty="0">
                <a:latin typeface="Times New Roman" panose="02020603050405020304" pitchFamily="18" charset="0"/>
              </a:rPr>
              <a:t>2 </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 </a:t>
            </a:r>
            <a:r>
              <a:rPr kumimoji="1" lang="zh-CN" altLang="en-US" dirty="0">
                <a:latin typeface="Times New Roman" panose="02020603050405020304" pitchFamily="18" charset="0"/>
              </a:rPr>
              <a:t>，</a:t>
            </a:r>
            <a:r>
              <a:rPr kumimoji="1" lang="en-US" altLang="zh-CN" i="1" dirty="0">
                <a:latin typeface="Times New Roman" panose="02020603050405020304" pitchFamily="18" charset="0"/>
              </a:rPr>
              <a:t>A</a:t>
            </a:r>
            <a:r>
              <a:rPr kumimoji="1" lang="en-US" altLang="zh-CN" baseline="-25000" dirty="0">
                <a:latin typeface="Times New Roman" panose="02020603050405020304" pitchFamily="18" charset="0"/>
              </a:rPr>
              <a:t>n</a:t>
            </a:r>
            <a:r>
              <a:rPr kumimoji="1" lang="zh-CN" altLang="en-US" dirty="0">
                <a:latin typeface="Times New Roman" panose="02020603050405020304" pitchFamily="18" charset="0"/>
              </a:rPr>
              <a:t>为</a:t>
            </a:r>
            <a:r>
              <a:rPr kumimoji="1" lang="en-US" altLang="zh-CN" i="1" dirty="0">
                <a:latin typeface="Times New Roman" panose="02020603050405020304" pitchFamily="18" charset="0"/>
              </a:rPr>
              <a:t>n </a:t>
            </a:r>
            <a:r>
              <a:rPr kumimoji="1" lang="zh-CN" altLang="en-US" dirty="0">
                <a:latin typeface="Times New Roman" panose="02020603050405020304" pitchFamily="18" charset="0"/>
              </a:rPr>
              <a:t>个事件</a:t>
            </a:r>
            <a:r>
              <a:rPr kumimoji="1" lang="zh-CN" altLang="en-US" sz="2400" dirty="0">
                <a:latin typeface="Times New Roman" panose="02020603050405020304" pitchFamily="18" charset="0"/>
              </a:rPr>
              <a:t>，</a:t>
            </a:r>
          </a:p>
          <a:p>
            <a:pPr>
              <a:spcBef>
                <a:spcPct val="50000"/>
              </a:spcBef>
            </a:pPr>
            <a:r>
              <a:rPr kumimoji="1" lang="zh-CN" altLang="en-US" dirty="0">
                <a:latin typeface="Times New Roman" panose="02020603050405020304" pitchFamily="18" charset="0"/>
              </a:rPr>
              <a:t>若对于任意</a:t>
            </a:r>
            <a:r>
              <a:rPr kumimoji="1" lang="en-US" altLang="zh-CN" i="1" dirty="0">
                <a:latin typeface="Times New Roman" panose="02020603050405020304" pitchFamily="18" charset="0"/>
              </a:rPr>
              <a:t>k</a:t>
            </a:r>
            <a:r>
              <a:rPr kumimoji="1" lang="en-US" altLang="zh-CN" dirty="0">
                <a:latin typeface="Times New Roman" panose="02020603050405020304" pitchFamily="18" charset="0"/>
              </a:rPr>
              <a:t>(1 ≤ </a:t>
            </a:r>
            <a:r>
              <a:rPr kumimoji="1" lang="en-US" altLang="zh-CN" i="1" dirty="0">
                <a:latin typeface="Times New Roman" panose="02020603050405020304" pitchFamily="18" charset="0"/>
              </a:rPr>
              <a:t>k </a:t>
            </a:r>
            <a:r>
              <a:rPr kumimoji="1" lang="en-US" altLang="zh-CN" dirty="0">
                <a:latin typeface="Times New Roman" panose="02020603050405020304" pitchFamily="18" charset="0"/>
              </a:rPr>
              <a:t>≤ </a:t>
            </a:r>
            <a:r>
              <a:rPr kumimoji="1" lang="en-US" altLang="zh-CN" i="1" dirty="0">
                <a:latin typeface="Times New Roman" panose="02020603050405020304" pitchFamily="18" charset="0"/>
              </a:rPr>
              <a:t>n</a:t>
            </a:r>
            <a:r>
              <a:rPr kumimoji="1" lang="en-US" altLang="zh-CN" dirty="0">
                <a:latin typeface="Times New Roman" panose="02020603050405020304" pitchFamily="18" charset="0"/>
              </a:rPr>
              <a:t>), </a:t>
            </a:r>
            <a:r>
              <a:rPr kumimoji="1" lang="zh-CN" altLang="en-US" dirty="0">
                <a:latin typeface="Times New Roman" panose="02020603050405020304" pitchFamily="18" charset="0"/>
              </a:rPr>
              <a:t>及 </a:t>
            </a:r>
            <a:r>
              <a:rPr kumimoji="1" lang="en-US" altLang="zh-CN" dirty="0">
                <a:latin typeface="Times New Roman" panose="02020603050405020304" pitchFamily="18" charset="0"/>
              </a:rPr>
              <a:t>1 </a:t>
            </a:r>
            <a:r>
              <a:rPr kumimoji="1" lang="en-US" altLang="zh-CN" sz="2400" dirty="0">
                <a:latin typeface="Times New Roman" panose="02020603050405020304" pitchFamily="18" charset="0"/>
              </a:rPr>
              <a:t>≤ </a:t>
            </a:r>
            <a:r>
              <a:rPr kumimoji="1" lang="en-US" altLang="zh-CN" i="1" dirty="0" err="1">
                <a:latin typeface="Times New Roman" panose="02020603050405020304" pitchFamily="18" charset="0"/>
              </a:rPr>
              <a:t>i</a:t>
            </a:r>
            <a:r>
              <a:rPr kumimoji="1" lang="en-US" altLang="zh-CN" i="1" dirty="0">
                <a:latin typeface="Times New Roman" panose="02020603050405020304" pitchFamily="18" charset="0"/>
              </a:rPr>
              <a:t> </a:t>
            </a:r>
            <a:r>
              <a:rPr kumimoji="1" lang="en-US" altLang="zh-CN" baseline="-25000" dirty="0">
                <a:latin typeface="Times New Roman" panose="02020603050405020304" pitchFamily="18" charset="0"/>
              </a:rPr>
              <a:t>1</a:t>
            </a:r>
            <a:r>
              <a:rPr kumimoji="1" lang="en-US" altLang="zh-CN" sz="2400" dirty="0">
                <a:latin typeface="Times New Roman" panose="02020603050405020304" pitchFamily="18" charset="0"/>
              </a:rPr>
              <a:t>&lt; </a:t>
            </a:r>
            <a:r>
              <a:rPr kumimoji="1" lang="en-US" altLang="zh-CN" i="1" dirty="0" err="1">
                <a:latin typeface="Times New Roman" panose="02020603050405020304" pitchFamily="18" charset="0"/>
              </a:rPr>
              <a:t>i</a:t>
            </a:r>
            <a:r>
              <a:rPr kumimoji="1" lang="en-US" altLang="zh-CN" i="1" dirty="0">
                <a:latin typeface="Times New Roman" panose="02020603050405020304" pitchFamily="18" charset="0"/>
              </a:rPr>
              <a:t> </a:t>
            </a:r>
            <a:r>
              <a:rPr kumimoji="1" lang="en-US" altLang="zh-CN" baseline="-25000" dirty="0">
                <a:latin typeface="Times New Roman" panose="02020603050405020304" pitchFamily="18" charset="0"/>
              </a:rPr>
              <a:t>2</a:t>
            </a:r>
            <a:r>
              <a:rPr kumimoji="1" lang="en-US" altLang="zh-CN" dirty="0">
                <a:latin typeface="Times New Roman" panose="02020603050405020304" pitchFamily="18" charset="0"/>
              </a:rPr>
              <a:t>&lt; </a:t>
            </a:r>
            <a:r>
              <a:rPr kumimoji="1" lang="en-US" altLang="zh-CN" dirty="0">
                <a:latin typeface="Times New Roman" panose="02020603050405020304" pitchFamily="18" charset="0"/>
                <a:cs typeface="Times New Roman" panose="02020603050405020304" pitchFamily="18" charset="0"/>
              </a:rPr>
              <a:t>··· &lt; </a:t>
            </a:r>
            <a:r>
              <a:rPr kumimoji="1" lang="en-US" altLang="zh-CN" i="1" dirty="0" err="1">
                <a:latin typeface="Times New Roman" panose="02020603050405020304" pitchFamily="18" charset="0"/>
              </a:rPr>
              <a:t>i</a:t>
            </a:r>
            <a:r>
              <a:rPr kumimoji="1" lang="en-US" altLang="zh-CN" i="1" dirty="0">
                <a:latin typeface="Times New Roman" panose="02020603050405020304" pitchFamily="18" charset="0"/>
              </a:rPr>
              <a:t> </a:t>
            </a:r>
            <a:r>
              <a:rPr kumimoji="1" lang="en-US" altLang="zh-CN" baseline="-25000" dirty="0">
                <a:latin typeface="Times New Roman" panose="02020603050405020304" pitchFamily="18" charset="0"/>
              </a:rPr>
              <a:t>k</a:t>
            </a:r>
            <a:r>
              <a:rPr kumimoji="1" lang="en-US" altLang="zh-CN" dirty="0">
                <a:latin typeface="Times New Roman" panose="02020603050405020304" pitchFamily="18" charset="0"/>
              </a:rPr>
              <a:t>≤ </a:t>
            </a:r>
            <a:r>
              <a:rPr kumimoji="1" lang="en-US" altLang="zh-CN" i="1" dirty="0">
                <a:latin typeface="Times New Roman" panose="02020603050405020304" pitchFamily="18" charset="0"/>
              </a:rPr>
              <a:t>n</a:t>
            </a:r>
            <a:r>
              <a:rPr kumimoji="1" lang="en-US" altLang="zh-CN" sz="2400" i="1" dirty="0">
                <a:latin typeface="Times New Roman" panose="02020603050405020304" pitchFamily="18" charset="0"/>
              </a:rPr>
              <a:t> </a:t>
            </a:r>
          </a:p>
        </p:txBody>
      </p:sp>
      <p:sp>
        <p:nvSpPr>
          <p:cNvPr id="23555" name="Rectangle 3">
            <a:extLst>
              <a:ext uri="{FF2B5EF4-FFF2-40B4-BE49-F238E27FC236}">
                <a16:creationId xmlns:a16="http://schemas.microsoft.com/office/drawing/2014/main" id="{C43143D1-D5E3-4FAF-9C83-B5509E9CAF39}"/>
              </a:ext>
            </a:extLst>
          </p:cNvPr>
          <p:cNvSpPr>
            <a:spLocks noGrp="1" noChangeArrowheads="1"/>
          </p:cNvSpPr>
          <p:nvPr>
            <p:ph type="title" idx="4294967295"/>
          </p:nvPr>
        </p:nvSpPr>
        <p:spPr>
          <a:xfrm>
            <a:off x="-304800" y="331042"/>
            <a:ext cx="4419600" cy="838200"/>
          </a:xfrm>
        </p:spPr>
        <p:txBody>
          <a:bodyPr/>
          <a:lstStyle/>
          <a:p>
            <a:r>
              <a:rPr lang="en-US" altLang="zh-CN" sz="3200" b="1" i="1" dirty="0">
                <a:solidFill>
                  <a:srgbClr val="E313ED"/>
                </a:solidFill>
                <a:latin typeface="Times New Roman" panose="02020603050405020304" pitchFamily="18" charset="0"/>
                <a:cs typeface="Times New Roman" panose="02020603050405020304" pitchFamily="18" charset="0"/>
              </a:rPr>
              <a:t>n </a:t>
            </a:r>
            <a:r>
              <a:rPr lang="zh-CN" altLang="en-US" sz="3200" b="1" dirty="0">
                <a:solidFill>
                  <a:srgbClr val="E313ED"/>
                </a:solidFill>
                <a:latin typeface="Times New Roman" panose="02020603050405020304" pitchFamily="18" charset="0"/>
                <a:cs typeface="Times New Roman" panose="02020603050405020304" pitchFamily="18" charset="0"/>
              </a:rPr>
              <a:t>个事件的独立性</a:t>
            </a:r>
          </a:p>
        </p:txBody>
      </p:sp>
      <p:sp>
        <p:nvSpPr>
          <p:cNvPr id="23556" name="Text Box 4">
            <a:extLst>
              <a:ext uri="{FF2B5EF4-FFF2-40B4-BE49-F238E27FC236}">
                <a16:creationId xmlns:a16="http://schemas.microsoft.com/office/drawing/2014/main" id="{3A1318EB-EF8E-4BA2-96B8-DBFA0C6AE460}"/>
              </a:ext>
            </a:extLst>
          </p:cNvPr>
          <p:cNvSpPr txBox="1">
            <a:spLocks noChangeArrowheads="1"/>
          </p:cNvSpPr>
          <p:nvPr/>
        </p:nvSpPr>
        <p:spPr bwMode="auto">
          <a:xfrm>
            <a:off x="104775" y="1329287"/>
            <a:ext cx="1447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dirty="0">
                <a:solidFill>
                  <a:srgbClr val="FFFF00"/>
                </a:solidFill>
                <a:latin typeface="宋体" panose="02010600030101010101" pitchFamily="2" charset="-122"/>
                <a:cs typeface="Times New Roman" panose="02020603050405020304" pitchFamily="18" charset="0"/>
              </a:rPr>
              <a:t>定义：</a:t>
            </a:r>
          </a:p>
        </p:txBody>
      </p:sp>
      <p:sp>
        <p:nvSpPr>
          <p:cNvPr id="23557" name="Text Box 5">
            <a:extLst>
              <a:ext uri="{FF2B5EF4-FFF2-40B4-BE49-F238E27FC236}">
                <a16:creationId xmlns:a16="http://schemas.microsoft.com/office/drawing/2014/main" id="{334AC0D6-27FA-4434-B0E0-A38FAE5117B0}"/>
              </a:ext>
            </a:extLst>
          </p:cNvPr>
          <p:cNvSpPr txBox="1">
            <a:spLocks noChangeArrowheads="1"/>
          </p:cNvSpPr>
          <p:nvPr/>
        </p:nvSpPr>
        <p:spPr bwMode="auto">
          <a:xfrm>
            <a:off x="1181100" y="1332461"/>
            <a:ext cx="67818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pPr>
            <a:r>
              <a:rPr kumimoji="1" lang="zh-CN" altLang="en-US" dirty="0">
                <a:latin typeface="Times New Roman" panose="02020603050405020304" pitchFamily="18" charset="0"/>
              </a:rPr>
              <a:t>若事件 </a:t>
            </a:r>
            <a:r>
              <a:rPr kumimoji="1" lang="en-US" altLang="zh-CN" i="1" dirty="0">
                <a:latin typeface="Times New Roman" panose="02020603050405020304" pitchFamily="18" charset="0"/>
              </a:rPr>
              <a:t>A</a:t>
            </a:r>
            <a:r>
              <a:rPr kumimoji="1" lang="en-US" altLang="zh-CN" sz="2400" baseline="-25000" dirty="0">
                <a:latin typeface="Times New Roman" panose="02020603050405020304" pitchFamily="18" charset="0"/>
              </a:rPr>
              <a:t>1</a:t>
            </a:r>
            <a:r>
              <a:rPr kumimoji="1" lang="zh-CN" altLang="en-US" sz="2400" dirty="0">
                <a:latin typeface="Times New Roman" panose="02020603050405020304" pitchFamily="18" charset="0"/>
              </a:rPr>
              <a:t>，</a:t>
            </a:r>
            <a:r>
              <a:rPr kumimoji="1" lang="en-US" altLang="zh-CN" i="1" dirty="0">
                <a:latin typeface="Times New Roman" panose="02020603050405020304" pitchFamily="18" charset="0"/>
              </a:rPr>
              <a:t>A</a:t>
            </a:r>
            <a:r>
              <a:rPr kumimoji="1" lang="en-US" altLang="zh-CN" baseline="-25000" dirty="0">
                <a:latin typeface="Times New Roman" panose="02020603050405020304" pitchFamily="18" charset="0"/>
              </a:rPr>
              <a:t>2 </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 </a:t>
            </a:r>
            <a:r>
              <a:rPr kumimoji="1" lang="zh-CN" altLang="en-US" dirty="0">
                <a:latin typeface="Times New Roman" panose="02020603050405020304" pitchFamily="18" charset="0"/>
              </a:rPr>
              <a:t>，</a:t>
            </a:r>
            <a:r>
              <a:rPr kumimoji="1" lang="en-US" altLang="zh-CN" i="1" dirty="0">
                <a:latin typeface="Times New Roman" panose="02020603050405020304" pitchFamily="18" charset="0"/>
              </a:rPr>
              <a:t>A</a:t>
            </a:r>
            <a:r>
              <a:rPr kumimoji="1" lang="en-US" altLang="zh-CN" baseline="-25000" dirty="0">
                <a:latin typeface="Times New Roman" panose="02020603050405020304" pitchFamily="18" charset="0"/>
              </a:rPr>
              <a:t>n</a:t>
            </a:r>
            <a:r>
              <a:rPr kumimoji="1" lang="en-US" altLang="zh-CN" dirty="0">
                <a:latin typeface="Times New Roman" panose="02020603050405020304" pitchFamily="18" charset="0"/>
              </a:rPr>
              <a:t> </a:t>
            </a:r>
            <a:r>
              <a:rPr kumimoji="1" lang="zh-CN" altLang="en-US" dirty="0">
                <a:latin typeface="Times New Roman" panose="02020603050405020304" pitchFamily="18" charset="0"/>
              </a:rPr>
              <a:t>中任意两个事件相互独立，即对于一切 </a:t>
            </a:r>
            <a:r>
              <a:rPr kumimoji="1" lang="en-US" altLang="zh-CN" dirty="0">
                <a:latin typeface="Times New Roman" panose="02020603050405020304" pitchFamily="18" charset="0"/>
              </a:rPr>
              <a:t>1 </a:t>
            </a:r>
            <a:r>
              <a:rPr kumimoji="1" lang="en-US" altLang="zh-CN" sz="2400" dirty="0">
                <a:latin typeface="Times New Roman" panose="02020603050405020304" pitchFamily="18" charset="0"/>
              </a:rPr>
              <a:t>≤</a:t>
            </a:r>
            <a:r>
              <a:rPr kumimoji="1" lang="en-US" altLang="zh-CN" i="1" dirty="0" err="1">
                <a:latin typeface="Times New Roman" panose="02020603050405020304" pitchFamily="18" charset="0"/>
              </a:rPr>
              <a:t>i</a:t>
            </a:r>
            <a:r>
              <a:rPr kumimoji="1" lang="en-US" altLang="zh-CN" i="1" dirty="0">
                <a:latin typeface="Times New Roman" panose="02020603050405020304" pitchFamily="18" charset="0"/>
              </a:rPr>
              <a:t>&lt; j </a:t>
            </a:r>
            <a:r>
              <a:rPr kumimoji="1" lang="en-US" altLang="zh-CN" sz="2400" dirty="0">
                <a:latin typeface="Times New Roman" panose="02020603050405020304" pitchFamily="18" charset="0"/>
              </a:rPr>
              <a:t>≤</a:t>
            </a:r>
            <a:r>
              <a:rPr kumimoji="1" lang="en-US" altLang="zh-CN" dirty="0">
                <a:latin typeface="Times New Roman" panose="02020603050405020304" pitchFamily="18" charset="0"/>
              </a:rPr>
              <a:t>n, </a:t>
            </a:r>
            <a:r>
              <a:rPr kumimoji="1" lang="zh-CN" altLang="en-US" dirty="0">
                <a:latin typeface="Times New Roman" panose="02020603050405020304" pitchFamily="18" charset="0"/>
              </a:rPr>
              <a:t>有</a:t>
            </a:r>
            <a:endParaRPr kumimoji="1" lang="zh-CN" altLang="en-US" sz="2000" i="1"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3558" name="Object 6">
                <a:extLst>
                  <a:ext uri="{FF2B5EF4-FFF2-40B4-BE49-F238E27FC236}">
                    <a16:creationId xmlns:a16="http://schemas.microsoft.com/office/drawing/2014/main" id="{BF056871-303F-4CD7-B55C-015E8942C064}"/>
                  </a:ext>
                </a:extLst>
              </p:cNvPr>
              <p:cNvSpPr txBox="1"/>
              <p:nvPr/>
            </p:nvSpPr>
            <p:spPr bwMode="auto">
              <a:xfrm>
                <a:off x="2185737" y="2394357"/>
                <a:ext cx="3200400" cy="457200"/>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smtClean="0">
                          <a:ln>
                            <a:solidFill>
                              <a:schemeClr val="tx1"/>
                            </a:solidFill>
                          </a:ln>
                          <a:solidFill>
                            <a:schemeClr val="tx1"/>
                          </a:solidFill>
                          <a:latin typeface="Cambria Math" panose="02040503050406030204" pitchFamily="18" charset="0"/>
                        </a:rPr>
                        <m:t>𝑃</m:t>
                      </m:r>
                      <m:r>
                        <a:rPr lang="zh-CN" altLang="en-US" i="1" smtClean="0">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𝑖</m:t>
                          </m:r>
                        </m:sub>
                      </m:s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𝑗</m:t>
                          </m:r>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𝑃</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𝑖</m:t>
                          </m:r>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𝑃</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𝑗</m:t>
                          </m:r>
                        </m:sub>
                      </m:sSub>
                      <m:r>
                        <a:rPr lang="zh-CN" altLang="en-US" i="1">
                          <a:ln>
                            <a:solidFill>
                              <a:schemeClr val="tx1"/>
                            </a:solidFill>
                          </a:ln>
                          <a:solidFill>
                            <a:schemeClr val="tx1"/>
                          </a:solidFill>
                          <a:latin typeface="Cambria Math" panose="02040503050406030204" pitchFamily="18" charset="0"/>
                        </a:rPr>
                        <m:t>)</m:t>
                      </m:r>
                    </m:oMath>
                  </m:oMathPara>
                </a14:m>
                <a:endParaRPr lang="zh-CN" altLang="en-US" dirty="0">
                  <a:ln>
                    <a:solidFill>
                      <a:schemeClr val="tx1"/>
                    </a:solidFill>
                  </a:ln>
                  <a:solidFill>
                    <a:schemeClr val="tx1"/>
                  </a:solidFill>
                </a:endParaRPr>
              </a:p>
            </p:txBody>
          </p:sp>
        </mc:Choice>
        <mc:Fallback xmlns="">
          <p:sp>
            <p:nvSpPr>
              <p:cNvPr id="23558" name="Object 6">
                <a:extLst>
                  <a:ext uri="{FF2B5EF4-FFF2-40B4-BE49-F238E27FC236}">
                    <a16:creationId xmlns:a16="http://schemas.microsoft.com/office/drawing/2014/main" id="{BF056871-303F-4CD7-B55C-015E8942C064}"/>
                  </a:ext>
                </a:extLst>
              </p:cNvPr>
              <p:cNvSpPr txBox="1">
                <a:spLocks noRot="1" noChangeAspect="1" noMove="1" noResize="1" noEditPoints="1" noAdjustHandles="1" noChangeArrowheads="1" noChangeShapeType="1" noTextEdit="1"/>
              </p:cNvSpPr>
              <p:nvPr/>
            </p:nvSpPr>
            <p:spPr bwMode="auto">
              <a:xfrm>
                <a:off x="2185737" y="2394357"/>
                <a:ext cx="3200400" cy="457200"/>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559" name="Object 7">
                <a:extLst>
                  <a:ext uri="{FF2B5EF4-FFF2-40B4-BE49-F238E27FC236}">
                    <a16:creationId xmlns:a16="http://schemas.microsoft.com/office/drawing/2014/main" id="{B8DB581A-4F03-4CF4-90C8-4FB8D7C59C17}"/>
                  </a:ext>
                </a:extLst>
              </p:cNvPr>
              <p:cNvSpPr txBox="1"/>
              <p:nvPr/>
            </p:nvSpPr>
            <p:spPr bwMode="auto">
              <a:xfrm>
                <a:off x="914400" y="2882900"/>
                <a:ext cx="5167313" cy="51752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smtClean="0">
                          <a:ln>
                            <a:solidFill>
                              <a:schemeClr val="tx1"/>
                            </a:solidFill>
                          </a:ln>
                          <a:solidFill>
                            <a:schemeClr val="tx1"/>
                          </a:solidFill>
                          <a:latin typeface="Cambria Math" panose="02040503050406030204" pitchFamily="18" charset="0"/>
                        </a:rPr>
                        <m:t>则称</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𝑛</m:t>
                          </m:r>
                        </m:sub>
                      </m:sSub>
                      <m:r>
                        <a:rPr lang="zh-CN" altLang="en-US" i="1">
                          <a:ln>
                            <a:solidFill>
                              <a:schemeClr val="tx1"/>
                            </a:solidFill>
                          </a:ln>
                          <a:solidFill>
                            <a:schemeClr val="tx1"/>
                          </a:solidFill>
                          <a:latin typeface="Cambria Math" panose="02040503050406030204" pitchFamily="18" charset="0"/>
                        </a:rPr>
                        <m:t>两两相互独立</m:t>
                      </m:r>
                      <m:r>
                        <a:rPr lang="zh-CN" altLang="en-US" i="1">
                          <a:ln>
                            <a:solidFill>
                              <a:schemeClr val="tx1"/>
                            </a:solidFill>
                          </a:ln>
                          <a:solidFill>
                            <a:schemeClr val="tx1"/>
                          </a:solidFill>
                          <a:latin typeface="Cambria Math" panose="02040503050406030204" pitchFamily="18" charset="0"/>
                        </a:rPr>
                        <m:t>.</m:t>
                      </m:r>
                    </m:oMath>
                  </m:oMathPara>
                </a14:m>
                <a:endParaRPr lang="zh-CN" altLang="en-US" dirty="0">
                  <a:ln>
                    <a:solidFill>
                      <a:schemeClr val="tx1"/>
                    </a:solidFill>
                  </a:ln>
                  <a:solidFill>
                    <a:schemeClr val="tx1"/>
                  </a:solidFill>
                </a:endParaRPr>
              </a:p>
            </p:txBody>
          </p:sp>
        </mc:Choice>
        <mc:Fallback xmlns="">
          <p:sp>
            <p:nvSpPr>
              <p:cNvPr id="23559" name="Object 7">
                <a:extLst>
                  <a:ext uri="{FF2B5EF4-FFF2-40B4-BE49-F238E27FC236}">
                    <a16:creationId xmlns:a16="http://schemas.microsoft.com/office/drawing/2014/main" id="{B8DB581A-4F03-4CF4-90C8-4FB8D7C59C17}"/>
                  </a:ext>
                </a:extLst>
              </p:cNvPr>
              <p:cNvSpPr txBox="1">
                <a:spLocks noRot="1" noChangeAspect="1" noMove="1" noResize="1" noEditPoints="1" noAdjustHandles="1" noChangeArrowheads="1" noChangeShapeType="1" noTextEdit="1"/>
              </p:cNvSpPr>
              <p:nvPr/>
            </p:nvSpPr>
            <p:spPr bwMode="auto">
              <a:xfrm>
                <a:off x="914400" y="2882900"/>
                <a:ext cx="5167313" cy="517525"/>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23561" name="Text Box 9">
            <a:extLst>
              <a:ext uri="{FF2B5EF4-FFF2-40B4-BE49-F238E27FC236}">
                <a16:creationId xmlns:a16="http://schemas.microsoft.com/office/drawing/2014/main" id="{860EA106-0AEE-489D-8FDD-19F76E92401B}"/>
              </a:ext>
            </a:extLst>
          </p:cNvPr>
          <p:cNvSpPr txBox="1">
            <a:spLocks noChangeArrowheads="1"/>
          </p:cNvSpPr>
          <p:nvPr/>
        </p:nvSpPr>
        <p:spPr bwMode="auto">
          <a:xfrm>
            <a:off x="104775" y="3516313"/>
            <a:ext cx="190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dirty="0">
                <a:solidFill>
                  <a:srgbClr val="FFFF00"/>
                </a:solidFill>
                <a:latin typeface="宋体" panose="02010600030101010101" pitchFamily="2" charset="-122"/>
              </a:rPr>
              <a:t>定义：</a:t>
            </a:r>
          </a:p>
        </p:txBody>
      </p:sp>
      <mc:AlternateContent xmlns:mc="http://schemas.openxmlformats.org/markup-compatibility/2006" xmlns:a14="http://schemas.microsoft.com/office/drawing/2010/main">
        <mc:Choice Requires="a14">
          <p:sp>
            <p:nvSpPr>
              <p:cNvPr id="23562" name="Object 10">
                <a:extLst>
                  <a:ext uri="{FF2B5EF4-FFF2-40B4-BE49-F238E27FC236}">
                    <a16:creationId xmlns:a16="http://schemas.microsoft.com/office/drawing/2014/main" id="{134779C3-B90E-40A4-AD56-1AEE7357A79C}"/>
                  </a:ext>
                </a:extLst>
              </p:cNvPr>
              <p:cNvSpPr txBox="1"/>
              <p:nvPr/>
            </p:nvSpPr>
            <p:spPr bwMode="auto">
              <a:xfrm>
                <a:off x="914400" y="4789488"/>
                <a:ext cx="6781800" cy="569912"/>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smtClean="0">
                          <a:ln>
                            <a:solidFill>
                              <a:schemeClr val="tx1"/>
                            </a:solidFill>
                          </a:ln>
                          <a:solidFill>
                            <a:schemeClr val="tx1"/>
                          </a:solidFill>
                          <a:latin typeface="Cambria Math" panose="02040503050406030204" pitchFamily="18" charset="0"/>
                        </a:rPr>
                        <m:t>有</m:t>
                      </m:r>
                      <m:r>
                        <a:rPr lang="zh-CN" altLang="en-US" i="1" smtClean="0">
                          <a:ln>
                            <a:solidFill>
                              <a:schemeClr val="tx1"/>
                            </a:solidFill>
                          </a:ln>
                          <a:solidFill>
                            <a:schemeClr val="tx1"/>
                          </a:solidFill>
                          <a:latin typeface="Cambria Math" panose="02040503050406030204" pitchFamily="18" charset="0"/>
                        </a:rPr>
                        <m:t> </m:t>
                      </m:r>
                      <m:r>
                        <a:rPr lang="zh-CN" altLang="en-US" i="1" smtClean="0">
                          <a:ln>
                            <a:solidFill>
                              <a:schemeClr val="tx1"/>
                            </a:solidFill>
                          </a:ln>
                          <a:solidFill>
                            <a:schemeClr val="tx1"/>
                          </a:solidFill>
                          <a:latin typeface="Cambria Math" panose="02040503050406030204" pitchFamily="18" charset="0"/>
                        </a:rPr>
                        <m:t>𝑃</m:t>
                      </m:r>
                      <m:r>
                        <a:rPr lang="zh-CN" altLang="en-US" i="1" smtClean="0">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𝑖</m:t>
                              </m:r>
                            </m:e>
                            <m:sub>
                              <m:r>
                                <a:rPr lang="zh-CN" altLang="en-US" i="1">
                                  <a:ln>
                                    <a:solidFill>
                                      <a:schemeClr val="tx1"/>
                                    </a:solidFill>
                                  </a:ln>
                                  <a:solidFill>
                                    <a:schemeClr val="tx1"/>
                                  </a:solidFill>
                                  <a:latin typeface="Cambria Math" panose="02040503050406030204" pitchFamily="18" charset="0"/>
                                </a:rPr>
                                <m:t>1</m:t>
                              </m:r>
                            </m:sub>
                          </m:sSub>
                        </m:sub>
                      </m:s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𝑖</m:t>
                              </m:r>
                            </m:e>
                            <m:sub>
                              <m:r>
                                <a:rPr lang="zh-CN" altLang="en-US" i="1">
                                  <a:ln>
                                    <a:solidFill>
                                      <a:schemeClr val="tx1"/>
                                    </a:solidFill>
                                  </a:ln>
                                  <a:solidFill>
                                    <a:schemeClr val="tx1"/>
                                  </a:solidFill>
                                  <a:latin typeface="Cambria Math" panose="02040503050406030204" pitchFamily="18" charset="0"/>
                                </a:rPr>
                                <m:t>2</m:t>
                              </m:r>
                            </m:sub>
                          </m:sSub>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𝑖</m:t>
                              </m:r>
                            </m:e>
                            <m:sub>
                              <m:r>
                                <a:rPr lang="zh-CN" altLang="en-US" i="1">
                                  <a:ln>
                                    <a:solidFill>
                                      <a:schemeClr val="tx1"/>
                                    </a:solidFill>
                                  </a:ln>
                                  <a:solidFill>
                                    <a:schemeClr val="tx1"/>
                                  </a:solidFill>
                                  <a:latin typeface="Cambria Math" panose="02040503050406030204" pitchFamily="18" charset="0"/>
                                </a:rPr>
                                <m:t>𝑘</m:t>
                              </m:r>
                            </m:sub>
                          </m:sSub>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𝑃</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𝑖</m:t>
                              </m:r>
                            </m:e>
                            <m:sub>
                              <m:r>
                                <a:rPr lang="zh-CN" altLang="en-US" i="1">
                                  <a:ln>
                                    <a:solidFill>
                                      <a:schemeClr val="tx1"/>
                                    </a:solidFill>
                                  </a:ln>
                                  <a:solidFill>
                                    <a:schemeClr val="tx1"/>
                                  </a:solidFill>
                                  <a:latin typeface="Cambria Math" panose="02040503050406030204" pitchFamily="18" charset="0"/>
                                </a:rPr>
                                <m:t>1</m:t>
                              </m:r>
                            </m:sub>
                          </m:sSub>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𝑃</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𝑖</m:t>
                              </m:r>
                            </m:e>
                            <m:sub>
                              <m:r>
                                <a:rPr lang="zh-CN" altLang="en-US" i="1">
                                  <a:ln>
                                    <a:solidFill>
                                      <a:schemeClr val="tx1"/>
                                    </a:solidFill>
                                  </a:ln>
                                  <a:solidFill>
                                    <a:schemeClr val="tx1"/>
                                  </a:solidFill>
                                  <a:latin typeface="Cambria Math" panose="02040503050406030204" pitchFamily="18" charset="0"/>
                                </a:rPr>
                                <m:t>2</m:t>
                              </m:r>
                            </m:sub>
                          </m:sSub>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𝑃</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𝑖</m:t>
                              </m:r>
                            </m:e>
                            <m:sub>
                              <m:r>
                                <a:rPr lang="zh-CN" altLang="en-US" i="1">
                                  <a:ln>
                                    <a:solidFill>
                                      <a:schemeClr val="tx1"/>
                                    </a:solidFill>
                                  </a:ln>
                                  <a:solidFill>
                                    <a:schemeClr val="tx1"/>
                                  </a:solidFill>
                                  <a:latin typeface="Cambria Math" panose="02040503050406030204" pitchFamily="18" charset="0"/>
                                </a:rPr>
                                <m:t>𝑘</m:t>
                              </m:r>
                            </m:sub>
                          </m:sSub>
                        </m:sub>
                      </m:sSub>
                      <m:r>
                        <a:rPr lang="zh-CN" altLang="en-US" i="1">
                          <a:ln>
                            <a:solidFill>
                              <a:schemeClr val="tx1"/>
                            </a:solidFill>
                          </a:ln>
                          <a:solidFill>
                            <a:schemeClr val="tx1"/>
                          </a:solidFill>
                          <a:latin typeface="Cambria Math" panose="02040503050406030204" pitchFamily="18" charset="0"/>
                        </a:rPr>
                        <m:t>)</m:t>
                      </m:r>
                    </m:oMath>
                  </m:oMathPara>
                </a14:m>
                <a:endParaRPr lang="zh-CN" altLang="en-US" dirty="0">
                  <a:ln>
                    <a:solidFill>
                      <a:schemeClr val="tx1"/>
                    </a:solidFill>
                  </a:ln>
                  <a:solidFill>
                    <a:schemeClr val="tx1"/>
                  </a:solidFill>
                </a:endParaRPr>
              </a:p>
            </p:txBody>
          </p:sp>
        </mc:Choice>
        <mc:Fallback xmlns="">
          <p:sp>
            <p:nvSpPr>
              <p:cNvPr id="23562" name="Object 10">
                <a:extLst>
                  <a:ext uri="{FF2B5EF4-FFF2-40B4-BE49-F238E27FC236}">
                    <a16:creationId xmlns:a16="http://schemas.microsoft.com/office/drawing/2014/main" id="{134779C3-B90E-40A4-AD56-1AEE7357A79C}"/>
                  </a:ext>
                </a:extLst>
              </p:cNvPr>
              <p:cNvSpPr txBox="1">
                <a:spLocks noRot="1" noChangeAspect="1" noMove="1" noResize="1" noEditPoints="1" noAdjustHandles="1" noChangeArrowheads="1" noChangeShapeType="1" noTextEdit="1"/>
              </p:cNvSpPr>
              <p:nvPr/>
            </p:nvSpPr>
            <p:spPr bwMode="auto">
              <a:xfrm>
                <a:off x="914400" y="4789488"/>
                <a:ext cx="6781800" cy="569912"/>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563" name="Object 11">
                <a:extLst>
                  <a:ext uri="{FF2B5EF4-FFF2-40B4-BE49-F238E27FC236}">
                    <a16:creationId xmlns:a16="http://schemas.microsoft.com/office/drawing/2014/main" id="{E10DFD2B-0920-4B71-A153-3A18FA7BC28C}"/>
                  </a:ext>
                </a:extLst>
              </p:cNvPr>
              <p:cNvSpPr txBox="1"/>
              <p:nvPr/>
            </p:nvSpPr>
            <p:spPr bwMode="auto">
              <a:xfrm>
                <a:off x="914400" y="5475288"/>
                <a:ext cx="4419600" cy="51752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smtClean="0">
                          <a:ln>
                            <a:solidFill>
                              <a:schemeClr val="tx1"/>
                            </a:solidFill>
                          </a:ln>
                          <a:solidFill>
                            <a:schemeClr val="tx1"/>
                          </a:solidFill>
                          <a:latin typeface="Cambria Math" panose="02040503050406030204" pitchFamily="18" charset="0"/>
                        </a:rPr>
                        <m:t>则称</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1</m:t>
                          </m:r>
                        </m:sub>
                      </m:sSub>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2</m:t>
                          </m:r>
                        </m:sub>
                      </m:sSub>
                      <m:r>
                        <a:rPr lang="zh-CN" altLang="en-US" i="1">
                          <a:ln>
                            <a:solidFill>
                              <a:schemeClr val="tx1"/>
                            </a:solidFill>
                          </a:ln>
                          <a:solidFill>
                            <a:schemeClr val="tx1"/>
                          </a:solidFill>
                          <a:latin typeface="Cambria Math" panose="02040503050406030204" pitchFamily="18" charset="0"/>
                        </a:rPr>
                        <m:t>，</m:t>
                      </m:r>
                      <m:r>
                        <a:rPr lang="zh-CN" altLang="en-US" i="1">
                          <a:ln>
                            <a:solidFill>
                              <a:schemeClr val="tx1"/>
                            </a:solidFill>
                          </a:ln>
                          <a:solidFill>
                            <a:schemeClr val="tx1"/>
                          </a:solidFill>
                          <a:latin typeface="Cambria Math" panose="02040503050406030204" pitchFamily="18" charset="0"/>
                        </a:rPr>
                        <m:t>⋯</m:t>
                      </m:r>
                      <m:sSub>
                        <m:sSubPr>
                          <m:ctrlPr>
                            <a:rPr lang="zh-CN" altLang="en-US" i="1">
                              <a:ln>
                                <a:solidFill>
                                  <a:schemeClr val="tx1"/>
                                </a:solidFill>
                              </a:ln>
                              <a:solidFill>
                                <a:schemeClr val="tx1"/>
                              </a:solidFill>
                              <a:latin typeface="Cambria Math" panose="02040503050406030204" pitchFamily="18" charset="0"/>
                            </a:rPr>
                          </m:ctrlPr>
                        </m:sSubPr>
                        <m:e>
                          <m:r>
                            <a:rPr lang="zh-CN" altLang="en-US" i="1">
                              <a:ln>
                                <a:solidFill>
                                  <a:schemeClr val="tx1"/>
                                </a:solidFill>
                              </a:ln>
                              <a:solidFill>
                                <a:schemeClr val="tx1"/>
                              </a:solidFill>
                              <a:latin typeface="Cambria Math" panose="02040503050406030204" pitchFamily="18" charset="0"/>
                            </a:rPr>
                            <m:t>𝐴</m:t>
                          </m:r>
                        </m:e>
                        <m:sub>
                          <m:r>
                            <a:rPr lang="zh-CN" altLang="en-US" i="1">
                              <a:ln>
                                <a:solidFill>
                                  <a:schemeClr val="tx1"/>
                                </a:solidFill>
                              </a:ln>
                              <a:solidFill>
                                <a:schemeClr val="tx1"/>
                              </a:solidFill>
                              <a:latin typeface="Cambria Math" panose="02040503050406030204" pitchFamily="18" charset="0"/>
                            </a:rPr>
                            <m:t>𝑛</m:t>
                          </m:r>
                        </m:sub>
                      </m:sSub>
                      <m:r>
                        <a:rPr lang="zh-CN" altLang="en-US" i="1">
                          <a:ln>
                            <a:solidFill>
                              <a:schemeClr val="tx1"/>
                            </a:solidFill>
                          </a:ln>
                          <a:solidFill>
                            <a:schemeClr val="tx1"/>
                          </a:solidFill>
                          <a:latin typeface="Cambria Math" panose="02040503050406030204" pitchFamily="18" charset="0"/>
                        </a:rPr>
                        <m:t>相互独立</m:t>
                      </m:r>
                      <m:r>
                        <a:rPr lang="zh-CN" altLang="en-US" i="1">
                          <a:ln>
                            <a:solidFill>
                              <a:schemeClr val="tx1"/>
                            </a:solidFill>
                          </a:ln>
                          <a:solidFill>
                            <a:schemeClr val="tx1"/>
                          </a:solidFill>
                          <a:latin typeface="Cambria Math" panose="02040503050406030204" pitchFamily="18" charset="0"/>
                        </a:rPr>
                        <m:t>.</m:t>
                      </m:r>
                    </m:oMath>
                  </m:oMathPara>
                </a14:m>
                <a:endParaRPr lang="zh-CN" altLang="en-US" dirty="0">
                  <a:ln>
                    <a:solidFill>
                      <a:schemeClr val="tx1"/>
                    </a:solidFill>
                  </a:ln>
                  <a:solidFill>
                    <a:schemeClr val="tx1"/>
                  </a:solidFill>
                </a:endParaRPr>
              </a:p>
            </p:txBody>
          </p:sp>
        </mc:Choice>
        <mc:Fallback xmlns="">
          <p:sp>
            <p:nvSpPr>
              <p:cNvPr id="23563" name="Object 11">
                <a:extLst>
                  <a:ext uri="{FF2B5EF4-FFF2-40B4-BE49-F238E27FC236}">
                    <a16:creationId xmlns:a16="http://schemas.microsoft.com/office/drawing/2014/main" id="{E10DFD2B-0920-4B71-A153-3A18FA7BC28C}"/>
                  </a:ext>
                </a:extLst>
              </p:cNvPr>
              <p:cNvSpPr txBox="1">
                <a:spLocks noRot="1" noChangeAspect="1" noMove="1" noResize="1" noEditPoints="1" noAdjustHandles="1" noChangeArrowheads="1" noChangeShapeType="1" noTextEdit="1"/>
              </p:cNvSpPr>
              <p:nvPr/>
            </p:nvSpPr>
            <p:spPr bwMode="auto">
              <a:xfrm>
                <a:off x="914400" y="5475288"/>
                <a:ext cx="4419600" cy="517525"/>
              </a:xfrm>
              <a:prstGeom prst="rect">
                <a:avLst/>
              </a:prstGeom>
              <a:blipFill>
                <a:blip r:embed="rId5"/>
                <a:stretch>
                  <a:fillRect/>
                </a:stretch>
              </a:blipFill>
              <a:ln>
                <a:noFill/>
              </a:ln>
              <a:effectLs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wipe(left)">
                                      <p:cBhvr>
                                        <p:cTn id="7" dur="500"/>
                                        <p:tgtEl>
                                          <p:spTgt spid="235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3557"/>
                                        </p:tgtEl>
                                        <p:attrNameLst>
                                          <p:attrName>style.visibility</p:attrName>
                                        </p:attrNameLst>
                                      </p:cBhvr>
                                      <p:to>
                                        <p:strVal val="visible"/>
                                      </p:to>
                                    </p:set>
                                    <p:animEffect transition="in" filter="wipe(left)">
                                      <p:cBhvr>
                                        <p:cTn id="12" dur="300"/>
                                        <p:tgtEl>
                                          <p:spTgt spid="235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61"/>
                                        </p:tgtEl>
                                        <p:attrNameLst>
                                          <p:attrName>style.visibility</p:attrName>
                                        </p:attrNameLst>
                                      </p:cBhvr>
                                      <p:to>
                                        <p:strVal val="visible"/>
                                      </p:to>
                                    </p:set>
                                    <p:animEffect transition="in" filter="wipe(left)">
                                      <p:cBhvr>
                                        <p:cTn id="17" dur="500"/>
                                        <p:tgtEl>
                                          <p:spTgt spid="235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23554"/>
                                        </p:tgtEl>
                                        <p:attrNameLst>
                                          <p:attrName>style.visibility</p:attrName>
                                        </p:attrNameLst>
                                      </p:cBhvr>
                                      <p:to>
                                        <p:strVal val="visible"/>
                                      </p:to>
                                    </p:set>
                                    <p:animEffect transition="in" filter="wipe(left)">
                                      <p:cBhvr>
                                        <p:cTn id="22" dur="300"/>
                                        <p:tgtEl>
                                          <p:spTgt spid="23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6" grpId="0" autoUpdateAnimBg="0"/>
      <p:bldP spid="23557" grpId="0" autoUpdateAnimBg="0"/>
      <p:bldP spid="23561"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3F4D38-7707-4408-9E7C-14F7E5E03C9A}"/>
              </a:ext>
            </a:extLst>
          </p:cNvPr>
          <p:cNvSpPr>
            <a:spLocks noGrp="1"/>
          </p:cNvSpPr>
          <p:nvPr>
            <p:ph type="title"/>
          </p:nvPr>
        </p:nvSpPr>
        <p:spPr>
          <a:xfrm>
            <a:off x="323528" y="127247"/>
            <a:ext cx="8229600" cy="1143000"/>
          </a:xfrm>
        </p:spPr>
        <p:txBody>
          <a:bodyPr/>
          <a:lstStyle/>
          <a:p>
            <a:r>
              <a:rPr lang="zh-CN" altLang="en-US" b="1">
                <a:solidFill>
                  <a:schemeClr val="tx1"/>
                </a:solidFill>
                <a:effectLst/>
                <a:latin typeface="+mn-ea"/>
                <a:ea typeface="+mn-ea"/>
              </a:rPr>
              <a:t>本节小结</a:t>
            </a:r>
            <a:endParaRPr lang="zh-CN" altLang="en-US" b="1" dirty="0">
              <a:solidFill>
                <a:schemeClr val="tx1"/>
              </a:solidFill>
              <a:effectLst/>
              <a:latin typeface="+mn-ea"/>
              <a:ea typeface="+mn-ea"/>
            </a:endParaRPr>
          </a:p>
        </p:txBody>
      </p:sp>
      <p:sp>
        <p:nvSpPr>
          <p:cNvPr id="3" name="内容占位符 2">
            <a:extLst>
              <a:ext uri="{FF2B5EF4-FFF2-40B4-BE49-F238E27FC236}">
                <a16:creationId xmlns:a16="http://schemas.microsoft.com/office/drawing/2014/main" id="{99FAC7B7-9079-46D6-966B-F549E0620BF4}"/>
              </a:ext>
            </a:extLst>
          </p:cNvPr>
          <p:cNvSpPr>
            <a:spLocks noGrp="1"/>
          </p:cNvSpPr>
          <p:nvPr>
            <p:ph idx="1"/>
          </p:nvPr>
        </p:nvSpPr>
        <p:spPr>
          <a:xfrm>
            <a:off x="323528" y="1484784"/>
            <a:ext cx="8712968" cy="4104456"/>
          </a:xfrm>
        </p:spPr>
        <p:txBody>
          <a:bodyPr/>
          <a:lstStyle/>
          <a:p>
            <a:pPr marL="514350" indent="-514350">
              <a:lnSpc>
                <a:spcPct val="150000"/>
              </a:lnSpc>
              <a:spcBef>
                <a:spcPts val="0"/>
              </a:spcBef>
              <a:buFont typeface="+mj-lt"/>
              <a:buAutoNum type="arabicPeriod"/>
            </a:pPr>
            <a:r>
              <a:rPr lang="zh-CN" altLang="en-US" sz="2400" b="1" dirty="0">
                <a:latin typeface="Times New Roman" panose="02020603050405020304" pitchFamily="18" charset="0"/>
                <a:cs typeface="Times New Roman" panose="02020603050405020304" pitchFamily="18" charset="0"/>
              </a:rPr>
              <a:t>对随机变量及其随机分布的概率表示等概念进行了简介；</a:t>
            </a:r>
            <a:endParaRPr lang="en-US" altLang="zh-CN" sz="2400" b="1" dirty="0">
              <a:latin typeface="Times New Roman" panose="02020603050405020304" pitchFamily="18" charset="0"/>
              <a:cs typeface="Times New Roman" panose="02020603050405020304" pitchFamily="18" charset="0"/>
            </a:endParaRPr>
          </a:p>
          <a:p>
            <a:pPr marL="514350" indent="-514350">
              <a:lnSpc>
                <a:spcPct val="150000"/>
              </a:lnSpc>
              <a:spcBef>
                <a:spcPts val="0"/>
              </a:spcBef>
              <a:buFont typeface="+mj-lt"/>
              <a:buAutoNum type="arabicPeriod"/>
            </a:pPr>
            <a:r>
              <a:rPr lang="zh-CN" altLang="en-US" sz="2400" b="1" dirty="0">
                <a:latin typeface="Times New Roman" panose="02020603050405020304" pitchFamily="18" charset="0"/>
                <a:cs typeface="Times New Roman" panose="02020603050405020304" pitchFamily="18" charset="0"/>
              </a:rPr>
              <a:t>简述二项分布、几何分布、泊松分布等离散型随机变量及其概率分布函数、概率密度函数；</a:t>
            </a:r>
            <a:endParaRPr lang="en-US" altLang="zh-CN" sz="2400" b="1" dirty="0">
              <a:latin typeface="Times New Roman" panose="02020603050405020304" pitchFamily="18" charset="0"/>
              <a:cs typeface="Times New Roman" panose="02020603050405020304" pitchFamily="18" charset="0"/>
            </a:endParaRPr>
          </a:p>
          <a:p>
            <a:pPr marL="514350" indent="-514350">
              <a:lnSpc>
                <a:spcPct val="150000"/>
              </a:lnSpc>
              <a:spcBef>
                <a:spcPts val="0"/>
              </a:spcBef>
              <a:buFont typeface="+mj-lt"/>
              <a:buAutoNum type="arabicPeriod"/>
            </a:pPr>
            <a:r>
              <a:rPr lang="zh-CN" altLang="en-US" sz="2400" b="1" dirty="0">
                <a:latin typeface="Times New Roman" panose="02020603050405020304" pitchFamily="18" charset="0"/>
                <a:cs typeface="Times New Roman" panose="02020603050405020304" pitchFamily="18" charset="0"/>
              </a:rPr>
              <a:t>简述了正态分布、均匀分布、指数分布等连续型随机变量及其概率分布函数、概率密度函数；</a:t>
            </a:r>
            <a:endParaRPr lang="en-US" altLang="zh-CN" sz="2400" b="1" dirty="0">
              <a:latin typeface="Times New Roman" panose="02020603050405020304" pitchFamily="18" charset="0"/>
              <a:cs typeface="Times New Roman" panose="02020603050405020304" pitchFamily="18" charset="0"/>
            </a:endParaRPr>
          </a:p>
          <a:p>
            <a:pPr marL="514350" indent="-514350">
              <a:lnSpc>
                <a:spcPct val="150000"/>
              </a:lnSpc>
              <a:spcBef>
                <a:spcPts val="0"/>
              </a:spcBef>
              <a:buFont typeface="+mj-lt"/>
              <a:buAutoNum type="arabicPeriod"/>
            </a:pPr>
            <a:r>
              <a:rPr lang="zh-CN" altLang="en-US" sz="2400" b="1" dirty="0">
                <a:latin typeface="Times New Roman" panose="02020603050405020304" pitchFamily="18" charset="0"/>
                <a:cs typeface="Times New Roman" panose="02020603050405020304" pitchFamily="18" charset="0"/>
              </a:rPr>
              <a:t>回顾了卡方 </a:t>
            </a:r>
            <a:r>
              <a:rPr lang="el-GR" altLang="zh-CN" sz="2400" b="1" dirty="0">
                <a:latin typeface="Times New Roman" panose="02020603050405020304" pitchFamily="18" charset="0"/>
                <a:cs typeface="Times New Roman" panose="02020603050405020304" pitchFamily="18" charset="0"/>
              </a:rPr>
              <a:t>χ</a:t>
            </a:r>
            <a:r>
              <a:rPr lang="en-US" altLang="zh-CN" sz="2400" b="1" baseline="30000" dirty="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分布、</a:t>
            </a:r>
            <a:r>
              <a:rPr lang="en-US" altLang="zh-CN" sz="2400" b="1" i="1" dirty="0">
                <a:latin typeface="Times New Roman" panose="02020603050405020304" pitchFamily="18" charset="0"/>
                <a:cs typeface="Times New Roman" panose="02020603050405020304" pitchFamily="18" charset="0"/>
              </a:rPr>
              <a:t>F </a:t>
            </a:r>
            <a:r>
              <a:rPr lang="zh-CN" altLang="en-US" sz="2400" b="1" dirty="0">
                <a:latin typeface="Times New Roman" panose="02020603050405020304" pitchFamily="18" charset="0"/>
                <a:cs typeface="Times New Roman" panose="02020603050405020304" pitchFamily="18" charset="0"/>
              </a:rPr>
              <a:t>分布、</a:t>
            </a:r>
            <a:r>
              <a:rPr lang="en-US" altLang="zh-CN" sz="2400" b="1" i="1" dirty="0">
                <a:latin typeface="Times New Roman" panose="02020603050405020304" pitchFamily="18" charset="0"/>
                <a:cs typeface="Times New Roman" panose="02020603050405020304" pitchFamily="18" charset="0"/>
              </a:rPr>
              <a:t>t </a:t>
            </a:r>
            <a:r>
              <a:rPr lang="zh-CN" altLang="en-US" sz="2400" b="1" dirty="0">
                <a:latin typeface="Times New Roman" panose="02020603050405020304" pitchFamily="18" charset="0"/>
                <a:cs typeface="Times New Roman" panose="02020603050405020304" pitchFamily="18" charset="0"/>
              </a:rPr>
              <a:t>分布等随机分布的检验方法。</a:t>
            </a:r>
            <a:endParaRPr lang="en-US" altLang="zh-CN" sz="2400" b="1" dirty="0">
              <a:latin typeface="Times New Roman" panose="02020603050405020304" pitchFamily="18" charset="0"/>
              <a:cs typeface="Times New Roman" panose="02020603050405020304" pitchFamily="18" charset="0"/>
            </a:endParaRPr>
          </a:p>
          <a:p>
            <a:pPr marL="514350" indent="-514350">
              <a:lnSpc>
                <a:spcPct val="150000"/>
              </a:lnSpc>
              <a:spcBef>
                <a:spcPts val="0"/>
              </a:spcBef>
              <a:buFont typeface="+mj-lt"/>
              <a:buAutoNum type="arabicPeriod"/>
            </a:pPr>
            <a:endParaRPr lang="zh-C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857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0C90A-4EF2-EA20-60BE-B6BDD1B6C25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3CC2AD3-7035-1C1B-2C3A-97ED6B9343C4}"/>
              </a:ext>
            </a:extLst>
          </p:cNvPr>
          <p:cNvSpPr>
            <a:spLocks noGrp="1"/>
          </p:cNvSpPr>
          <p:nvPr>
            <p:ph type="title"/>
          </p:nvPr>
        </p:nvSpPr>
        <p:spPr/>
        <p:txBody>
          <a:bodyPr/>
          <a:lstStyle/>
          <a:p>
            <a:pPr algn="l"/>
            <a:r>
              <a:rPr lang="zh-CN" altLang="en-US" b="1" dirty="0">
                <a:solidFill>
                  <a:schemeClr val="tx1"/>
                </a:solidFill>
                <a:effectLst/>
                <a:latin typeface="+mn-ea"/>
                <a:ea typeface="+mn-ea"/>
              </a:rPr>
              <a:t>参考文献：</a:t>
            </a:r>
          </a:p>
        </p:txBody>
      </p:sp>
      <p:sp>
        <p:nvSpPr>
          <p:cNvPr id="3" name="内容占位符 2">
            <a:extLst>
              <a:ext uri="{FF2B5EF4-FFF2-40B4-BE49-F238E27FC236}">
                <a16:creationId xmlns:a16="http://schemas.microsoft.com/office/drawing/2014/main" id="{FED0C3CA-A2E9-F66F-AE05-DECADEF37EB6}"/>
              </a:ext>
            </a:extLst>
          </p:cNvPr>
          <p:cNvSpPr>
            <a:spLocks noGrp="1"/>
          </p:cNvSpPr>
          <p:nvPr>
            <p:ph idx="1"/>
          </p:nvPr>
        </p:nvSpPr>
        <p:spPr>
          <a:xfrm>
            <a:off x="457200" y="1400675"/>
            <a:ext cx="3826768" cy="4758578"/>
          </a:xfrm>
        </p:spPr>
        <p:txBody>
          <a:bodyPr/>
          <a:lstStyle/>
          <a:p>
            <a:pPr marL="514350" indent="-514350">
              <a:lnSpc>
                <a:spcPct val="150000"/>
              </a:lnSpc>
              <a:spcBef>
                <a:spcPts val="0"/>
              </a:spcBef>
              <a:buFont typeface="+mj-lt"/>
              <a:buAutoNum type="arabicPeriod"/>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贝叶斯网引论。张连文，郭海鹏著，科学出版社出版，</a:t>
            </a:r>
            <a:r>
              <a:rPr lang="en-US" altLang="zh-CN" b="1" dirty="0">
                <a:latin typeface="Times New Roman" panose="02020603050405020304" pitchFamily="18" charset="0"/>
                <a:cs typeface="Times New Roman" panose="02020603050405020304" pitchFamily="18" charset="0"/>
              </a:rPr>
              <a:t>2006</a:t>
            </a:r>
            <a:r>
              <a:rPr lang="zh-CN" altLang="en-US" b="1" dirty="0">
                <a:latin typeface="Times New Roman" panose="02020603050405020304" pitchFamily="18" charset="0"/>
                <a:cs typeface="Times New Roman" panose="02020603050405020304" pitchFamily="18" charset="0"/>
              </a:rPr>
              <a:t>年</a:t>
            </a:r>
            <a:r>
              <a:rPr lang="en-US" altLang="zh-CN" b="1" dirty="0">
                <a:latin typeface="Times New Roman" panose="02020603050405020304" pitchFamily="18" charset="0"/>
                <a:cs typeface="Times New Roman" panose="02020603050405020304" pitchFamily="18" charset="0"/>
              </a:rPr>
              <a:t>11</a:t>
            </a:r>
            <a:r>
              <a:rPr lang="zh-CN" altLang="en-US" b="1" dirty="0">
                <a:latin typeface="Times New Roman" panose="02020603050405020304" pitchFamily="18" charset="0"/>
                <a:cs typeface="Times New Roman" panose="02020603050405020304" pitchFamily="18" charset="0"/>
              </a:rPr>
              <a:t>月第一版。</a:t>
            </a:r>
          </a:p>
        </p:txBody>
      </p:sp>
      <p:pic>
        <p:nvPicPr>
          <p:cNvPr id="21506" name="Picture 2" descr="https://img3.doubanio.com/view/subject/l/public/s26693201.jpg">
            <a:extLst>
              <a:ext uri="{FF2B5EF4-FFF2-40B4-BE49-F238E27FC236}">
                <a16:creationId xmlns:a16="http://schemas.microsoft.com/office/drawing/2014/main" id="{18D8D3C1-2244-FE37-97D3-26D8DF3B13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2323" y="1313840"/>
            <a:ext cx="4758578" cy="475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3479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3F4D38-7707-4408-9E7C-14F7E5E03C9A}"/>
              </a:ext>
            </a:extLst>
          </p:cNvPr>
          <p:cNvSpPr>
            <a:spLocks noGrp="1"/>
          </p:cNvSpPr>
          <p:nvPr>
            <p:ph type="title"/>
          </p:nvPr>
        </p:nvSpPr>
        <p:spPr/>
        <p:txBody>
          <a:bodyPr/>
          <a:lstStyle/>
          <a:p>
            <a:pPr algn="l"/>
            <a:r>
              <a:rPr lang="zh-CN" altLang="en-US" b="1" dirty="0">
                <a:solidFill>
                  <a:schemeClr val="tx1"/>
                </a:solidFill>
                <a:effectLst/>
                <a:latin typeface="+mn-ea"/>
                <a:ea typeface="+mn-ea"/>
              </a:rPr>
              <a:t>参考文献：</a:t>
            </a:r>
          </a:p>
        </p:txBody>
      </p:sp>
      <p:sp>
        <p:nvSpPr>
          <p:cNvPr id="3" name="内容占位符 2">
            <a:extLst>
              <a:ext uri="{FF2B5EF4-FFF2-40B4-BE49-F238E27FC236}">
                <a16:creationId xmlns:a16="http://schemas.microsoft.com/office/drawing/2014/main" id="{99FAC7B7-9079-46D6-966B-F549E0620BF4}"/>
              </a:ext>
            </a:extLst>
          </p:cNvPr>
          <p:cNvSpPr>
            <a:spLocks noGrp="1"/>
          </p:cNvSpPr>
          <p:nvPr>
            <p:ph idx="1"/>
          </p:nvPr>
        </p:nvSpPr>
        <p:spPr>
          <a:xfrm>
            <a:off x="457200" y="1400675"/>
            <a:ext cx="3826768" cy="4758578"/>
          </a:xfrm>
        </p:spPr>
        <p:txBody>
          <a:bodyPr/>
          <a:lstStyle/>
          <a:p>
            <a:pPr marL="514350" indent="-514350">
              <a:lnSpc>
                <a:spcPct val="150000"/>
              </a:lnSpc>
              <a:spcBef>
                <a:spcPts val="0"/>
              </a:spcBef>
              <a:buFont typeface="+mj-lt"/>
              <a:buAutoNum type="arabicPeriod" startAt="2"/>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贝叶斯统计。茆诗松，汤银才著，中国统计出版社出版，</a:t>
            </a:r>
            <a:r>
              <a:rPr lang="en-US" altLang="zh-CN" b="1" dirty="0">
                <a:latin typeface="Times New Roman" panose="02020603050405020304" pitchFamily="18" charset="0"/>
                <a:cs typeface="Times New Roman" panose="02020603050405020304" pitchFamily="18" charset="0"/>
              </a:rPr>
              <a:t>2012</a:t>
            </a:r>
            <a:r>
              <a:rPr lang="zh-CN" altLang="en-US" b="1" dirty="0">
                <a:latin typeface="Times New Roman" panose="02020603050405020304" pitchFamily="18" charset="0"/>
                <a:cs typeface="Times New Roman" panose="02020603050405020304" pitchFamily="18" charset="0"/>
              </a:rPr>
              <a:t>年</a:t>
            </a:r>
            <a:r>
              <a:rPr lang="en-US" altLang="zh-CN" b="1" dirty="0">
                <a:latin typeface="Times New Roman" panose="02020603050405020304" pitchFamily="18" charset="0"/>
                <a:cs typeface="Times New Roman" panose="02020603050405020304" pitchFamily="18" charset="0"/>
              </a:rPr>
              <a:t>9</a:t>
            </a:r>
            <a:r>
              <a:rPr lang="zh-CN" altLang="en-US" b="1" dirty="0">
                <a:latin typeface="Times New Roman" panose="02020603050405020304" pitchFamily="18" charset="0"/>
                <a:cs typeface="Times New Roman" panose="02020603050405020304" pitchFamily="18" charset="0"/>
              </a:rPr>
              <a:t>月第二版。</a:t>
            </a:r>
          </a:p>
        </p:txBody>
      </p:sp>
      <p:pic>
        <p:nvPicPr>
          <p:cNvPr id="22530" name="Picture 2" descr="https://timgsa.baidu.com/timg?image&amp;quality=80&amp;size=b9999_10000&amp;sec=1543140193981&amp;di=4889df2e899961876373f2fa544d2068&amp;imgtype=0&amp;src=http%3A%2F%2Fimg3x3.ddimg.cn%2F84%2F1%2F1268948523-1_w_1.jpg">
            <a:extLst>
              <a:ext uri="{FF2B5EF4-FFF2-40B4-BE49-F238E27FC236}">
                <a16:creationId xmlns:a16="http://schemas.microsoft.com/office/drawing/2014/main" id="{37A21337-1D47-4D06-8DCF-A0FCC521FD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1351460"/>
            <a:ext cx="4536504"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955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3F4D38-7707-4408-9E7C-14F7E5E03C9A}"/>
              </a:ext>
            </a:extLst>
          </p:cNvPr>
          <p:cNvSpPr>
            <a:spLocks noGrp="1"/>
          </p:cNvSpPr>
          <p:nvPr>
            <p:ph type="title"/>
          </p:nvPr>
        </p:nvSpPr>
        <p:spPr/>
        <p:txBody>
          <a:bodyPr/>
          <a:lstStyle/>
          <a:p>
            <a:pPr algn="l"/>
            <a:r>
              <a:rPr lang="zh-CN" altLang="en-US" b="1" dirty="0">
                <a:solidFill>
                  <a:schemeClr val="tx1"/>
                </a:solidFill>
                <a:effectLst/>
                <a:latin typeface="+mn-ea"/>
                <a:ea typeface="+mn-ea"/>
              </a:rPr>
              <a:t>参考文献：</a:t>
            </a:r>
          </a:p>
        </p:txBody>
      </p:sp>
      <p:sp>
        <p:nvSpPr>
          <p:cNvPr id="3" name="内容占位符 2">
            <a:extLst>
              <a:ext uri="{FF2B5EF4-FFF2-40B4-BE49-F238E27FC236}">
                <a16:creationId xmlns:a16="http://schemas.microsoft.com/office/drawing/2014/main" id="{99FAC7B7-9079-46D6-966B-F549E0620BF4}"/>
              </a:ext>
            </a:extLst>
          </p:cNvPr>
          <p:cNvSpPr>
            <a:spLocks noGrp="1"/>
          </p:cNvSpPr>
          <p:nvPr>
            <p:ph idx="1"/>
          </p:nvPr>
        </p:nvSpPr>
        <p:spPr>
          <a:xfrm>
            <a:off x="169168" y="1196752"/>
            <a:ext cx="4546848" cy="5256584"/>
          </a:xfrm>
        </p:spPr>
        <p:txBody>
          <a:bodyPr/>
          <a:lstStyle/>
          <a:p>
            <a:pPr marL="514350" indent="-514350">
              <a:lnSpc>
                <a:spcPct val="150000"/>
              </a:lnSpc>
              <a:spcBef>
                <a:spcPts val="0"/>
              </a:spcBef>
              <a:buFont typeface="+mj-lt"/>
              <a:buAutoNum type="arabicPeriod" startAt="3"/>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概率图模型原理与技术。</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美</a:t>
            </a:r>
            <a:r>
              <a:rPr lang="en-US" altLang="zh-CN" b="1" dirty="0">
                <a:latin typeface="Times New Roman" panose="02020603050405020304" pitchFamily="18" charset="0"/>
                <a:cs typeface="Times New Roman" panose="02020603050405020304" pitchFamily="18" charset="0"/>
              </a:rPr>
              <a:t>]Daphne Koller</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以色列</a:t>
            </a:r>
            <a:r>
              <a:rPr lang="en-US" altLang="zh-CN" b="1" dirty="0">
                <a:latin typeface="Times New Roman" panose="02020603050405020304" pitchFamily="18" charset="0"/>
                <a:cs typeface="Times New Roman" panose="02020603050405020304" pitchFamily="18" charset="0"/>
              </a:rPr>
              <a:t>]Nir Friedman</a:t>
            </a:r>
            <a:r>
              <a:rPr lang="zh-CN" altLang="en-US" b="1" dirty="0">
                <a:latin typeface="Times New Roman" panose="02020603050405020304" pitchFamily="18" charset="0"/>
                <a:cs typeface="Times New Roman" panose="02020603050405020304" pitchFamily="18" charset="0"/>
              </a:rPr>
              <a:t>著，王飞跃，韩素青译，清华大学出版社，</a:t>
            </a:r>
            <a:r>
              <a:rPr lang="en-US" altLang="zh-CN" b="1" dirty="0">
                <a:latin typeface="Times New Roman" panose="02020603050405020304" pitchFamily="18" charset="0"/>
                <a:cs typeface="Times New Roman" panose="02020603050405020304" pitchFamily="18" charset="0"/>
              </a:rPr>
              <a:t>2015</a:t>
            </a:r>
            <a:r>
              <a:rPr lang="zh-CN" altLang="en-US" b="1" dirty="0">
                <a:latin typeface="Times New Roman" panose="02020603050405020304" pitchFamily="18" charset="0"/>
                <a:cs typeface="Times New Roman" panose="02020603050405020304" pitchFamily="18" charset="0"/>
              </a:rPr>
              <a:t>年</a:t>
            </a: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月第一版。</a:t>
            </a:r>
          </a:p>
        </p:txBody>
      </p:sp>
      <p:pic>
        <p:nvPicPr>
          <p:cNvPr id="23554" name="Picture 2" descr="https://timgsa.baidu.com/timg?image&amp;quality=80&amp;size=b9999_10000&amp;sec=1543140635033&amp;di=9d33968ffbe7dec41c185584173aace0&amp;imgtype=0&amp;src=http%3A%2F%2Fimg11.360buyimg.com%2Fn1%2Fjfs%2Ft2362%2F355%2F2158308080%2F41443%2Fe1b2f883%2F569db50cN8a6ce7be.jpg">
            <a:extLst>
              <a:ext uri="{FF2B5EF4-FFF2-40B4-BE49-F238E27FC236}">
                <a16:creationId xmlns:a16="http://schemas.microsoft.com/office/drawing/2014/main" id="{3643557B-0B73-4288-BEC8-9D01D20E7E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9543" y="1196752"/>
            <a:ext cx="4197846"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312035"/>
      </p:ext>
    </p:extLst>
  </p:cSld>
  <p:clrMapOvr>
    <a:masterClrMapping/>
  </p:clrMapOvr>
</p:sld>
</file>

<file path=ppt/theme/theme1.xml><?xml version="1.0" encoding="utf-8"?>
<a:theme xmlns:a="http://schemas.openxmlformats.org/drawingml/2006/main" name="Mountain Top">
  <a:themeElements>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fontScheme name="Mountain To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Mountain Top 1">
        <a:dk1>
          <a:srgbClr val="4C3A1C"/>
        </a:dk1>
        <a:lt1>
          <a:srgbClr val="FFFFFF"/>
        </a:lt1>
        <a:dk2>
          <a:srgbClr val="993300"/>
        </a:dk2>
        <a:lt2>
          <a:srgbClr val="CCAA00"/>
        </a:lt2>
        <a:accent1>
          <a:srgbClr val="FF3300"/>
        </a:accent1>
        <a:accent2>
          <a:srgbClr val="9E6600"/>
        </a:accent2>
        <a:accent3>
          <a:srgbClr val="CAADAA"/>
        </a:accent3>
        <a:accent4>
          <a:srgbClr val="DADADA"/>
        </a:accent4>
        <a:accent5>
          <a:srgbClr val="FFADAA"/>
        </a:accent5>
        <a:accent6>
          <a:srgbClr val="8F5C00"/>
        </a:accent6>
        <a:hlink>
          <a:srgbClr val="FFCC00"/>
        </a:hlink>
        <a:folHlink>
          <a:srgbClr val="F7DC97"/>
        </a:folHlink>
      </a:clrScheme>
      <a:clrMap bg1="dk2" tx1="lt1" bg2="dk1" tx2="lt2" accent1="accent1" accent2="accent2" accent3="accent3" accent4="accent4" accent5="accent5" accent6="accent6" hlink="hlink" folHlink="folHlink"/>
    </a:extraClrScheme>
    <a:extraClrScheme>
      <a:clrScheme name="Mountain Top 2">
        <a:dk1>
          <a:srgbClr val="3D0058"/>
        </a:dk1>
        <a:lt1>
          <a:srgbClr val="FFFFFF"/>
        </a:lt1>
        <a:dk2>
          <a:srgbClr val="9188B0"/>
        </a:dk2>
        <a:lt2>
          <a:srgbClr val="DDE0DC"/>
        </a:lt2>
        <a:accent1>
          <a:srgbClr val="FFCC00"/>
        </a:accent1>
        <a:accent2>
          <a:srgbClr val="4C3D78"/>
        </a:accent2>
        <a:accent3>
          <a:srgbClr val="C7C3D4"/>
        </a:accent3>
        <a:accent4>
          <a:srgbClr val="DADADA"/>
        </a:accent4>
        <a:accent5>
          <a:srgbClr val="FFE2AA"/>
        </a:accent5>
        <a:accent6>
          <a:srgbClr val="44366C"/>
        </a:accent6>
        <a:hlink>
          <a:srgbClr val="743D78"/>
        </a:hlink>
        <a:folHlink>
          <a:srgbClr val="CC9900"/>
        </a:folHlink>
      </a:clrScheme>
      <a:clrMap bg1="dk2" tx1="lt1" bg2="dk1" tx2="lt2" accent1="accent1" accent2="accent2" accent3="accent3" accent4="accent4" accent5="accent5" accent6="accent6" hlink="hlink" folHlink="folHlink"/>
    </a:extraClrScheme>
    <a:extraClrScheme>
      <a:clrScheme name="Mountain Top 3">
        <a:dk1>
          <a:srgbClr val="10104C"/>
        </a:dk1>
        <a:lt1>
          <a:srgbClr val="FFFFFF"/>
        </a:lt1>
        <a:dk2>
          <a:srgbClr val="003366"/>
        </a:dk2>
        <a:lt2>
          <a:srgbClr val="C6CCD4"/>
        </a:lt2>
        <a:accent1>
          <a:srgbClr val="33CCFF"/>
        </a:accent1>
        <a:accent2>
          <a:srgbClr val="5B5B8D"/>
        </a:accent2>
        <a:accent3>
          <a:srgbClr val="AAADB8"/>
        </a:accent3>
        <a:accent4>
          <a:srgbClr val="DADADA"/>
        </a:accent4>
        <a:accent5>
          <a:srgbClr val="ADE2FF"/>
        </a:accent5>
        <a:accent6>
          <a:srgbClr val="52527F"/>
        </a:accent6>
        <a:hlink>
          <a:srgbClr val="4529AB"/>
        </a:hlink>
        <a:folHlink>
          <a:srgbClr val="00CC99"/>
        </a:folHlink>
      </a:clrScheme>
      <a:clrMap bg1="dk2" tx1="lt1" bg2="dk1" tx2="lt2" accent1="accent1" accent2="accent2" accent3="accent3" accent4="accent4" accent5="accent5" accent6="accent6" hlink="hlink" folHlink="folHlink"/>
    </a:extraClrScheme>
    <a:extraClrScheme>
      <a:clrScheme name="Mountain Top 4">
        <a:dk1>
          <a:srgbClr val="B0C8CA"/>
        </a:dk1>
        <a:lt1>
          <a:srgbClr val="FFFFFF"/>
        </a:lt1>
        <a:dk2>
          <a:srgbClr val="000099"/>
        </a:dk2>
        <a:lt2>
          <a:srgbClr val="FFFFFF"/>
        </a:lt2>
        <a:accent1>
          <a:srgbClr val="89C4FF"/>
        </a:accent1>
        <a:accent2>
          <a:srgbClr val="00008C"/>
        </a:accent2>
        <a:accent3>
          <a:srgbClr val="AAAACA"/>
        </a:accent3>
        <a:accent4>
          <a:srgbClr val="DADADA"/>
        </a:accent4>
        <a:accent5>
          <a:srgbClr val="C4DEFF"/>
        </a:accent5>
        <a:accent6>
          <a:srgbClr val="00007E"/>
        </a:accent6>
        <a:hlink>
          <a:srgbClr val="6666FF"/>
        </a:hlink>
        <a:folHlink>
          <a:srgbClr val="C0C0C0"/>
        </a:folHlink>
      </a:clrScheme>
      <a:clrMap bg1="dk2" tx1="lt1" bg2="dk1" tx2="lt2" accent1="accent1" accent2="accent2" accent3="accent3" accent4="accent4" accent5="accent5" accent6="accent6" hlink="hlink" folHlink="folHlink"/>
    </a:extraClrScheme>
    <a:extraClrScheme>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clrMap bg1="dk2" tx1="lt1" bg2="dk1" tx2="lt2" accent1="accent1" accent2="accent2" accent3="accent3" accent4="accent4" accent5="accent5" accent6="accent6" hlink="hlink" folHlink="folHlink"/>
    </a:extraClrScheme>
    <a:extraClrScheme>
      <a:clrScheme name="Mountain Top 6">
        <a:dk1>
          <a:srgbClr val="809296"/>
        </a:dk1>
        <a:lt1>
          <a:srgbClr val="FFFFFF"/>
        </a:lt1>
        <a:dk2>
          <a:srgbClr val="6699FF"/>
        </a:dk2>
        <a:lt2>
          <a:srgbClr val="B3EDFF"/>
        </a:lt2>
        <a:accent1>
          <a:srgbClr val="FF9933"/>
        </a:accent1>
        <a:accent2>
          <a:srgbClr val="FFAA99"/>
        </a:accent2>
        <a:accent3>
          <a:srgbClr val="B8CAFF"/>
        </a:accent3>
        <a:accent4>
          <a:srgbClr val="DADADA"/>
        </a:accent4>
        <a:accent5>
          <a:srgbClr val="FFCAAD"/>
        </a:accent5>
        <a:accent6>
          <a:srgbClr val="E79A8A"/>
        </a:accent6>
        <a:hlink>
          <a:srgbClr val="FFCFAB"/>
        </a:hlink>
        <a:folHlink>
          <a:srgbClr val="CC9900"/>
        </a:folHlink>
      </a:clrScheme>
      <a:clrMap bg1="dk2" tx1="lt1" bg2="dk1" tx2="lt2" accent1="accent1" accent2="accent2" accent3="accent3" accent4="accent4" accent5="accent5" accent6="accent6" hlink="hlink" folHlink="folHlink"/>
    </a:extraClrScheme>
    <a:extraClrScheme>
      <a:clrScheme name="Mountain Top 7">
        <a:dk1>
          <a:srgbClr val="006666"/>
        </a:dk1>
        <a:lt1>
          <a:srgbClr val="FFFFFF"/>
        </a:lt1>
        <a:dk2>
          <a:srgbClr val="85D1E3"/>
        </a:dk2>
        <a:lt2>
          <a:srgbClr val="CCFFFF"/>
        </a:lt2>
        <a:accent1>
          <a:srgbClr val="FFCC00"/>
        </a:accent1>
        <a:accent2>
          <a:srgbClr val="00CC99"/>
        </a:accent2>
        <a:accent3>
          <a:srgbClr val="C2E5EF"/>
        </a:accent3>
        <a:accent4>
          <a:srgbClr val="DADADA"/>
        </a:accent4>
        <a:accent5>
          <a:srgbClr val="FFE2AA"/>
        </a:accent5>
        <a:accent6>
          <a:srgbClr val="00B98A"/>
        </a:accent6>
        <a:hlink>
          <a:srgbClr val="0099FF"/>
        </a:hlink>
        <a:folHlink>
          <a:srgbClr val="6600CC"/>
        </a:folHlink>
      </a:clrScheme>
      <a:clrMap bg1="dk2" tx1="lt1" bg2="dk1" tx2="lt2" accent1="accent1" accent2="accent2" accent3="accent3" accent4="accent4" accent5="accent5" accent6="accent6" hlink="hlink" folHlink="folHlink"/>
    </a:extraClrScheme>
    <a:extraClrScheme>
      <a:clrScheme name="Mountain Top 8">
        <a:dk1>
          <a:srgbClr val="404B3D"/>
        </a:dk1>
        <a:lt1>
          <a:srgbClr val="FFFFFF"/>
        </a:lt1>
        <a:dk2>
          <a:srgbClr val="A7A491"/>
        </a:dk2>
        <a:lt2>
          <a:srgbClr val="CCD0CA"/>
        </a:lt2>
        <a:accent1>
          <a:srgbClr val="33CCCC"/>
        </a:accent1>
        <a:accent2>
          <a:srgbClr val="004E4C"/>
        </a:accent2>
        <a:accent3>
          <a:srgbClr val="D0CFC7"/>
        </a:accent3>
        <a:accent4>
          <a:srgbClr val="DADADA"/>
        </a:accent4>
        <a:accent5>
          <a:srgbClr val="ADE2E2"/>
        </a:accent5>
        <a:accent6>
          <a:srgbClr val="004644"/>
        </a:accent6>
        <a:hlink>
          <a:srgbClr val="477781"/>
        </a:hlink>
        <a:folHlink>
          <a:srgbClr val="85CC74"/>
        </a:folHlink>
      </a:clrScheme>
      <a:clrMap bg1="dk2" tx1="lt1" bg2="dk1" tx2="lt2" accent1="accent1" accent2="accent2" accent3="accent3" accent4="accent4" accent5="accent5" accent6="accent6" hlink="hlink" folHlink="folHlink"/>
    </a:extraClrScheme>
    <a:extraClrScheme>
      <a:clrScheme name="Mountain Top 9">
        <a:dk1>
          <a:srgbClr val="000000"/>
        </a:dk1>
        <a:lt1>
          <a:srgbClr val="FFFFFF"/>
        </a:lt1>
        <a:dk2>
          <a:srgbClr val="FFFFAF"/>
        </a:dk2>
        <a:lt2>
          <a:srgbClr val="676597"/>
        </a:lt2>
        <a:accent1>
          <a:srgbClr val="66CCFF"/>
        </a:accent1>
        <a:accent2>
          <a:srgbClr val="CCECFF"/>
        </a:accent2>
        <a:accent3>
          <a:srgbClr val="FFFFFF"/>
        </a:accent3>
        <a:accent4>
          <a:srgbClr val="000000"/>
        </a:accent4>
        <a:accent5>
          <a:srgbClr val="B8E2FF"/>
        </a:accent5>
        <a:accent6>
          <a:srgbClr val="B9D6E7"/>
        </a:accent6>
        <a:hlink>
          <a:srgbClr val="6600CC"/>
        </a:hlink>
        <a:folHlink>
          <a:srgbClr val="0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4392</TotalTime>
  <Words>2900</Words>
  <Application>Microsoft Office PowerPoint</Application>
  <PresentationFormat>全屏显示(4:3)</PresentationFormat>
  <Paragraphs>248</Paragraphs>
  <Slides>49</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57" baseType="lpstr">
      <vt:lpstr>宋体</vt:lpstr>
      <vt:lpstr>Arial</vt:lpstr>
      <vt:lpstr>Cambria Math</vt:lpstr>
      <vt:lpstr>Times New Roman</vt:lpstr>
      <vt:lpstr>Verdana</vt:lpstr>
      <vt:lpstr>Wingdings</vt:lpstr>
      <vt:lpstr>Mountain Top</vt:lpstr>
      <vt:lpstr>Equation</vt:lpstr>
      <vt:lpstr>第1节  随机变量及其概率分布</vt:lpstr>
      <vt:lpstr>PowerPoint 演示文稿</vt:lpstr>
      <vt:lpstr>随机变量与普通函数不同</vt:lpstr>
      <vt:lpstr>PowerPoint 演示文稿</vt:lpstr>
      <vt:lpstr>随机分布</vt:lpstr>
      <vt:lpstr>PowerPoint 演示文稿</vt:lpstr>
      <vt:lpstr>1. 二项分布(Bernoulli distribution) </vt:lpstr>
      <vt:lpstr>2. 几何分布</vt:lpstr>
      <vt:lpstr>3. 负二项分布(Negative binomial distribution) </vt:lpstr>
      <vt:lpstr>4. 超几何分布</vt:lpstr>
      <vt:lpstr>5. 泊松分布（Poisson distribution） </vt:lpstr>
      <vt:lpstr>PowerPoint 演示文稿</vt:lpstr>
      <vt:lpstr>几个常用的连续型分布</vt:lpstr>
      <vt:lpstr>1.正态分布 (Normal distribution) </vt:lpstr>
      <vt:lpstr>PowerPoint 演示文稿</vt:lpstr>
      <vt:lpstr>PowerPoint 演示文稿</vt:lpstr>
      <vt:lpstr>2. 均匀分布(Uniform distribution) </vt:lpstr>
      <vt:lpstr>3. 指数分布(Exponential distribution) </vt:lpstr>
      <vt:lpstr>PowerPoint 演示文稿</vt:lpstr>
      <vt:lpstr>PowerPoint 演示文稿</vt:lpstr>
      <vt:lpstr>4. 对数正态分布</vt:lpstr>
      <vt:lpstr>5. 柯西分布(Cauchy distribution) </vt:lpstr>
      <vt:lpstr>PowerPoint 演示文稿</vt:lpstr>
      <vt:lpstr>PowerPoint 演示文稿</vt:lpstr>
      <vt:lpstr>PowerPoint 演示文稿</vt:lpstr>
      <vt:lpstr>6. Gamma分布</vt:lpstr>
      <vt:lpstr>PowerPoint 演示文稿</vt:lpstr>
      <vt:lpstr>PowerPoint 演示文稿</vt:lpstr>
      <vt:lpstr>PowerPoint 演示文稿</vt:lpstr>
      <vt:lpstr>PowerPoint 演示文稿</vt:lpstr>
      <vt:lpstr>PowerPoint 演示文稿</vt:lpstr>
      <vt:lpstr>7. 瑞利分布(Rayleigh distribution) </vt:lpstr>
      <vt:lpstr>PowerPoint 演示文稿</vt:lpstr>
      <vt:lpstr>8. 韦伯分布（Weibull distribution） </vt:lpstr>
      <vt:lpstr>PowerPoint 演示文稿</vt:lpstr>
      <vt:lpstr>PowerPoint 演示文稿</vt:lpstr>
      <vt:lpstr>PowerPoint 演示文稿</vt:lpstr>
      <vt:lpstr>PowerPoint 演示文稿</vt:lpstr>
      <vt:lpstr>2.   F 分布</vt:lpstr>
      <vt:lpstr>PowerPoint 演示文稿</vt:lpstr>
      <vt:lpstr>3.   t 分布</vt:lpstr>
      <vt:lpstr>PowerPoint 演示文稿</vt:lpstr>
      <vt:lpstr>PowerPoint 演示文稿</vt:lpstr>
      <vt:lpstr>PowerPoint 演示文稿</vt:lpstr>
      <vt:lpstr>n 个事件的独立性</vt:lpstr>
      <vt:lpstr>本节小结</vt:lpstr>
      <vt:lpstr>参考文献：</vt:lpstr>
      <vt:lpstr>参考文献：</vt:lpstr>
      <vt:lpstr>参考文献：</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概率论基础知识</dc:title>
  <dc:creator>zl</dc:creator>
  <cp:lastModifiedBy>june june</cp:lastModifiedBy>
  <cp:revision>174</cp:revision>
  <dcterms:created xsi:type="dcterms:W3CDTF">2013-02-25T01:10:32Z</dcterms:created>
  <dcterms:modified xsi:type="dcterms:W3CDTF">2025-09-20T14:45:15Z</dcterms:modified>
</cp:coreProperties>
</file>